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1"/>
  </p:notesMasterIdLst>
  <p:sldIdLst>
    <p:sldId id="256" r:id="rId2"/>
    <p:sldId id="31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313" r:id="rId17"/>
    <p:sldId id="315" r:id="rId18"/>
    <p:sldId id="314" r:id="rId19"/>
    <p:sldId id="312" r:id="rId20"/>
  </p:sldIdLst>
  <p:sldSz cx="9144000" cy="5143500" type="screen16x9"/>
  <p:notesSz cx="6794500" cy="9931400"/>
  <p:embeddedFontLst>
    <p:embeddedFont>
      <p:font typeface="Exo 2" panose="020B0604020202020204" charset="0"/>
      <p:regular r:id="rId22"/>
      <p:bold r:id="rId23"/>
      <p:italic r:id="rId24"/>
      <p:boldItalic r:id="rId25"/>
    </p:embeddedFont>
    <p:embeddedFont>
      <p:font typeface="Fira Sans Extra Condensed Medium" panose="020B0604020202020204" charset="0"/>
      <p:regular r:id="rId26"/>
      <p:bold r:id="rId27"/>
      <p:italic r:id="rId28"/>
      <p:boldItalic r:id="rId29"/>
    </p:embeddedFont>
    <p:embeddedFont>
      <p:font typeface="Roboto Condensed" panose="02000000000000000000" pitchFamily="2" charset="0"/>
      <p:regular r:id="rId30"/>
      <p:bold r:id="rId31"/>
      <p:italic r:id="rId32"/>
      <p:boldItalic r:id="rId33"/>
    </p:embeddedFont>
    <p:embeddedFont>
      <p:font typeface="Roboto Condensed Light" panose="02000000000000000000" pitchFamily="2" charset="0"/>
      <p:regular r:id="rId34"/>
      <p:bold r:id="rId35"/>
      <p:italic r:id="rId36"/>
      <p:boldItalic r:id="rId37"/>
    </p:embeddedFont>
    <p:embeddedFont>
      <p:font typeface="Roboto Mono" panose="00000009000000000000" pitchFamily="49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45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FCA5EB-ADB4-41BC-B3E4-ED649D2E3E86}">
  <a:tblStyle styleId="{DFFCA5EB-ADB4-41BC-B3E4-ED649D2E3E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6234" y="138"/>
      </p:cViewPr>
      <p:guideLst>
        <p:guide orient="horz" pos="154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dfce81f19_0_45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e2db3e8363_1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e2db3e8363_1_296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0422e07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0422e078_0_20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58d3b44f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58d3b44f08_0_0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4cb59056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4cb590566_0_5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58d3b44f08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58d3b44f08_1_11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e7b0210d2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e7b0210d2d_0_12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58d3b44f08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58d3b44f08_1_23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e7b0210d2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e7b0210d2d_0_19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e7b0210d2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e7b0210d2d_0_25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f1ecca6d3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f1ecca6d32_0_0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f1ecca6d3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f1ecca6d32_0_5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f1ecca6d3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f1ecca6d32_0_10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f1ecca6d3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f1ecca6d32_0_15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f1ecca6d3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f1ecca6d32_0_20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A3E16044-A869-2B3A-675C-C3260A074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f1ecca6d32_0_20:notes">
            <a:extLst>
              <a:ext uri="{FF2B5EF4-FFF2-40B4-BE49-F238E27FC236}">
                <a16:creationId xmlns:a16="http://schemas.microsoft.com/office/drawing/2014/main" id="{A226B44B-5BE7-7834-B12B-03BC6F1281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f1ecca6d32_0_20:notes">
            <a:extLst>
              <a:ext uri="{FF2B5EF4-FFF2-40B4-BE49-F238E27FC236}">
                <a16:creationId xmlns:a16="http://schemas.microsoft.com/office/drawing/2014/main" id="{BEC31F4A-6E91-BF86-8068-7608F897B3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50067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99C9AB7A-FCC3-6158-03C9-446DA9538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f1ecca6d32_0_20:notes">
            <a:extLst>
              <a:ext uri="{FF2B5EF4-FFF2-40B4-BE49-F238E27FC236}">
                <a16:creationId xmlns:a16="http://schemas.microsoft.com/office/drawing/2014/main" id="{9F81224A-2EA8-DFF3-A353-8C9DC51DD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f1ecca6d32_0_20:notes">
            <a:extLst>
              <a:ext uri="{FF2B5EF4-FFF2-40B4-BE49-F238E27FC236}">
                <a16:creationId xmlns:a16="http://schemas.microsoft.com/office/drawing/2014/main" id="{6C593059-69D8-B649-F9FD-2D5445D4C2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4787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F1D3540F-9072-0EEE-E7E7-CC1F7785F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f1ecca6d32_0_20:notes">
            <a:extLst>
              <a:ext uri="{FF2B5EF4-FFF2-40B4-BE49-F238E27FC236}">
                <a16:creationId xmlns:a16="http://schemas.microsoft.com/office/drawing/2014/main" id="{668A2B68-BC87-E62A-3142-5B13804F16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f1ecca6d32_0_20:notes">
            <a:extLst>
              <a:ext uri="{FF2B5EF4-FFF2-40B4-BE49-F238E27FC236}">
                <a16:creationId xmlns:a16="http://schemas.microsoft.com/office/drawing/2014/main" id="{1036B70F-E9D5-6541-11A5-0EA461AA8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11875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09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35981" y="1393699"/>
            <a:ext cx="68868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70681" y="2933522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385875" y="2098650"/>
            <a:ext cx="23724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ctrTitle" idx="2"/>
          </p:nvPr>
        </p:nvSpPr>
        <p:spPr>
          <a:xfrm>
            <a:off x="390296" y="2016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690446" y="656478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3" hasCustomPrompt="1"/>
          </p:nvPr>
        </p:nvSpPr>
        <p:spPr>
          <a:xfrm>
            <a:off x="2118448" y="54444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4" hasCustomPrompt="1"/>
          </p:nvPr>
        </p:nvSpPr>
        <p:spPr>
          <a:xfrm>
            <a:off x="2105406" y="151580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5" hasCustomPrompt="1"/>
          </p:nvPr>
        </p:nvSpPr>
        <p:spPr>
          <a:xfrm>
            <a:off x="2105406" y="248716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6" hasCustomPrompt="1"/>
          </p:nvPr>
        </p:nvSpPr>
        <p:spPr>
          <a:xfrm>
            <a:off x="5922008" y="2092638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7" hasCustomPrompt="1"/>
          </p:nvPr>
        </p:nvSpPr>
        <p:spPr>
          <a:xfrm>
            <a:off x="5922008" y="3112336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5922008" y="4132033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 idx="9"/>
          </p:nvPr>
        </p:nvSpPr>
        <p:spPr>
          <a:xfrm>
            <a:off x="390296" y="1167854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3"/>
          </p:nvPr>
        </p:nvSpPr>
        <p:spPr>
          <a:xfrm>
            <a:off x="690446" y="1622677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ctrTitle" idx="14"/>
          </p:nvPr>
        </p:nvSpPr>
        <p:spPr>
          <a:xfrm>
            <a:off x="390296" y="2141336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5"/>
          </p:nvPr>
        </p:nvSpPr>
        <p:spPr>
          <a:xfrm>
            <a:off x="690446" y="2596156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6"/>
          </p:nvPr>
        </p:nvSpPr>
        <p:spPr>
          <a:xfrm>
            <a:off x="6811558" y="1775180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7"/>
          </p:nvPr>
        </p:nvSpPr>
        <p:spPr>
          <a:xfrm>
            <a:off x="6811558" y="2230005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ctrTitle" idx="18"/>
          </p:nvPr>
        </p:nvSpPr>
        <p:spPr>
          <a:xfrm>
            <a:off x="6811558" y="2799095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9"/>
          </p:nvPr>
        </p:nvSpPr>
        <p:spPr>
          <a:xfrm>
            <a:off x="6811558" y="3253917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ctrTitle" idx="20"/>
          </p:nvPr>
        </p:nvSpPr>
        <p:spPr>
          <a:xfrm>
            <a:off x="6811558" y="38113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21"/>
          </p:nvPr>
        </p:nvSpPr>
        <p:spPr>
          <a:xfrm>
            <a:off x="6811558" y="4266173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>
  <p:cSld name="CUSTOM_1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 flipH="1">
            <a:off x="1147650" y="3085150"/>
            <a:ext cx="500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147575" y="402895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USTOM_1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CUSTOM_2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ctrTitle"/>
          </p:nvPr>
        </p:nvSpPr>
        <p:spPr>
          <a:xfrm flipH="1">
            <a:off x="2747779" y="263567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641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3718579" y="4030481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CUSTOM_2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ctrTitle"/>
          </p:nvPr>
        </p:nvSpPr>
        <p:spPr>
          <a:xfrm flipH="1">
            <a:off x="275454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7094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3725343" y="274298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1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CUSTOM_33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 b="1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7" r:id="rId6"/>
    <p:sldLayoutId id="2147483670" r:id="rId7"/>
    <p:sldLayoutId id="2147483671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>
            <a:spLocks noGrp="1"/>
          </p:cNvSpPr>
          <p:nvPr>
            <p:ph type="subTitle" idx="1"/>
          </p:nvPr>
        </p:nvSpPr>
        <p:spPr>
          <a:xfrm>
            <a:off x="3670681" y="2933522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 dirty="0"/>
          </a:p>
        </p:txBody>
      </p:sp>
      <p:sp>
        <p:nvSpPr>
          <p:cNvPr id="141" name="Google Shape;141;p30"/>
          <p:cNvSpPr txBox="1">
            <a:spLocks noGrp="1"/>
          </p:cNvSpPr>
          <p:nvPr>
            <p:ph type="ctrTitle"/>
          </p:nvPr>
        </p:nvSpPr>
        <p:spPr>
          <a:xfrm>
            <a:off x="1135981" y="1393699"/>
            <a:ext cx="68868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03 - Pandas</a:t>
            </a:r>
            <a:endParaRPr/>
          </a:p>
        </p:txBody>
      </p:sp>
      <p:cxnSp>
        <p:nvCxnSpPr>
          <p:cNvPr id="142" name="Google Shape;142;p30"/>
          <p:cNvCxnSpPr/>
          <p:nvPr/>
        </p:nvCxnSpPr>
        <p:spPr>
          <a:xfrm>
            <a:off x="7145675" y="3176000"/>
            <a:ext cx="2086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>
            <a:spLocks noGrp="1"/>
          </p:cNvSpPr>
          <p:nvPr>
            <p:ph type="ctrTitle"/>
          </p:nvPr>
        </p:nvSpPr>
        <p:spPr>
          <a:xfrm>
            <a:off x="1645200" y="352850"/>
            <a:ext cx="5853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Course Overview:</a:t>
            </a:r>
            <a:endParaRPr dirty="0"/>
          </a:p>
        </p:txBody>
      </p:sp>
      <p:sp>
        <p:nvSpPr>
          <p:cNvPr id="231" name="Google Shape;231;p39"/>
          <p:cNvSpPr/>
          <p:nvPr/>
        </p:nvSpPr>
        <p:spPr>
          <a:xfrm>
            <a:off x="662850" y="1299050"/>
            <a:ext cx="15618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1.1 - Python Review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2" name="Google Shape;232;p39"/>
          <p:cNvSpPr/>
          <p:nvPr/>
        </p:nvSpPr>
        <p:spPr>
          <a:xfrm>
            <a:off x="2684776" y="1309150"/>
            <a:ext cx="15618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200" dirty="0">
                <a:solidFill>
                  <a:schemeClr val="accent1"/>
                </a:solidFill>
                <a:latin typeface="Exo 2"/>
              </a:rPr>
              <a:t>1.2 - Numpy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33" name="Google Shape;233;p39"/>
          <p:cNvCxnSpPr>
            <a:stCxn id="231" idx="3"/>
            <a:endCxn id="232" idx="1"/>
          </p:cNvCxnSpPr>
          <p:nvPr/>
        </p:nvCxnSpPr>
        <p:spPr>
          <a:xfrm>
            <a:off x="2224650" y="1697300"/>
            <a:ext cx="460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" name="Google Shape;234;p39"/>
          <p:cNvSpPr/>
          <p:nvPr/>
        </p:nvSpPr>
        <p:spPr>
          <a:xfrm>
            <a:off x="4681975" y="1298950"/>
            <a:ext cx="15618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1.3 - Pandas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5" name="Google Shape;235;p39"/>
          <p:cNvSpPr/>
          <p:nvPr/>
        </p:nvSpPr>
        <p:spPr>
          <a:xfrm>
            <a:off x="6679176" y="1309250"/>
            <a:ext cx="15618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</a:rPr>
              <a:t>1.4 - Seaborn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36" name="Google Shape;236;p39"/>
          <p:cNvCxnSpPr>
            <a:stCxn id="234" idx="3"/>
            <a:endCxn id="235" idx="1"/>
          </p:cNvCxnSpPr>
          <p:nvPr/>
        </p:nvCxnSpPr>
        <p:spPr>
          <a:xfrm>
            <a:off x="6243775" y="1697200"/>
            <a:ext cx="43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7" name="Google Shape;237;p39"/>
          <p:cNvCxnSpPr/>
          <p:nvPr/>
        </p:nvCxnSpPr>
        <p:spPr>
          <a:xfrm>
            <a:off x="4234250" y="1697300"/>
            <a:ext cx="43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8" name="Google Shape;238;p39"/>
          <p:cNvSpPr/>
          <p:nvPr/>
        </p:nvSpPr>
        <p:spPr>
          <a:xfrm>
            <a:off x="662850" y="238807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2.1 - ML Intro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9" name="Google Shape;239;p39"/>
          <p:cNvSpPr/>
          <p:nvPr/>
        </p:nvSpPr>
        <p:spPr>
          <a:xfrm>
            <a:off x="1985500" y="239817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</a:rPr>
              <a:t>2.2 - Linear Regression</a:t>
            </a:r>
            <a:endParaRPr sz="11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40" name="Google Shape;240;p39"/>
          <p:cNvCxnSpPr>
            <a:stCxn id="238" idx="3"/>
            <a:endCxn id="239" idx="1"/>
          </p:cNvCxnSpPr>
          <p:nvPr/>
        </p:nvCxnSpPr>
        <p:spPr>
          <a:xfrm>
            <a:off x="1684350" y="2786325"/>
            <a:ext cx="301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" name="Google Shape;241;p39"/>
          <p:cNvSpPr/>
          <p:nvPr/>
        </p:nvSpPr>
        <p:spPr>
          <a:xfrm>
            <a:off x="3287163" y="238797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2.3 - Logistic Regression</a:t>
            </a:r>
            <a:endParaRPr sz="1100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2" name="Google Shape;242;p39"/>
          <p:cNvSpPr/>
          <p:nvPr/>
        </p:nvSpPr>
        <p:spPr>
          <a:xfrm>
            <a:off x="4593637" y="239827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1100" dirty="0">
                <a:solidFill>
                  <a:schemeClr val="accent1"/>
                </a:solidFill>
                <a:latin typeface="Exo 2"/>
              </a:rPr>
              <a:t>2.4 -</a:t>
            </a:r>
            <a:r>
              <a:rPr lang="de-DE" sz="1100" dirty="0" err="1">
                <a:solidFill>
                  <a:schemeClr val="accent1"/>
                </a:solidFill>
                <a:latin typeface="Exo 2"/>
              </a:rPr>
              <a:t>Naïve</a:t>
            </a:r>
            <a:r>
              <a:rPr lang="de-DE" sz="1100" dirty="0">
                <a:solidFill>
                  <a:schemeClr val="accent1"/>
                </a:solidFill>
                <a:latin typeface="Exo 2"/>
              </a:rPr>
              <a:t> Bayes </a:t>
            </a:r>
            <a:r>
              <a:rPr lang="de-DE" sz="1100" dirty="0" err="1">
                <a:solidFill>
                  <a:schemeClr val="accent1"/>
                </a:solidFill>
                <a:latin typeface="Exo 2"/>
              </a:rPr>
              <a:t>Classifier</a:t>
            </a:r>
            <a:endParaRPr sz="11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43" name="Google Shape;243;p39"/>
          <p:cNvCxnSpPr>
            <a:stCxn id="241" idx="3"/>
            <a:endCxn id="242" idx="1"/>
          </p:cNvCxnSpPr>
          <p:nvPr/>
        </p:nvCxnSpPr>
        <p:spPr>
          <a:xfrm>
            <a:off x="4308663" y="2786225"/>
            <a:ext cx="284974" cy="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" name="Google Shape;244;p39"/>
          <p:cNvCxnSpPr/>
          <p:nvPr/>
        </p:nvCxnSpPr>
        <p:spPr>
          <a:xfrm>
            <a:off x="2999078" y="2786325"/>
            <a:ext cx="28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" name="Google Shape;245;p39"/>
          <p:cNvSpPr/>
          <p:nvPr/>
        </p:nvSpPr>
        <p:spPr>
          <a:xfrm>
            <a:off x="7211180" y="2367574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  <a:sym typeface="Exo 2"/>
              </a:rPr>
              <a:t>2.6 - Decision Trees</a:t>
            </a:r>
            <a:endParaRPr sz="11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cxnSp>
        <p:nvCxnSpPr>
          <p:cNvPr id="247" name="Google Shape;247;p39"/>
          <p:cNvCxnSpPr>
            <a:cxnSpLocks/>
          </p:cNvCxnSpPr>
          <p:nvPr/>
        </p:nvCxnSpPr>
        <p:spPr>
          <a:xfrm>
            <a:off x="6926180" y="2770549"/>
            <a:ext cx="285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" name="Google Shape;248;p39"/>
          <p:cNvCxnSpPr>
            <a:cxnSpLocks/>
          </p:cNvCxnSpPr>
          <p:nvPr/>
        </p:nvCxnSpPr>
        <p:spPr>
          <a:xfrm>
            <a:off x="5619980" y="2796625"/>
            <a:ext cx="28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9" name="Google Shape;249;p39"/>
          <p:cNvSpPr/>
          <p:nvPr/>
        </p:nvSpPr>
        <p:spPr>
          <a:xfrm>
            <a:off x="662875" y="3487200"/>
            <a:ext cx="1462746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strike="sngStrike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3.1 – Ensembling Learning</a:t>
            </a:r>
            <a:endParaRPr sz="1200" strike="sngStrike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51" name="Google Shape;251;p39"/>
          <p:cNvCxnSpPr>
            <a:cxnSpLocks/>
            <a:stCxn id="249" idx="3"/>
          </p:cNvCxnSpPr>
          <p:nvPr/>
        </p:nvCxnSpPr>
        <p:spPr>
          <a:xfrm flipV="1">
            <a:off x="2125621" y="3883468"/>
            <a:ext cx="329129" cy="1982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" name="Google Shape;252;p39"/>
          <p:cNvSpPr/>
          <p:nvPr/>
        </p:nvSpPr>
        <p:spPr>
          <a:xfrm>
            <a:off x="3889561" y="3495418"/>
            <a:ext cx="194468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strike="sngStrike" dirty="0">
                <a:solidFill>
                  <a:schemeClr val="accent1"/>
                </a:solidFill>
                <a:latin typeface="Exo 2"/>
              </a:rPr>
              <a:t>4</a:t>
            </a:r>
            <a:r>
              <a:rPr lang="en" sz="1200" strike="sngStrike" dirty="0">
                <a:solidFill>
                  <a:schemeClr val="accent1"/>
                </a:solidFill>
                <a:latin typeface="Exo 2"/>
              </a:rPr>
              <a:t>.* - Natural Language Processing (NLP)</a:t>
            </a:r>
            <a:endParaRPr sz="1200" strike="sngStrike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53" name="Google Shape;253;p39"/>
          <p:cNvCxnSpPr>
            <a:cxnSpLocks/>
          </p:cNvCxnSpPr>
          <p:nvPr/>
        </p:nvCxnSpPr>
        <p:spPr>
          <a:xfrm flipV="1">
            <a:off x="3512022" y="3885450"/>
            <a:ext cx="370594" cy="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CE7875C-AF3A-C2C2-F19E-141096FF1EEF}"/>
              </a:ext>
            </a:extLst>
          </p:cNvPr>
          <p:cNvCxnSpPr>
            <a:cxnSpLocks/>
          </p:cNvCxnSpPr>
          <p:nvPr/>
        </p:nvCxnSpPr>
        <p:spPr>
          <a:xfrm rot="5400000">
            <a:off x="4576588" y="302261"/>
            <a:ext cx="302525" cy="60044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Google Shape;242;p39">
            <a:extLst>
              <a:ext uri="{FF2B5EF4-FFF2-40B4-BE49-F238E27FC236}">
                <a16:creationId xmlns:a16="http://schemas.microsoft.com/office/drawing/2014/main" id="{C367036A-0937-2BA9-B3D7-B66F206EBDE5}"/>
              </a:ext>
            </a:extLst>
          </p:cNvPr>
          <p:cNvSpPr/>
          <p:nvPr/>
        </p:nvSpPr>
        <p:spPr>
          <a:xfrm>
            <a:off x="5899893" y="2387974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Font typeface="Arial"/>
              <a:buNone/>
            </a:pPr>
            <a:r>
              <a:rPr lang="en" sz="1100" strike="sngStrike" dirty="0">
                <a:solidFill>
                  <a:schemeClr val="accent1"/>
                </a:solidFill>
                <a:latin typeface="Exo 2"/>
              </a:rPr>
              <a:t>2.5 - KNN</a:t>
            </a:r>
            <a:endParaRPr sz="1100" strike="sngStrike" dirty="0">
              <a:solidFill>
                <a:schemeClr val="accent1"/>
              </a:solidFill>
              <a:latin typeface="Exo 2"/>
            </a:endParaRPr>
          </a:p>
        </p:txBody>
      </p:sp>
      <p:sp>
        <p:nvSpPr>
          <p:cNvPr id="11" name="Google Shape;246;p39"/>
          <p:cNvSpPr/>
          <p:nvPr/>
        </p:nvSpPr>
        <p:spPr>
          <a:xfrm>
            <a:off x="2484398" y="3497801"/>
            <a:ext cx="1021500" cy="771335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200" strike="sngStrike" dirty="0">
                <a:solidFill>
                  <a:schemeClr val="accent1"/>
                </a:solidFill>
                <a:latin typeface="Exo 2"/>
              </a:rPr>
              <a:t>3.2 - Neural Networks</a:t>
            </a:r>
            <a:endParaRPr sz="1200" strike="sngStrike" dirty="0">
              <a:solidFill>
                <a:schemeClr val="accent1"/>
              </a:solidFill>
              <a:latin typeface="Exo 2"/>
            </a:endParaRPr>
          </a:p>
        </p:txBody>
      </p:sp>
      <p:sp>
        <p:nvSpPr>
          <p:cNvPr id="15" name="Google Shape;250;p39"/>
          <p:cNvSpPr/>
          <p:nvPr/>
        </p:nvSpPr>
        <p:spPr>
          <a:xfrm>
            <a:off x="6215053" y="3487163"/>
            <a:ext cx="2125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</a:rPr>
              <a:t>5.* Competition Tips &amp; Final Thoughts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9" name="Google Shape;253;p39">
            <a:extLst>
              <a:ext uri="{FF2B5EF4-FFF2-40B4-BE49-F238E27FC236}">
                <a16:creationId xmlns:a16="http://schemas.microsoft.com/office/drawing/2014/main" id="{83D54D0B-E89E-5AFB-7532-752D8B42179B}"/>
              </a:ext>
            </a:extLst>
          </p:cNvPr>
          <p:cNvCxnSpPr>
            <a:cxnSpLocks/>
          </p:cNvCxnSpPr>
          <p:nvPr/>
        </p:nvCxnSpPr>
        <p:spPr>
          <a:xfrm flipV="1">
            <a:off x="5847310" y="3908621"/>
            <a:ext cx="370594" cy="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>
            <a:spLocks noGrp="1"/>
          </p:cNvSpPr>
          <p:nvPr>
            <p:ph type="ctrTitle"/>
          </p:nvPr>
        </p:nvSpPr>
        <p:spPr>
          <a:xfrm>
            <a:off x="3385875" y="2098650"/>
            <a:ext cx="23724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48" name="Google Shape;148;p31"/>
          <p:cNvSpPr txBox="1">
            <a:spLocks noGrp="1"/>
          </p:cNvSpPr>
          <p:nvPr>
            <p:ph type="ctrTitle" idx="2"/>
          </p:nvPr>
        </p:nvSpPr>
        <p:spPr>
          <a:xfrm>
            <a:off x="390296" y="544428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- What is Pandas?</a:t>
            </a:r>
            <a:endParaRPr/>
          </a:p>
        </p:txBody>
      </p:sp>
      <p:sp>
        <p:nvSpPr>
          <p:cNvPr id="149" name="Google Shape;149;p31"/>
          <p:cNvSpPr txBox="1">
            <a:spLocks noGrp="1"/>
          </p:cNvSpPr>
          <p:nvPr>
            <p:ph type="ctrTitle" idx="9"/>
          </p:nvPr>
        </p:nvSpPr>
        <p:spPr>
          <a:xfrm>
            <a:off x="390296" y="1423792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</a:t>
            </a:r>
            <a:endParaRPr/>
          </a:p>
        </p:txBody>
      </p:sp>
      <p:sp>
        <p:nvSpPr>
          <p:cNvPr id="150" name="Google Shape;150;p31"/>
          <p:cNvSpPr txBox="1">
            <a:spLocks noGrp="1"/>
          </p:cNvSpPr>
          <p:nvPr>
            <p:ph type="title" idx="3"/>
          </p:nvPr>
        </p:nvSpPr>
        <p:spPr>
          <a:xfrm>
            <a:off x="2118448" y="54444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51" name="Google Shape;151;p31"/>
          <p:cNvSpPr txBox="1">
            <a:spLocks noGrp="1"/>
          </p:cNvSpPr>
          <p:nvPr>
            <p:ph type="title" idx="5"/>
          </p:nvPr>
        </p:nvSpPr>
        <p:spPr>
          <a:xfrm>
            <a:off x="2105406" y="248716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title" idx="4"/>
          </p:nvPr>
        </p:nvSpPr>
        <p:spPr>
          <a:xfrm>
            <a:off x="2105406" y="151580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153" name="Google Shape;153;p31"/>
          <p:cNvCxnSpPr/>
          <p:nvPr/>
        </p:nvCxnSpPr>
        <p:spPr>
          <a:xfrm>
            <a:off x="3297225" y="0"/>
            <a:ext cx="0" cy="239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" name="Google Shape;154;p31"/>
          <p:cNvCxnSpPr/>
          <p:nvPr/>
        </p:nvCxnSpPr>
        <p:spPr>
          <a:xfrm>
            <a:off x="5861950" y="3131400"/>
            <a:ext cx="0" cy="203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31"/>
          <p:cNvSpPr txBox="1">
            <a:spLocks noGrp="1"/>
          </p:cNvSpPr>
          <p:nvPr>
            <p:ph type="ctrTitle" idx="14"/>
          </p:nvPr>
        </p:nvSpPr>
        <p:spPr>
          <a:xfrm>
            <a:off x="390296" y="2487161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Series and Dataframes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>
            <a:spLocks noGrp="1"/>
          </p:cNvSpPr>
          <p:nvPr>
            <p:ph type="ctrTitle"/>
          </p:nvPr>
        </p:nvSpPr>
        <p:spPr>
          <a:xfrm flipH="1">
            <a:off x="1147650" y="3085150"/>
            <a:ext cx="500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Pandas?</a:t>
            </a:r>
            <a:endParaRPr/>
          </a:p>
        </p:txBody>
      </p:sp>
      <p:sp>
        <p:nvSpPr>
          <p:cNvPr id="161" name="Google Shape;161;p32"/>
          <p:cNvSpPr txBox="1">
            <a:spLocks noGrp="1"/>
          </p:cNvSpPr>
          <p:nvPr>
            <p:ph type="title" idx="2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162" name="Google Shape;162;p32"/>
          <p:cNvCxnSpPr/>
          <p:nvPr/>
        </p:nvCxnSpPr>
        <p:spPr>
          <a:xfrm>
            <a:off x="0" y="4028275"/>
            <a:ext cx="156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3"/>
          <p:cNvSpPr txBox="1">
            <a:spLocks noGrp="1"/>
          </p:cNvSpPr>
          <p:nvPr>
            <p:ph type="body" idx="1"/>
          </p:nvPr>
        </p:nvSpPr>
        <p:spPr>
          <a:xfrm>
            <a:off x="697275" y="1299050"/>
            <a:ext cx="7942800" cy="32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Python library</a:t>
            </a:r>
            <a:r>
              <a:rPr lang="en" sz="2000"/>
              <a:t> closely related to </a:t>
            </a: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NumPy</a:t>
            </a:r>
            <a:r>
              <a:rPr lang="en" sz="2000"/>
              <a:t>, both go hand in hand</a:t>
            </a:r>
            <a:endParaRPr sz="20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spcBef>
                <a:spcPts val="160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Used for </a:t>
            </a: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manipulating </a:t>
            </a:r>
            <a:r>
              <a:rPr lang="en" sz="2000"/>
              <a:t>and </a:t>
            </a: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storing data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" sz="2000"/>
              <a:t>E.g. cleaning, transforming, analyzing, etc.</a:t>
            </a:r>
            <a:endParaRPr sz="20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spcBef>
                <a:spcPts val="160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Very similar to </a:t>
            </a: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excel</a:t>
            </a:r>
            <a:r>
              <a:rPr lang="en" sz="2000"/>
              <a:t>, but has a lot more features and flexibility</a:t>
            </a:r>
            <a:endParaRPr sz="2000"/>
          </a:p>
        </p:txBody>
      </p:sp>
      <p:sp>
        <p:nvSpPr>
          <p:cNvPr id="168" name="Google Shape;168;p33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Pandas</a:t>
            </a:r>
            <a:endParaRPr sz="3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>
            <a:spLocks noGrp="1"/>
          </p:cNvSpPr>
          <p:nvPr>
            <p:ph type="ctrTitle"/>
          </p:nvPr>
        </p:nvSpPr>
        <p:spPr>
          <a:xfrm flipH="1">
            <a:off x="2747779" y="263567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</a:t>
            </a:r>
            <a:endParaRPr/>
          </a:p>
        </p:txBody>
      </p:sp>
      <p:sp>
        <p:nvSpPr>
          <p:cNvPr id="174" name="Google Shape;174;p34"/>
          <p:cNvSpPr txBox="1">
            <a:spLocks noGrp="1"/>
          </p:cNvSpPr>
          <p:nvPr>
            <p:ph type="title" idx="2"/>
          </p:nvPr>
        </p:nvSpPr>
        <p:spPr>
          <a:xfrm flipH="1">
            <a:off x="49641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175" name="Google Shape;175;p34"/>
          <p:cNvCxnSpPr/>
          <p:nvPr/>
        </p:nvCxnSpPr>
        <p:spPr>
          <a:xfrm>
            <a:off x="7578325" y="4028400"/>
            <a:ext cx="1565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 txBox="1">
            <a:spLocks noGrp="1"/>
          </p:cNvSpPr>
          <p:nvPr>
            <p:ph type="ctrTitle"/>
          </p:nvPr>
        </p:nvSpPr>
        <p:spPr>
          <a:xfrm>
            <a:off x="1964850" y="352850"/>
            <a:ext cx="5214300" cy="6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</a:t>
            </a:r>
            <a:endParaRPr/>
          </a:p>
        </p:txBody>
      </p:sp>
      <p:sp>
        <p:nvSpPr>
          <p:cNvPr id="181" name="Google Shape;181;p35"/>
          <p:cNvSpPr txBox="1"/>
          <p:nvPr/>
        </p:nvSpPr>
        <p:spPr>
          <a:xfrm>
            <a:off x="652200" y="1139400"/>
            <a:ext cx="7839600" cy="40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Command Prompt:</a:t>
            </a:r>
            <a:endParaRPr sz="17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&gt; conda install pandas</a:t>
            </a:r>
            <a:b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---OR---</a:t>
            </a:r>
            <a:br>
              <a:rPr lang="e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&gt; pip install pandas</a:t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Importing in Python:</a:t>
            </a:r>
            <a:endParaRPr sz="26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import </a:t>
            </a: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numpy </a:t>
            </a:r>
            <a:r>
              <a:rPr lang="en" sz="2000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as </a:t>
            </a: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np   </a:t>
            </a:r>
            <a:r>
              <a:rPr lang="en" sz="2000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# we always need numpy!</a:t>
            </a:r>
            <a:br>
              <a:rPr lang="en" sz="2000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2000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import </a:t>
            </a: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pandas </a:t>
            </a:r>
            <a:r>
              <a:rPr lang="en" sz="2000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as </a:t>
            </a: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  </a:t>
            </a:r>
            <a:r>
              <a:rPr lang="en" sz="2000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# this imports pandas!</a:t>
            </a:r>
            <a:endParaRPr sz="26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ctrTitle"/>
          </p:nvPr>
        </p:nvSpPr>
        <p:spPr>
          <a:xfrm flipH="1">
            <a:off x="275454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Series and Dataframes</a:t>
            </a:r>
            <a:endParaRPr/>
          </a:p>
        </p:txBody>
      </p:sp>
      <p:sp>
        <p:nvSpPr>
          <p:cNvPr id="187" name="Google Shape;187;p36"/>
          <p:cNvSpPr txBox="1">
            <a:spLocks noGrp="1"/>
          </p:cNvSpPr>
          <p:nvPr>
            <p:ph type="title" idx="2"/>
          </p:nvPr>
        </p:nvSpPr>
        <p:spPr>
          <a:xfrm flipH="1">
            <a:off x="497094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188" name="Google Shape;188;p36"/>
          <p:cNvCxnSpPr/>
          <p:nvPr/>
        </p:nvCxnSpPr>
        <p:spPr>
          <a:xfrm>
            <a:off x="7626825" y="2744700"/>
            <a:ext cx="156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" name="Google Shape;189;p36"/>
          <p:cNvSpPr txBox="1">
            <a:spLocks noGrp="1"/>
          </p:cNvSpPr>
          <p:nvPr>
            <p:ph type="subTitle" idx="1"/>
          </p:nvPr>
        </p:nvSpPr>
        <p:spPr>
          <a:xfrm>
            <a:off x="3725343" y="274298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here the subtitle if you need it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7"/>
          <p:cNvSpPr txBox="1">
            <a:spLocks noGrp="1"/>
          </p:cNvSpPr>
          <p:nvPr>
            <p:ph type="body" idx="1"/>
          </p:nvPr>
        </p:nvSpPr>
        <p:spPr>
          <a:xfrm>
            <a:off x="605250" y="1144700"/>
            <a:ext cx="7970400" cy="19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Char char="●"/>
            </a:pPr>
            <a:r>
              <a:rPr lang="en" sz="2000"/>
              <a:t>Stores 1-dimensional data - </a:t>
            </a: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very</a:t>
            </a:r>
            <a:r>
              <a:rPr lang="en" sz="2000"/>
              <a:t> similar to NumPy arrays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Every series has </a:t>
            </a: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indexes </a:t>
            </a:r>
            <a:r>
              <a:rPr lang="en" sz="2000"/>
              <a:t>and </a:t>
            </a: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data</a:t>
            </a:r>
            <a:endParaRPr sz="20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Char char="○"/>
            </a:pP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Indexes</a:t>
            </a:r>
            <a:r>
              <a:rPr lang="en" sz="2000"/>
              <a:t> are more flexible than NumPy, aren’t limited to numbers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The </a:t>
            </a: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data</a:t>
            </a:r>
            <a:r>
              <a:rPr lang="en" sz="2000"/>
              <a:t> can be anything - numbers, strings, dates, etc.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Not limited to one type of data</a:t>
            </a:r>
            <a:endParaRPr sz="2000"/>
          </a:p>
        </p:txBody>
      </p:sp>
      <p:sp>
        <p:nvSpPr>
          <p:cNvPr id="195" name="Google Shape;195;p37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Series</a:t>
            </a:r>
            <a:endParaRPr/>
          </a:p>
        </p:txBody>
      </p:sp>
      <p:pic>
        <p:nvPicPr>
          <p:cNvPr id="196" name="Google Shape;19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2237" y="3321650"/>
            <a:ext cx="2299526" cy="17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8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DataFrames</a:t>
            </a:r>
            <a:endParaRPr/>
          </a:p>
        </p:txBody>
      </p:sp>
      <p:sp>
        <p:nvSpPr>
          <p:cNvPr id="202" name="Google Shape;202;p38"/>
          <p:cNvSpPr txBox="1">
            <a:spLocks noGrp="1"/>
          </p:cNvSpPr>
          <p:nvPr>
            <p:ph type="body" idx="1"/>
          </p:nvPr>
        </p:nvSpPr>
        <p:spPr>
          <a:xfrm>
            <a:off x="605250" y="1144700"/>
            <a:ext cx="7970400" cy="19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collection of series</a:t>
            </a:r>
            <a:endParaRPr sz="20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000"/>
          </a:p>
        </p:txBody>
      </p:sp>
      <p:pic>
        <p:nvPicPr>
          <p:cNvPr id="203" name="Google Shape;20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938" y="1749100"/>
            <a:ext cx="6866124" cy="285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●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df.head() gives quick snapshot of data (first 5 rows)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○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You can specify more rows by passing in parameter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●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df.info() provides important details of dataset - # of rows/columns, null values, type of data in each column, etc.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●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df.shape() outputs the dimensions of dataframe in a tuple (# of rows, # of columns)</a:t>
            </a:r>
            <a:endParaRPr sz="1300"/>
          </a:p>
        </p:txBody>
      </p:sp>
      <p:sp>
        <p:nvSpPr>
          <p:cNvPr id="209" name="Google Shape;209;p3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dataframe methods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Accession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●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df[‘column_name’] returns the specific column in the form of a pandas Series 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●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.iloc + .loc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●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df[df[‘column’]==___]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●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Making a new column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15" name="Google Shape;215;p40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●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Apply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○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Write out a function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○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Lambda notation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●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Example: to split a certain string apart and create a new column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○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Df[“newcolumn”] = df[“oldcolumn”].apply(lambda x: x.split(‘:’)[0])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■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What this does is pick out the first word before the colon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1" name="Google Shape;221;p41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.apply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2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●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When dealing with missing data, either drop of fill missing values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○"/>
            </a:pP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Drop:        df.dropna()</a:t>
            </a:r>
            <a:endParaRPr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■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Make sure to specify axis=1 if wanting to drop columns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■"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Thresh argument can be used to specifically drop only columns with less than a certain amount of missing data points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Char char="○"/>
            </a:pP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Fill:          df.fillna(#whatever)</a:t>
            </a:r>
            <a:endParaRPr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7" name="Google Shape;227;p42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Null values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>
            <a:spLocks noGrp="1"/>
          </p:cNvSpPr>
          <p:nvPr>
            <p:ph type="body" idx="1"/>
          </p:nvPr>
        </p:nvSpPr>
        <p:spPr>
          <a:xfrm>
            <a:off x="642050" y="2134799"/>
            <a:ext cx="5308200" cy="21324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First to count the amount of null values: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df.isnull() - returns a dataframe with true and false values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To get the count per column, do df.</a:t>
            </a:r>
            <a:r>
              <a:rPr lang="en" b="1" dirty="0"/>
              <a:t>isnull</a:t>
            </a:r>
            <a:r>
              <a:rPr lang="en" dirty="0"/>
              <a:t>().count() </a:t>
            </a:r>
            <a:r>
              <a:rPr lang="en" dirty="0">
                <a:sym typeface="Wingdings" panose="05000000000000000000" pitchFamily="2" charset="2"/>
              </a:rPr>
              <a:t> tells us about the count for all elements including NaN (missing values)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33" name="Google Shape;233;p43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about Null values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231">
          <a:extLst>
            <a:ext uri="{FF2B5EF4-FFF2-40B4-BE49-F238E27FC236}">
              <a16:creationId xmlns:a16="http://schemas.microsoft.com/office/drawing/2014/main" id="{8FADA92A-D64E-B450-C678-DDBE0A3EB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>
            <a:extLst>
              <a:ext uri="{FF2B5EF4-FFF2-40B4-BE49-F238E27FC236}">
                <a16:creationId xmlns:a16="http://schemas.microsoft.com/office/drawing/2014/main" id="{CD09A807-07A3-3645-AB33-E6EE4D3002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2050" y="2134799"/>
            <a:ext cx="5308200" cy="21324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de-DE" b="1" dirty="0"/>
              <a:t>Clear Explanation</a:t>
            </a:r>
            <a:r>
              <a:rPr lang="en" dirty="0"/>
              <a:t>:</a:t>
            </a:r>
            <a:endParaRPr dirty="0"/>
          </a:p>
          <a:p>
            <a:pPr marL="171450" indent="-171450">
              <a:spcBef>
                <a:spcPts val="1600"/>
              </a:spcBef>
            </a:pPr>
            <a:r>
              <a:rPr lang="en-US" dirty="0" err="1"/>
              <a:t>df.isnull</a:t>
            </a:r>
            <a:r>
              <a:rPr lang="en-US" dirty="0"/>
              <a:t>().sum(): gives the number of missing values (</a:t>
            </a:r>
            <a:r>
              <a:rPr lang="en-US" dirty="0" err="1"/>
              <a:t>NaN</a:t>
            </a:r>
            <a:r>
              <a:rPr lang="en-US" dirty="0"/>
              <a:t>) in each column.</a:t>
            </a:r>
          </a:p>
          <a:p>
            <a:pPr marL="171450" lvl="0" indent="-171450">
              <a:spcBef>
                <a:spcPts val="1600"/>
              </a:spcBef>
            </a:pPr>
            <a:r>
              <a:rPr lang="en-US" dirty="0" err="1"/>
              <a:t>df.count</a:t>
            </a:r>
            <a:r>
              <a:rPr lang="en-US" dirty="0"/>
              <a:t>(): gives the number of non-missing values in each column.</a:t>
            </a:r>
          </a:p>
          <a:p>
            <a:pPr marL="171450" indent="-171450">
              <a:spcBef>
                <a:spcPts val="1600"/>
              </a:spcBef>
            </a:pPr>
            <a:r>
              <a:rPr lang="en-US" dirty="0" err="1"/>
              <a:t>df.shape</a:t>
            </a:r>
            <a:r>
              <a:rPr lang="en-US" dirty="0"/>
              <a:t>[0]: gives the total number of rows in the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33" name="Google Shape;233;p43">
            <a:extLst>
              <a:ext uri="{FF2B5EF4-FFF2-40B4-BE49-F238E27FC236}">
                <a16:creationId xmlns:a16="http://schemas.microsoft.com/office/drawing/2014/main" id="{6046F6B5-09C8-6497-A774-C523DB31F18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All about Null values,</a:t>
            </a:r>
            <a:br>
              <a:rPr lang="en" dirty="0"/>
            </a:br>
            <a:r>
              <a:rPr lang="de-DE" dirty="0"/>
              <a:t>Clear Explanation:</a:t>
            </a:r>
            <a:br>
              <a:rPr lang="en" dirty="0"/>
            </a:b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3B3D73-1B0C-25E7-0423-E9926AD56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df.isnull().sum()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number of missing values (NaN) in each column.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df.count()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number of non-missing values in each column.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df.shape[0]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total number of rows in the DataFrame.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0C749F-0D0B-DD02-A612-F561B44FD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df.isnull().sum()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number of missing values (NaN) in each column.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df.count()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number of non-missing values in each column.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df.shape[0]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total number of rows in the DataFrame.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589906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231">
          <a:extLst>
            <a:ext uri="{FF2B5EF4-FFF2-40B4-BE49-F238E27FC236}">
              <a16:creationId xmlns:a16="http://schemas.microsoft.com/office/drawing/2014/main" id="{AC2B4E4D-5356-320C-D5FF-ED9CE811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>
            <a:extLst>
              <a:ext uri="{FF2B5EF4-FFF2-40B4-BE49-F238E27FC236}">
                <a16:creationId xmlns:a16="http://schemas.microsoft.com/office/drawing/2014/main" id="{2A1DE64B-AF3B-F5A9-7081-633CF3BB75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2050" y="2134799"/>
            <a:ext cx="5308200" cy="21324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de-DE" b="1" dirty="0" err="1"/>
              <a:t>Example</a:t>
            </a:r>
            <a:r>
              <a:rPr lang="en" dirty="0"/>
              <a:t>: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endParaRPr lang="en-US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33" name="Google Shape;233;p43">
            <a:extLst>
              <a:ext uri="{FF2B5EF4-FFF2-40B4-BE49-F238E27FC236}">
                <a16:creationId xmlns:a16="http://schemas.microsoft.com/office/drawing/2014/main" id="{BB1B3035-94FC-1ABB-EA1A-6B108F61CB1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All about Null values,</a:t>
            </a:r>
            <a:br>
              <a:rPr lang="en" dirty="0"/>
            </a:br>
            <a:r>
              <a:rPr lang="de-DE" dirty="0" err="1"/>
              <a:t>Example</a:t>
            </a:r>
            <a:r>
              <a:rPr lang="de-DE" dirty="0"/>
              <a:t>:</a:t>
            </a:r>
            <a:br>
              <a:rPr lang="en" dirty="0"/>
            </a:b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748F3A-D880-20C1-F214-1CB5DD529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df.isnull().sum()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number of missing values (NaN) in each column.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df.count()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number of non-missing values in each column.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df.shape[0]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total number of rows in the DataFrame.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6D9CDF-CB96-5DC2-09EB-D31984A99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df.isnull().sum()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number of missing values (NaN) in each column.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df.count()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number of non-missing values in each column.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df.shape[0]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total number of rows in the DataFrame.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51FE588-E9BE-CB33-9D29-D83456C3CE2D}"/>
              </a:ext>
            </a:extLst>
          </p:cNvPr>
          <p:cNvSpPr txBox="1"/>
          <p:nvPr/>
        </p:nvSpPr>
        <p:spPr>
          <a:xfrm>
            <a:off x="871870" y="2571750"/>
            <a:ext cx="62023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>
                <a:solidFill>
                  <a:schemeClr val="tx1"/>
                </a:solidFill>
              </a:rPr>
              <a:t>import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pandas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as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pd</a:t>
            </a:r>
            <a:endParaRPr lang="de-DE" sz="1200" dirty="0">
              <a:solidFill>
                <a:schemeClr val="tx1"/>
              </a:solidFill>
            </a:endParaRPr>
          </a:p>
          <a:p>
            <a:endParaRPr lang="de-DE" sz="1200" dirty="0">
              <a:solidFill>
                <a:schemeClr val="tx1"/>
              </a:solidFill>
            </a:endParaRPr>
          </a:p>
          <a:p>
            <a:r>
              <a:rPr lang="de-DE" sz="1200" dirty="0" err="1">
                <a:solidFill>
                  <a:schemeClr val="tx1"/>
                </a:solidFill>
              </a:rPr>
              <a:t>df</a:t>
            </a:r>
            <a:r>
              <a:rPr lang="de-DE" sz="1200" dirty="0">
                <a:solidFill>
                  <a:schemeClr val="tx1"/>
                </a:solidFill>
              </a:rPr>
              <a:t> = </a:t>
            </a:r>
            <a:r>
              <a:rPr lang="de-DE" sz="1200" dirty="0" err="1">
                <a:solidFill>
                  <a:schemeClr val="tx1"/>
                </a:solidFill>
              </a:rPr>
              <a:t>pd.DataFrame</a:t>
            </a:r>
            <a:r>
              <a:rPr lang="de-DE" sz="1200" dirty="0">
                <a:solidFill>
                  <a:schemeClr val="tx1"/>
                </a:solidFill>
              </a:rPr>
              <a:t>({</a:t>
            </a:r>
          </a:p>
          <a:p>
            <a:r>
              <a:rPr lang="de-DE" sz="1200" dirty="0">
                <a:solidFill>
                  <a:schemeClr val="tx1"/>
                </a:solidFill>
              </a:rPr>
              <a:t>    'A': [1, 2, None, 4],</a:t>
            </a:r>
          </a:p>
          <a:p>
            <a:r>
              <a:rPr lang="de-DE" sz="1200" dirty="0">
                <a:solidFill>
                  <a:schemeClr val="tx1"/>
                </a:solidFill>
              </a:rPr>
              <a:t>    'B': ['x', None, 'z', 'y']</a:t>
            </a:r>
          </a:p>
          <a:p>
            <a:r>
              <a:rPr lang="de-DE" sz="1200" dirty="0">
                <a:solidFill>
                  <a:schemeClr val="tx1"/>
                </a:solidFill>
              </a:rPr>
              <a:t>})</a:t>
            </a:r>
          </a:p>
          <a:p>
            <a:endParaRPr lang="de-DE" sz="1200" dirty="0">
              <a:solidFill>
                <a:schemeClr val="tx1"/>
              </a:solidFill>
            </a:endParaRPr>
          </a:p>
          <a:p>
            <a:r>
              <a:rPr lang="de-DE" sz="1200" dirty="0" err="1">
                <a:solidFill>
                  <a:schemeClr val="tx1"/>
                </a:solidFill>
              </a:rPr>
              <a:t>df.isnull</a:t>
            </a:r>
            <a:r>
              <a:rPr lang="de-DE" sz="1200" dirty="0">
                <a:solidFill>
                  <a:schemeClr val="tx1"/>
                </a:solidFill>
              </a:rPr>
              <a:t>().</a:t>
            </a:r>
            <a:r>
              <a:rPr lang="de-DE" sz="1200" dirty="0" err="1">
                <a:solidFill>
                  <a:schemeClr val="tx1"/>
                </a:solidFill>
              </a:rPr>
              <a:t>sum</a:t>
            </a:r>
            <a:r>
              <a:rPr lang="de-DE" sz="1200" dirty="0">
                <a:solidFill>
                  <a:schemeClr val="tx1"/>
                </a:solidFill>
              </a:rPr>
              <a:t>()   # </a:t>
            </a:r>
            <a:r>
              <a:rPr lang="de-DE" sz="1200" dirty="0" err="1">
                <a:solidFill>
                  <a:schemeClr val="tx1"/>
                </a:solidFill>
              </a:rPr>
              <a:t>count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missing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values</a:t>
            </a:r>
            <a:endParaRPr lang="de-DE" sz="1200" dirty="0">
              <a:solidFill>
                <a:schemeClr val="tx1"/>
              </a:solidFill>
            </a:endParaRPr>
          </a:p>
          <a:p>
            <a:r>
              <a:rPr lang="de-DE" sz="1200" dirty="0" err="1">
                <a:solidFill>
                  <a:schemeClr val="tx1"/>
                </a:solidFill>
              </a:rPr>
              <a:t>df.count</a:t>
            </a:r>
            <a:r>
              <a:rPr lang="de-DE" sz="1200" dirty="0">
                <a:solidFill>
                  <a:schemeClr val="tx1"/>
                </a:solidFill>
              </a:rPr>
              <a:t>()          # </a:t>
            </a:r>
            <a:r>
              <a:rPr lang="de-DE" sz="1200" dirty="0" err="1">
                <a:solidFill>
                  <a:schemeClr val="tx1"/>
                </a:solidFill>
              </a:rPr>
              <a:t>count</a:t>
            </a:r>
            <a:r>
              <a:rPr lang="de-DE" sz="1200" dirty="0">
                <a:solidFill>
                  <a:schemeClr val="tx1"/>
                </a:solidFill>
              </a:rPr>
              <a:t> non-</a:t>
            </a:r>
            <a:r>
              <a:rPr lang="de-DE" sz="1200" dirty="0" err="1">
                <a:solidFill>
                  <a:schemeClr val="tx1"/>
                </a:solidFill>
              </a:rPr>
              <a:t>missing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values</a:t>
            </a: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95246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231">
          <a:extLst>
            <a:ext uri="{FF2B5EF4-FFF2-40B4-BE49-F238E27FC236}">
              <a16:creationId xmlns:a16="http://schemas.microsoft.com/office/drawing/2014/main" id="{96437DD2-27BD-A7A6-C909-991B97D98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>
            <a:extLst>
              <a:ext uri="{FF2B5EF4-FFF2-40B4-BE49-F238E27FC236}">
                <a16:creationId xmlns:a16="http://schemas.microsoft.com/office/drawing/2014/main" id="{2C99F737-C917-7B9E-8CE8-018632576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2050" y="1431857"/>
            <a:ext cx="5308200" cy="28353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de-DE" b="1" dirty="0"/>
              <a:t>W3Schools</a:t>
            </a:r>
            <a:r>
              <a:rPr lang="en" dirty="0"/>
              <a:t>:</a:t>
            </a:r>
            <a:endParaRPr dirty="0"/>
          </a:p>
          <a:p>
            <a:pPr marL="171450" indent="-171450">
              <a:spcBef>
                <a:spcPts val="1600"/>
              </a:spcBef>
            </a:pPr>
            <a:r>
              <a:rPr lang="de-DE" dirty="0"/>
              <a:t>Dictionary</a:t>
            </a:r>
          </a:p>
          <a:p>
            <a:pPr marL="171450" indent="-171450">
              <a:spcBef>
                <a:spcPts val="1600"/>
              </a:spcBef>
            </a:pPr>
            <a:r>
              <a:rPr lang="de-DE" dirty="0"/>
              <a:t>Pandas Series</a:t>
            </a:r>
            <a:endParaRPr lang="en-US" dirty="0"/>
          </a:p>
          <a:p>
            <a:pPr marL="171450" indent="-171450">
              <a:spcBef>
                <a:spcPts val="1600"/>
              </a:spcBef>
            </a:pPr>
            <a:r>
              <a:rPr lang="de-DE" dirty="0"/>
              <a:t>Pandas </a:t>
            </a:r>
            <a:r>
              <a:rPr lang="de-DE" dirty="0" err="1"/>
              <a:t>DataFrames</a:t>
            </a:r>
            <a:endParaRPr lang="en-US" dirty="0"/>
          </a:p>
          <a:p>
            <a:pPr marL="171450" indent="-171450">
              <a:spcBef>
                <a:spcPts val="1600"/>
              </a:spcBef>
            </a:pPr>
            <a:r>
              <a:rPr lang="de-DE" dirty="0"/>
              <a:t>Read JSON</a:t>
            </a:r>
          </a:p>
          <a:p>
            <a:pPr marL="171450" indent="-171450">
              <a:spcBef>
                <a:spcPts val="1600"/>
              </a:spcBef>
            </a:pPr>
            <a:r>
              <a:rPr lang="de-DE" dirty="0"/>
              <a:t>Data </a:t>
            </a:r>
            <a:r>
              <a:rPr lang="de-DE" dirty="0" err="1"/>
              <a:t>Correlations</a:t>
            </a:r>
            <a:endParaRPr lang="de-DE" dirty="0"/>
          </a:p>
          <a:p>
            <a:pPr marL="171450" indent="-171450">
              <a:spcBef>
                <a:spcPts val="1600"/>
              </a:spcBef>
            </a:pPr>
            <a:r>
              <a:rPr lang="de-DE" dirty="0" err="1"/>
              <a:t>DataFrame</a:t>
            </a:r>
            <a:r>
              <a:rPr lang="de-DE" dirty="0"/>
              <a:t> </a:t>
            </a:r>
            <a:r>
              <a:rPr lang="de-DE" dirty="0" err="1"/>
              <a:t>apply</a:t>
            </a:r>
            <a:r>
              <a:rPr lang="de-DE" dirty="0"/>
              <a:t>() Method</a:t>
            </a:r>
            <a:endParaRPr lang="en-US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33" name="Google Shape;233;p43">
            <a:extLst>
              <a:ext uri="{FF2B5EF4-FFF2-40B4-BE49-F238E27FC236}">
                <a16:creationId xmlns:a16="http://schemas.microsoft.com/office/drawing/2014/main" id="{09B302E7-FB99-459F-E19A-7EF42334C9F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de-DE" dirty="0"/>
              <a:t>Additional Material,</a:t>
            </a:r>
            <a:br>
              <a:rPr lang="de-DE" dirty="0"/>
            </a:br>
            <a:r>
              <a:rPr lang="de-DE" dirty="0"/>
              <a:t>W3Schools</a:t>
            </a:r>
            <a:br>
              <a:rPr lang="en" dirty="0"/>
            </a:b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198B73-FC1D-9A2D-A8A6-C5BF92282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df.isnull().sum()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number of missing values (NaN) in each column.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df.count()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number of non-missing values in each column.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df.shape[0]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total number of rows in the DataFrame.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035887-0277-5A7D-BF61-E4760EDE6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df.isnull().sum()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number of missing values (NaN) in each column.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df.count()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number of non-missing values in each column.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df.shape[0]</a:t>
            </a:r>
            <a:b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gives the total number of rows in the DataFrame.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957238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CF3D243-ACB9-287A-C421-4BFC45695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de-DE" sz="3600" b="1" dirty="0" err="1">
                <a:latin typeface="Exo 2"/>
                <a:sym typeface="Exo 2"/>
              </a:rPr>
              <a:t>Thank</a:t>
            </a:r>
            <a:r>
              <a:rPr lang="de-DE" sz="3600" b="1" dirty="0">
                <a:latin typeface="Exo 2"/>
                <a:sym typeface="Exo 2"/>
              </a:rPr>
              <a:t> </a:t>
            </a:r>
            <a:r>
              <a:rPr lang="de-DE" sz="3600" b="1" dirty="0" err="1">
                <a:latin typeface="Exo 2"/>
                <a:sym typeface="Exo 2"/>
              </a:rPr>
              <a:t>you</a:t>
            </a:r>
            <a:r>
              <a:rPr lang="de-DE" sz="3600" b="1" dirty="0">
                <a:latin typeface="Exo 2"/>
                <a:sym typeface="Exo 2"/>
              </a:rPr>
              <a:t>!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A38E729-1ED8-1466-565B-98B582A545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01074718"/>
      </p:ext>
    </p:extLst>
  </p:cSld>
  <p:clrMapOvr>
    <a:masterClrMapping/>
  </p:clrMapOvr>
</p:sld>
</file>

<file path=ppt/theme/theme1.xml><?xml version="1.0" encoding="utf-8"?>
<a:theme xmlns:a="http://schemas.openxmlformats.org/drawingml/2006/main" name="Tech Newsletter by Slidesgo">
  <a:themeElements>
    <a:clrScheme name="Simple Light">
      <a:dk1>
        <a:srgbClr val="FFFFFF"/>
      </a:dk1>
      <a:lt1>
        <a:srgbClr val="0A3455"/>
      </a:lt1>
      <a:dk2>
        <a:srgbClr val="6EBDC4"/>
      </a:dk2>
      <a:lt2>
        <a:srgbClr val="416D90"/>
      </a:lt2>
      <a:accent1>
        <a:srgbClr val="B4EBF0"/>
      </a:accent1>
      <a:accent2>
        <a:srgbClr val="7CC5CC"/>
      </a:accent2>
      <a:accent3>
        <a:srgbClr val="61A6B5"/>
      </a:accent3>
      <a:accent4>
        <a:srgbClr val="548FA6"/>
      </a:accent4>
      <a:accent5>
        <a:srgbClr val="2E5F80"/>
      </a:accent5>
      <a:accent6>
        <a:srgbClr val="174366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FFFFFF"/>
    </a:dk1>
    <a:lt1>
      <a:srgbClr val="0A3455"/>
    </a:lt1>
    <a:dk2>
      <a:srgbClr val="6EBDC4"/>
    </a:dk2>
    <a:lt2>
      <a:srgbClr val="416D90"/>
    </a:lt2>
    <a:accent1>
      <a:srgbClr val="B4EBF0"/>
    </a:accent1>
    <a:accent2>
      <a:srgbClr val="7CC5CC"/>
    </a:accent2>
    <a:accent3>
      <a:srgbClr val="61A6B5"/>
    </a:accent3>
    <a:accent4>
      <a:srgbClr val="548FA6"/>
    </a:accent4>
    <a:accent5>
      <a:srgbClr val="2E5F80"/>
    </a:accent5>
    <a:accent6>
      <a:srgbClr val="174366"/>
    </a:accent6>
    <a:hlink>
      <a:srgbClr val="FFFFFF"/>
    </a:hlink>
    <a:folHlink>
      <a:srgbClr val="0097A7"/>
    </a:folHlink>
  </a:clrScheme>
</a:themeOverride>
</file>

<file path=ppt/theme/themeOverride2.xml><?xml version="1.0" encoding="utf-8"?>
<a:themeOverride xmlns:a="http://schemas.openxmlformats.org/drawingml/2006/main">
  <a:clrScheme name="Simple Light">
    <a:dk1>
      <a:srgbClr val="FFFFFF"/>
    </a:dk1>
    <a:lt1>
      <a:srgbClr val="0A3455"/>
    </a:lt1>
    <a:dk2>
      <a:srgbClr val="6EBDC4"/>
    </a:dk2>
    <a:lt2>
      <a:srgbClr val="416D90"/>
    </a:lt2>
    <a:accent1>
      <a:srgbClr val="B4EBF0"/>
    </a:accent1>
    <a:accent2>
      <a:srgbClr val="7CC5CC"/>
    </a:accent2>
    <a:accent3>
      <a:srgbClr val="61A6B5"/>
    </a:accent3>
    <a:accent4>
      <a:srgbClr val="548FA6"/>
    </a:accent4>
    <a:accent5>
      <a:srgbClr val="2E5F80"/>
    </a:accent5>
    <a:accent6>
      <a:srgbClr val="174366"/>
    </a:accent6>
    <a:hlink>
      <a:srgbClr val="FFFFFF"/>
    </a:hlink>
    <a:folHlink>
      <a:srgbClr val="0097A7"/>
    </a:folHlink>
  </a:clrScheme>
</a:themeOverride>
</file>

<file path=ppt/theme/themeOverride3.xml><?xml version="1.0" encoding="utf-8"?>
<a:themeOverride xmlns:a="http://schemas.openxmlformats.org/drawingml/2006/main">
  <a:clrScheme name="Simple Light">
    <a:dk1>
      <a:srgbClr val="FFFFFF"/>
    </a:dk1>
    <a:lt1>
      <a:srgbClr val="0A3455"/>
    </a:lt1>
    <a:dk2>
      <a:srgbClr val="6EBDC4"/>
    </a:dk2>
    <a:lt2>
      <a:srgbClr val="416D90"/>
    </a:lt2>
    <a:accent1>
      <a:srgbClr val="B4EBF0"/>
    </a:accent1>
    <a:accent2>
      <a:srgbClr val="7CC5CC"/>
    </a:accent2>
    <a:accent3>
      <a:srgbClr val="61A6B5"/>
    </a:accent3>
    <a:accent4>
      <a:srgbClr val="548FA6"/>
    </a:accent4>
    <a:accent5>
      <a:srgbClr val="2E5F80"/>
    </a:accent5>
    <a:accent6>
      <a:srgbClr val="174366"/>
    </a:accent6>
    <a:hlink>
      <a:srgbClr val="FFFFFF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985</Words>
  <Application>Microsoft Office PowerPoint</Application>
  <PresentationFormat>Bildschirmpräsentation (16:9)</PresentationFormat>
  <Paragraphs>122</Paragraphs>
  <Slides>19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8" baseType="lpstr">
      <vt:lpstr>Exo 2</vt:lpstr>
      <vt:lpstr>Fira Sans Extra Condensed Medium</vt:lpstr>
      <vt:lpstr>Arial Unicode MS</vt:lpstr>
      <vt:lpstr>Roboto Condensed</vt:lpstr>
      <vt:lpstr>Roboto Condensed Light</vt:lpstr>
      <vt:lpstr>Roboto Mono</vt:lpstr>
      <vt:lpstr>Wingdings</vt:lpstr>
      <vt:lpstr>Arial</vt:lpstr>
      <vt:lpstr>Tech Newsletter by Slidesgo</vt:lpstr>
      <vt:lpstr>03 - Pandas</vt:lpstr>
      <vt:lpstr>Course Overview:</vt:lpstr>
      <vt:lpstr>TABLE OF CONTENTS</vt:lpstr>
      <vt:lpstr>What is Pandas?</vt:lpstr>
      <vt:lpstr>Pandas</vt:lpstr>
      <vt:lpstr>Installation</vt:lpstr>
      <vt:lpstr>Installation</vt:lpstr>
      <vt:lpstr>Series and Dataframes</vt:lpstr>
      <vt:lpstr>Series</vt:lpstr>
      <vt:lpstr>DataFrames</vt:lpstr>
      <vt:lpstr>Important dataframe methods</vt:lpstr>
      <vt:lpstr>Accession</vt:lpstr>
      <vt:lpstr>.apply</vt:lpstr>
      <vt:lpstr>Null values </vt:lpstr>
      <vt:lpstr>All about Null values</vt:lpstr>
      <vt:lpstr>All about Null values, Clear Explanation: </vt:lpstr>
      <vt:lpstr>All about Null values, Example: </vt:lpstr>
      <vt:lpstr>Additional Material, W3Schools 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03 - Pandas</dc:title>
  <dc:creator>Osama Hamed</dc:creator>
  <cp:lastModifiedBy>Hamed, Osama</cp:lastModifiedBy>
  <cp:revision>23</cp:revision>
  <cp:lastPrinted>2025-10-28T07:41:34Z</cp:lastPrinted>
  <dcterms:modified xsi:type="dcterms:W3CDTF">2025-10-29T09:01:09Z</dcterms:modified>
</cp:coreProperties>
</file>