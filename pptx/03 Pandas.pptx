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8"/>
  </p:notesMasterIdLst>
  <p:sldIdLst>
    <p:sldId id="256" r:id="rId2"/>
    <p:sldId id="31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10" r:id="rId17"/>
  </p:sldIdLst>
  <p:sldSz cx="9144000" cy="5143500" type="screen16x9"/>
  <p:notesSz cx="6858000" cy="9144000"/>
  <p:embeddedFontLst>
    <p:embeddedFont>
      <p:font typeface="Exo 2" panose="020B0604020202020204" charset="0"/>
      <p:regular r:id="rId19"/>
      <p:bold r:id="rId20"/>
      <p:italic r:id="rId21"/>
      <p:boldItalic r:id="rId22"/>
    </p:embeddedFont>
    <p:embeddedFont>
      <p:font typeface="Fira Sans Extra Condensed Medium" panose="020B0604020202020204" charset="0"/>
      <p:regular r:id="rId23"/>
      <p:bold r:id="rId24"/>
      <p:italic r:id="rId25"/>
      <p:boldItalic r:id="rId26"/>
    </p:embeddedFont>
    <p:embeddedFont>
      <p:font typeface="Roboto Condensed" panose="020F0502020204030204" pitchFamily="2" charset="0"/>
      <p:regular r:id="rId27"/>
      <p:bold r:id="rId28"/>
      <p:italic r:id="rId29"/>
      <p:boldItalic r:id="rId30"/>
    </p:embeddedFont>
    <p:embeddedFont>
      <p:font typeface="Roboto Condensed Light" panose="020F0502020204030204" pitchFamily="2" charset="0"/>
      <p:regular r:id="rId31"/>
      <p:bold r:id="rId32"/>
      <p:italic r:id="rId33"/>
      <p:boldItalic r:id="rId34"/>
    </p:embeddedFont>
    <p:embeddedFont>
      <p:font typeface="Roboto Mono" panose="020F0502020204030204" pitchFamily="49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4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FFCA5EB-ADB4-41BC-B3E4-ED649D2E3E86}">
  <a:tblStyle styleId="{DFFCA5EB-ADB4-41BC-B3E4-ED649D2E3E8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8262" y="150"/>
      </p:cViewPr>
      <p:guideLst>
        <p:guide orient="horz" pos="154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presProps" Target="presProp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40422e078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40422e078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58d3b44f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58d3b44f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e4cb59056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e4cb59056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58d3b44f08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58d3b44f08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e7b0210d2d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e7b0210d2d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58d3b44f08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58d3b44f08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e7b0210d2d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e7b0210d2d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e7b0210d2d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e7b0210d2d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f1ecca6d3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f1ecca6d3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f1ecca6d3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f1ecca6d3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f1ecca6d3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f1ecca6d3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f1ecca6d3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f1ecca6d3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f1ecca6d3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f1ecca6d3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ef2bb6bc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ef2bb6bc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016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656478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413203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1678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162267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1413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2596156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17751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230005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2799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325391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38113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4266173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CUSTOM_1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402895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USTOM_1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CUSTOM_2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4030481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CUSTOM_2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CUSTOM_29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193529" y="1611150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CUSTOM_33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7" r:id="rId6"/>
    <p:sldLayoutId id="2147483663" r:id="rId7"/>
    <p:sldLayoutId id="2147483670" r:id="rId8"/>
    <p:sldLayoutId id="2147483671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</a:t>
            </a:r>
            <a:endParaRPr dirty="0"/>
          </a:p>
        </p:txBody>
      </p:sp>
      <p:sp>
        <p:nvSpPr>
          <p:cNvPr id="141" name="Google Shape;141;p30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03 - Pandas</a:t>
            </a:r>
            <a:endParaRPr/>
          </a:p>
        </p:txBody>
      </p:sp>
      <p:cxnSp>
        <p:nvCxnSpPr>
          <p:cNvPr id="142" name="Google Shape;142;p30"/>
          <p:cNvCxnSpPr/>
          <p:nvPr/>
        </p:nvCxnSpPr>
        <p:spPr>
          <a:xfrm>
            <a:off x="7145675" y="3176000"/>
            <a:ext cx="2086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1.2 - Numpy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1.3 - Pandas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1.4 - Seaborn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1100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100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278622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236757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1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277054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strike="sngStrike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200" strike="sngStrike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1" y="388346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349541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3885450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8" y="30226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238797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>
              <a:buFont typeface="Arial"/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2.5 - KNN</a:t>
            </a:r>
            <a:endParaRPr sz="11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3497801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5053" y="348716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390862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1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48" name="Google Shape;148;p31"/>
          <p:cNvSpPr txBox="1">
            <a:spLocks noGrp="1"/>
          </p:cNvSpPr>
          <p:nvPr>
            <p:ph type="ctrTitle" idx="2"/>
          </p:nvPr>
        </p:nvSpPr>
        <p:spPr>
          <a:xfrm>
            <a:off x="390296" y="544428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 - What is Pandas?</a:t>
            </a:r>
            <a:endParaRPr/>
          </a:p>
        </p:txBody>
      </p:sp>
      <p:sp>
        <p:nvSpPr>
          <p:cNvPr id="149" name="Google Shape;149;p31"/>
          <p:cNvSpPr txBox="1">
            <a:spLocks noGrp="1"/>
          </p:cNvSpPr>
          <p:nvPr>
            <p:ph type="ctrTitle" idx="9"/>
          </p:nvPr>
        </p:nvSpPr>
        <p:spPr>
          <a:xfrm>
            <a:off x="390296" y="1423792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</p:txBody>
      </p:sp>
      <p:sp>
        <p:nvSpPr>
          <p:cNvPr id="150" name="Google Shape;150;p31"/>
          <p:cNvSpPr txBox="1">
            <a:spLocks noGrp="1"/>
          </p:cNvSpPr>
          <p:nvPr>
            <p:ph type="title" idx="3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51" name="Google Shape;151;p31"/>
          <p:cNvSpPr txBox="1">
            <a:spLocks noGrp="1"/>
          </p:cNvSpPr>
          <p:nvPr>
            <p:ph type="title" idx="5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52" name="Google Shape;152;p31"/>
          <p:cNvSpPr txBox="1">
            <a:spLocks noGrp="1"/>
          </p:cNvSpPr>
          <p:nvPr>
            <p:ph type="title" idx="4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153" name="Google Shape;153;p31"/>
          <p:cNvCxnSpPr/>
          <p:nvPr/>
        </p:nvCxnSpPr>
        <p:spPr>
          <a:xfrm>
            <a:off x="3297225" y="0"/>
            <a:ext cx="0" cy="2393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" name="Google Shape;154;p31"/>
          <p:cNvCxnSpPr/>
          <p:nvPr/>
        </p:nvCxnSpPr>
        <p:spPr>
          <a:xfrm>
            <a:off x="5861950" y="3131400"/>
            <a:ext cx="0" cy="203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31"/>
          <p:cNvSpPr txBox="1">
            <a:spLocks noGrp="1"/>
          </p:cNvSpPr>
          <p:nvPr>
            <p:ph type="ctrTitle" idx="14"/>
          </p:nvPr>
        </p:nvSpPr>
        <p:spPr>
          <a:xfrm>
            <a:off x="390296" y="2487161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Series and Dataframes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2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Pandas?</a:t>
            </a:r>
            <a:endParaRPr/>
          </a:p>
        </p:txBody>
      </p:sp>
      <p:sp>
        <p:nvSpPr>
          <p:cNvPr id="161" name="Google Shape;161;p32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162" name="Google Shape;162;p32"/>
          <p:cNvCxnSpPr/>
          <p:nvPr/>
        </p:nvCxnSpPr>
        <p:spPr>
          <a:xfrm>
            <a:off x="0" y="4028275"/>
            <a:ext cx="156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3"/>
          <p:cNvSpPr txBox="1">
            <a:spLocks noGrp="1"/>
          </p:cNvSpPr>
          <p:nvPr>
            <p:ph type="body" idx="1"/>
          </p:nvPr>
        </p:nvSpPr>
        <p:spPr>
          <a:xfrm>
            <a:off x="697275" y="1299050"/>
            <a:ext cx="7942800" cy="32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Python library</a:t>
            </a:r>
            <a:r>
              <a:rPr lang="en" sz="2000"/>
              <a:t> closely related to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NumPy</a:t>
            </a:r>
            <a:r>
              <a:rPr lang="en" sz="2000"/>
              <a:t>, both go hand in hand</a:t>
            </a:r>
            <a:endParaRPr sz="20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160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Used for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manipulating </a:t>
            </a:r>
            <a:r>
              <a:rPr lang="en" sz="2000"/>
              <a:t>and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storing data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E.g. cleaning, transforming, analyzing, etc.</a:t>
            </a:r>
            <a:endParaRPr sz="20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160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Very similar to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excel</a:t>
            </a:r>
            <a:r>
              <a:rPr lang="en" sz="2000"/>
              <a:t>, but has a lot more features and flexibility</a:t>
            </a:r>
            <a:endParaRPr sz="2000"/>
          </a:p>
        </p:txBody>
      </p:sp>
      <p:sp>
        <p:nvSpPr>
          <p:cNvPr id="168" name="Google Shape;168;p3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Pandas</a:t>
            </a:r>
            <a:endParaRPr sz="3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4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</p:txBody>
      </p:sp>
      <p:sp>
        <p:nvSpPr>
          <p:cNvPr id="174" name="Google Shape;174;p34"/>
          <p:cNvSpPr txBox="1">
            <a:spLocks noGrp="1"/>
          </p:cNvSpPr>
          <p:nvPr>
            <p:ph type="title" idx="2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175" name="Google Shape;175;p34"/>
          <p:cNvCxnSpPr/>
          <p:nvPr/>
        </p:nvCxnSpPr>
        <p:spPr>
          <a:xfrm>
            <a:off x="7578325" y="4028400"/>
            <a:ext cx="1565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5"/>
          <p:cNvSpPr txBox="1">
            <a:spLocks noGrp="1"/>
          </p:cNvSpPr>
          <p:nvPr>
            <p:ph type="ctrTitle"/>
          </p:nvPr>
        </p:nvSpPr>
        <p:spPr>
          <a:xfrm>
            <a:off x="1964850" y="352850"/>
            <a:ext cx="5214300" cy="6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</p:txBody>
      </p:sp>
      <p:sp>
        <p:nvSpPr>
          <p:cNvPr id="181" name="Google Shape;181;p35"/>
          <p:cNvSpPr txBox="1"/>
          <p:nvPr/>
        </p:nvSpPr>
        <p:spPr>
          <a:xfrm>
            <a:off x="652200" y="1139400"/>
            <a:ext cx="7839600" cy="40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 Command Prompt:</a:t>
            </a:r>
            <a:endParaRPr sz="17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&gt; conda install pandas</a:t>
            </a:r>
            <a:b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     </a:t>
            </a:r>
            <a:r>
              <a:rPr lang="en" sz="20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---OR---</a:t>
            </a:r>
            <a:br>
              <a:rPr lang="en" sz="20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&gt; pip install pandas</a:t>
            </a:r>
            <a:endParaRPr sz="20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Importing in Python:</a:t>
            </a:r>
            <a:endParaRPr sz="26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import </a:t>
            </a: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numpy </a:t>
            </a:r>
            <a:r>
              <a:rPr lang="en" sz="200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as </a:t>
            </a: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np   </a:t>
            </a:r>
            <a:r>
              <a:rPr lang="en" sz="200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  <a:t># we always need numpy!</a:t>
            </a:r>
            <a:br>
              <a:rPr lang="en" sz="200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200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import </a:t>
            </a: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pandas </a:t>
            </a:r>
            <a:r>
              <a:rPr lang="en" sz="200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as </a:t>
            </a: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pd  </a:t>
            </a:r>
            <a:r>
              <a:rPr lang="en" sz="200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  <a:t># this imports pandas!</a:t>
            </a:r>
            <a:endParaRPr sz="26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20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Series and Dataframes</a:t>
            </a:r>
            <a:endParaRPr/>
          </a:p>
        </p:txBody>
      </p:sp>
      <p:sp>
        <p:nvSpPr>
          <p:cNvPr id="187" name="Google Shape;187;p36"/>
          <p:cNvSpPr txBox="1">
            <a:spLocks noGrp="1"/>
          </p:cNvSpPr>
          <p:nvPr>
            <p:ph type="title" idx="2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188" name="Google Shape;188;p36"/>
          <p:cNvCxnSpPr/>
          <p:nvPr/>
        </p:nvCxnSpPr>
        <p:spPr>
          <a:xfrm>
            <a:off x="7626825" y="2744700"/>
            <a:ext cx="1560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" name="Google Shape;189;p36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enter here the subtitle if you need it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7"/>
          <p:cNvSpPr txBox="1">
            <a:spLocks noGrp="1"/>
          </p:cNvSpPr>
          <p:nvPr>
            <p:ph type="body" idx="1"/>
          </p:nvPr>
        </p:nvSpPr>
        <p:spPr>
          <a:xfrm>
            <a:off x="605250" y="1144700"/>
            <a:ext cx="7970400" cy="19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 Condensed"/>
              <a:buChar char="●"/>
            </a:pPr>
            <a:r>
              <a:rPr lang="en" sz="2000"/>
              <a:t>Stores 1-dimensional data -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very</a:t>
            </a:r>
            <a:r>
              <a:rPr lang="en" sz="2000"/>
              <a:t> similar to NumPy arrays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Every series has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indexes </a:t>
            </a:r>
            <a:r>
              <a:rPr lang="en" sz="2000"/>
              <a:t>and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data</a:t>
            </a:r>
            <a:endParaRPr sz="2000" b="1"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 Condensed"/>
              <a:buChar char="○"/>
            </a:pP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Indexes</a:t>
            </a:r>
            <a:r>
              <a:rPr lang="en" sz="2000"/>
              <a:t> are more flexible than NumPy, aren’t limited to numbers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The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data</a:t>
            </a:r>
            <a:r>
              <a:rPr lang="en" sz="2000"/>
              <a:t> can be anything - numbers, strings, dates, etc.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Not limited to one type of data</a:t>
            </a:r>
            <a:endParaRPr sz="2000"/>
          </a:p>
        </p:txBody>
      </p:sp>
      <p:sp>
        <p:nvSpPr>
          <p:cNvPr id="195" name="Google Shape;195;p3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Series</a:t>
            </a:r>
            <a:endParaRPr/>
          </a:p>
        </p:txBody>
      </p:sp>
      <p:pic>
        <p:nvPicPr>
          <p:cNvPr id="196" name="Google Shape;19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2237" y="3321650"/>
            <a:ext cx="2299526" cy="172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DataFrames</a:t>
            </a:r>
            <a:endParaRPr/>
          </a:p>
        </p:txBody>
      </p:sp>
      <p:sp>
        <p:nvSpPr>
          <p:cNvPr id="202" name="Google Shape;202;p38"/>
          <p:cNvSpPr txBox="1">
            <a:spLocks noGrp="1"/>
          </p:cNvSpPr>
          <p:nvPr>
            <p:ph type="body" idx="1"/>
          </p:nvPr>
        </p:nvSpPr>
        <p:spPr>
          <a:xfrm>
            <a:off x="605250" y="1144700"/>
            <a:ext cx="7970400" cy="19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 collection of series</a:t>
            </a:r>
            <a:endParaRPr sz="20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2000"/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938" y="1749100"/>
            <a:ext cx="6866124" cy="2858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9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df.head() gives quick snapshot of data (first 5 rows)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You can specify more rows by passing in parameter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df.info() provides important details of dataset - # of rows/columns, null values, type of data in each column, etc.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df.shape() outputs the dimensions of dataframe in a tuple (# of rows, # of columns)</a:t>
            </a:r>
            <a:endParaRPr sz="1300"/>
          </a:p>
        </p:txBody>
      </p:sp>
      <p:sp>
        <p:nvSpPr>
          <p:cNvPr id="209" name="Google Shape;209;p3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Important dataframe methods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0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Accession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df[‘column_name’] returns the specific column in the form of a pandas Series 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.iloc + .loc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df[df[‘column’]==___]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Making a new column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215" name="Google Shape;215;p4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Accession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1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Apply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Write out a function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Lambda notation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Example: to split a certain string apart and create a new column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Df[“newcolumn”] = df[“oldcolumn”].apply(lambda x: x.split(‘:’)[0])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■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What this does is pick out the first word before the colon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21" name="Google Shape;221;p41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.apply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2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When dealing with missing data, either drop of fill missing values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Drop:        df.dropna()</a:t>
            </a:r>
            <a:endParaRPr b="1"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■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Make sure to specify axis=1 if wanting to drop columns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■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Thresh argument can be used to specifically drop only columns with less than a certain amount of missing data points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Fill:          df.fillna(#whatever)</a:t>
            </a:r>
            <a:endParaRPr b="1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27" name="Google Shape;227;p4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Null values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3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to count the amount of null values: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df.isnull() - returns a dataframe with true and false values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To get the count per column, do df.is_null().count()</a:t>
            </a:r>
            <a:endParaRPr/>
          </a:p>
        </p:txBody>
      </p:sp>
      <p:sp>
        <p:nvSpPr>
          <p:cNvPr id="233" name="Google Shape;233;p4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about Null values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50"/>
          <p:cNvSpPr txBox="1">
            <a:spLocks noGrp="1"/>
          </p:cNvSpPr>
          <p:nvPr>
            <p:ph type="ctrTitle"/>
          </p:nvPr>
        </p:nvSpPr>
        <p:spPr>
          <a:xfrm flipH="1">
            <a:off x="1193529" y="1611150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513</Words>
  <Application>Microsoft Office PowerPoint</Application>
  <PresentationFormat>Bildschirmpräsentation (16:9)</PresentationFormat>
  <Paragraphs>80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3" baseType="lpstr">
      <vt:lpstr>Arial</vt:lpstr>
      <vt:lpstr>Roboto Condensed</vt:lpstr>
      <vt:lpstr>Roboto Mono</vt:lpstr>
      <vt:lpstr>Fira Sans Extra Condensed Medium</vt:lpstr>
      <vt:lpstr>Roboto Condensed Light</vt:lpstr>
      <vt:lpstr>Exo 2</vt:lpstr>
      <vt:lpstr>Tech Newsletter by Slidesgo</vt:lpstr>
      <vt:lpstr>03 - Pandas</vt:lpstr>
      <vt:lpstr>Course Overview:</vt:lpstr>
      <vt:lpstr>TABLE OF CONTENTS</vt:lpstr>
      <vt:lpstr>What is Pandas?</vt:lpstr>
      <vt:lpstr>Pandas</vt:lpstr>
      <vt:lpstr>Installation</vt:lpstr>
      <vt:lpstr>Installation</vt:lpstr>
      <vt:lpstr>Series and Dataframes</vt:lpstr>
      <vt:lpstr>Series</vt:lpstr>
      <vt:lpstr>DataFrames</vt:lpstr>
      <vt:lpstr>Important dataframe methods</vt:lpstr>
      <vt:lpstr>Accession</vt:lpstr>
      <vt:lpstr>.apply</vt:lpstr>
      <vt:lpstr>Null values </vt:lpstr>
      <vt:lpstr>All about Null values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03 - Pandas</dc:title>
  <dc:creator>Osama Hamed</dc:creator>
  <cp:lastModifiedBy>Hamed, Osama</cp:lastModifiedBy>
  <cp:revision>7</cp:revision>
  <dcterms:modified xsi:type="dcterms:W3CDTF">2025-10-28T07:23:03Z</dcterms:modified>
</cp:coreProperties>
</file>