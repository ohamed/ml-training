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4" r:id="rId1"/>
  </p:sldMasterIdLst>
  <p:notesMasterIdLst>
    <p:notesMasterId r:id="rId18"/>
  </p:notesMasterIdLst>
  <p:sldIdLst>
    <p:sldId id="256" r:id="rId2"/>
    <p:sldId id="311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312" r:id="rId17"/>
  </p:sldIdLst>
  <p:sldSz cx="9144000" cy="5143500" type="screen16x9"/>
  <p:notesSz cx="6858000" cy="9144000"/>
  <p:embeddedFontLst>
    <p:embeddedFont>
      <p:font typeface="Exo 2" panose="020B0604020202020204" charset="0"/>
      <p:regular r:id="rId19"/>
      <p:bold r:id="rId20"/>
      <p:italic r:id="rId21"/>
      <p:boldItalic r:id="rId22"/>
    </p:embeddedFont>
    <p:embeddedFont>
      <p:font typeface="Fira Sans Extra Condensed Medium" panose="020B0604020202020204" charset="0"/>
      <p:regular r:id="rId23"/>
      <p:bold r:id="rId24"/>
      <p:italic r:id="rId25"/>
      <p:boldItalic r:id="rId26"/>
    </p:embeddedFont>
    <p:embeddedFont>
      <p:font typeface="Roboto Condensed" panose="02000000000000000000" pitchFamily="2" charset="0"/>
      <p:regular r:id="rId27"/>
      <p:bold r:id="rId28"/>
      <p:italic r:id="rId29"/>
      <p:boldItalic r:id="rId30"/>
    </p:embeddedFont>
    <p:embeddedFont>
      <p:font typeface="Roboto Condensed Light" panose="02000000000000000000" pitchFamily="2" charset="0"/>
      <p:regular r:id="rId31"/>
      <p:bold r:id="rId32"/>
      <p:italic r:id="rId33"/>
      <p:boldItalic r:id="rId34"/>
    </p:embeddedFont>
    <p:embeddedFont>
      <p:font typeface="Roboto Mono" panose="00000009000000000000" pitchFamily="49" charset="0"/>
      <p:regular r:id="rId35"/>
      <p:bold r:id="rId36"/>
      <p:italic r:id="rId37"/>
      <p:boldItalic r:id="rId3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545">
          <p15:clr>
            <a:srgbClr val="9AA0A6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DFFCA5EB-ADB4-41BC-B3E4-ED649D2E3E86}">
  <a:tblStyle styleId="{DFFCA5EB-ADB4-41BC-B3E4-ED649D2E3E8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35" d="100"/>
          <a:sy n="135" d="100"/>
        </p:scale>
        <p:origin x="6234" y="120"/>
      </p:cViewPr>
      <p:guideLst>
        <p:guide orient="horz" pos="1545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9" Type="http://schemas.openxmlformats.org/officeDocument/2006/relationships/presProps" Target="presProps.xml"/><Relationship Id="rId21" Type="http://schemas.openxmlformats.org/officeDocument/2006/relationships/font" Target="fonts/font3.fntdata"/><Relationship Id="rId34" Type="http://schemas.openxmlformats.org/officeDocument/2006/relationships/font" Target="fonts/font16.fntdata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font" Target="fonts/font11.fntdata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32" Type="http://schemas.openxmlformats.org/officeDocument/2006/relationships/font" Target="fonts/font14.fntdata"/><Relationship Id="rId37" Type="http://schemas.openxmlformats.org/officeDocument/2006/relationships/font" Target="fonts/font19.fntdata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font" Target="fonts/font10.fntdata"/><Relationship Id="rId36" Type="http://schemas.openxmlformats.org/officeDocument/2006/relationships/font" Target="fonts/font18.fntdata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31" Type="http://schemas.openxmlformats.org/officeDocument/2006/relationships/font" Target="fonts/font13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font" Target="fonts/font9.fntdata"/><Relationship Id="rId30" Type="http://schemas.openxmlformats.org/officeDocument/2006/relationships/font" Target="fonts/font12.fntdata"/><Relationship Id="rId35" Type="http://schemas.openxmlformats.org/officeDocument/2006/relationships/font" Target="fonts/font17.fntdata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33" Type="http://schemas.openxmlformats.org/officeDocument/2006/relationships/font" Target="fonts/font15.fntdata"/><Relationship Id="rId38" Type="http://schemas.openxmlformats.org/officeDocument/2006/relationships/font" Target="fonts/font20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e2db3e8363_1_2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8" name="Google Shape;228;ge2db3e8363_1_29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340422e078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340422e078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g58d3b44f08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8" name="Google Shape;158;g58d3b44f08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e4cb590566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e4cb590566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g58d3b44f08_1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1" name="Google Shape;171;g58d3b44f08_1_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e7b0210d2d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e7b0210d2d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58d3b44f08_1_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58d3b44f08_1_2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e7b0210d2d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2" name="Google Shape;192;ge7b0210d2d_0_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e7b0210d2d_0_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ge7b0210d2d_0_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f1ecca6d32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6" name="Google Shape;206;gf1ecca6d32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f1ecca6d32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f1ecca6d32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gf1ecca6d32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8" name="Google Shape;218;gf1ecca6d32_0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f1ecca6d32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4" name="Google Shape;224;gf1ecca6d32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f1ecca6d32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0" name="Google Shape;230;gf1ecca6d32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pening slide">
  <p:cSld name="CUSTOM_7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35981" y="1393699"/>
            <a:ext cx="6886800" cy="17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60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3670681" y="2933522"/>
            <a:ext cx="4352100" cy="717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CUSTOM_17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ctrTitle"/>
          </p:nvPr>
        </p:nvSpPr>
        <p:spPr>
          <a:xfrm>
            <a:off x="3385875" y="2098650"/>
            <a:ext cx="2372400" cy="946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0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13" name="Google Shape;13;p3"/>
          <p:cNvSpPr txBox="1">
            <a:spLocks noGrp="1"/>
          </p:cNvSpPr>
          <p:nvPr>
            <p:ph type="ctrTitle" idx="2"/>
          </p:nvPr>
        </p:nvSpPr>
        <p:spPr>
          <a:xfrm>
            <a:off x="390296" y="201653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14" name="Google Shape;14;p3"/>
          <p:cNvSpPr txBox="1">
            <a:spLocks noGrp="1"/>
          </p:cNvSpPr>
          <p:nvPr>
            <p:ph type="subTitle" idx="1"/>
          </p:nvPr>
        </p:nvSpPr>
        <p:spPr>
          <a:xfrm>
            <a:off x="690446" y="656478"/>
            <a:ext cx="1674300" cy="5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title" idx="3" hasCustomPrompt="1"/>
          </p:nvPr>
        </p:nvSpPr>
        <p:spPr>
          <a:xfrm>
            <a:off x="2118448" y="544448"/>
            <a:ext cx="11076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6" name="Google Shape;16;p3"/>
          <p:cNvSpPr txBox="1">
            <a:spLocks noGrp="1"/>
          </p:cNvSpPr>
          <p:nvPr>
            <p:ph type="title" idx="4" hasCustomPrompt="1"/>
          </p:nvPr>
        </p:nvSpPr>
        <p:spPr>
          <a:xfrm>
            <a:off x="2105406" y="1515808"/>
            <a:ext cx="11076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7" name="Google Shape;17;p3"/>
          <p:cNvSpPr txBox="1">
            <a:spLocks noGrp="1"/>
          </p:cNvSpPr>
          <p:nvPr>
            <p:ph type="title" idx="5" hasCustomPrompt="1"/>
          </p:nvPr>
        </p:nvSpPr>
        <p:spPr>
          <a:xfrm>
            <a:off x="2105406" y="2487168"/>
            <a:ext cx="11076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8" name="Google Shape;18;p3"/>
          <p:cNvSpPr txBox="1">
            <a:spLocks noGrp="1"/>
          </p:cNvSpPr>
          <p:nvPr>
            <p:ph type="title" idx="6" hasCustomPrompt="1"/>
          </p:nvPr>
        </p:nvSpPr>
        <p:spPr>
          <a:xfrm>
            <a:off x="5922008" y="2092638"/>
            <a:ext cx="10722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19" name="Google Shape;19;p3"/>
          <p:cNvSpPr txBox="1">
            <a:spLocks noGrp="1"/>
          </p:cNvSpPr>
          <p:nvPr>
            <p:ph type="title" idx="7" hasCustomPrompt="1"/>
          </p:nvPr>
        </p:nvSpPr>
        <p:spPr>
          <a:xfrm>
            <a:off x="5922008" y="3112336"/>
            <a:ext cx="10722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20" name="Google Shape;20;p3"/>
          <p:cNvSpPr txBox="1">
            <a:spLocks noGrp="1"/>
          </p:cNvSpPr>
          <p:nvPr>
            <p:ph type="title" idx="8" hasCustomPrompt="1"/>
          </p:nvPr>
        </p:nvSpPr>
        <p:spPr>
          <a:xfrm>
            <a:off x="5922008" y="4132033"/>
            <a:ext cx="10722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Font typeface="Fira Sans Extra Condensed Medium"/>
              <a:buNone/>
              <a:defRPr sz="480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21" name="Google Shape;21;p3"/>
          <p:cNvSpPr txBox="1">
            <a:spLocks noGrp="1"/>
          </p:cNvSpPr>
          <p:nvPr>
            <p:ph type="ctrTitle" idx="9"/>
          </p:nvPr>
        </p:nvSpPr>
        <p:spPr>
          <a:xfrm>
            <a:off x="390296" y="1167854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subTitle" idx="13"/>
          </p:nvPr>
        </p:nvSpPr>
        <p:spPr>
          <a:xfrm>
            <a:off x="690446" y="1622677"/>
            <a:ext cx="1674300" cy="5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ctrTitle" idx="14"/>
          </p:nvPr>
        </p:nvSpPr>
        <p:spPr>
          <a:xfrm>
            <a:off x="390296" y="2141336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subTitle" idx="15"/>
          </p:nvPr>
        </p:nvSpPr>
        <p:spPr>
          <a:xfrm>
            <a:off x="690446" y="2596156"/>
            <a:ext cx="1674300" cy="5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ctrTitle" idx="16"/>
          </p:nvPr>
        </p:nvSpPr>
        <p:spPr>
          <a:xfrm>
            <a:off x="6811558" y="1775180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subTitle" idx="17"/>
          </p:nvPr>
        </p:nvSpPr>
        <p:spPr>
          <a:xfrm>
            <a:off x="6811558" y="2230005"/>
            <a:ext cx="1674300" cy="5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27" name="Google Shape;27;p3"/>
          <p:cNvSpPr txBox="1">
            <a:spLocks noGrp="1"/>
          </p:cNvSpPr>
          <p:nvPr>
            <p:ph type="ctrTitle" idx="18"/>
          </p:nvPr>
        </p:nvSpPr>
        <p:spPr>
          <a:xfrm>
            <a:off x="6811558" y="2799095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28" name="Google Shape;28;p3"/>
          <p:cNvSpPr txBox="1">
            <a:spLocks noGrp="1"/>
          </p:cNvSpPr>
          <p:nvPr>
            <p:ph type="subTitle" idx="19"/>
          </p:nvPr>
        </p:nvSpPr>
        <p:spPr>
          <a:xfrm>
            <a:off x="6811558" y="3253917"/>
            <a:ext cx="1674300" cy="5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29" name="Google Shape;29;p3"/>
          <p:cNvSpPr txBox="1">
            <a:spLocks noGrp="1"/>
          </p:cNvSpPr>
          <p:nvPr>
            <p:ph type="ctrTitle" idx="20"/>
          </p:nvPr>
        </p:nvSpPr>
        <p:spPr>
          <a:xfrm>
            <a:off x="6811558" y="3811353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9pPr>
          </a:lstStyle>
          <a:p>
            <a:endParaRPr/>
          </a:p>
        </p:txBody>
      </p:sp>
      <p:sp>
        <p:nvSpPr>
          <p:cNvPr id="30" name="Google Shape;30;p3"/>
          <p:cNvSpPr txBox="1">
            <a:spLocks noGrp="1"/>
          </p:cNvSpPr>
          <p:nvPr>
            <p:ph type="subTitle" idx="21"/>
          </p:nvPr>
        </p:nvSpPr>
        <p:spPr>
          <a:xfrm>
            <a:off x="6811558" y="4266173"/>
            <a:ext cx="1674300" cy="57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1">
  <p:cSld name="CUSTOM_18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4"/>
          <p:cNvSpPr txBox="1">
            <a:spLocks noGrp="1"/>
          </p:cNvSpPr>
          <p:nvPr>
            <p:ph type="ctrTitle"/>
          </p:nvPr>
        </p:nvSpPr>
        <p:spPr>
          <a:xfrm flipH="1">
            <a:off x="1147650" y="3085150"/>
            <a:ext cx="5005500" cy="102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36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3" name="Google Shape;33;p4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1147579" y="2323850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9600"/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34" name="Google Shape;34;p4"/>
          <p:cNvSpPr txBox="1">
            <a:spLocks noGrp="1"/>
          </p:cNvSpPr>
          <p:nvPr>
            <p:ph type="subTitle" idx="1"/>
          </p:nvPr>
        </p:nvSpPr>
        <p:spPr>
          <a:xfrm>
            <a:off x="1147575" y="4028959"/>
            <a:ext cx="4224900" cy="53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1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Design">
  <p:cSld name="CUSTOM_15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6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2">
  <p:cSld name="CUSTOM_2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ctrTitle"/>
          </p:nvPr>
        </p:nvSpPr>
        <p:spPr>
          <a:xfrm flipH="1">
            <a:off x="2747779" y="2635675"/>
            <a:ext cx="5195700" cy="192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36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4964179" y="2323850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96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43" name="Google Shape;43;p7"/>
          <p:cNvSpPr txBox="1">
            <a:spLocks noGrp="1"/>
          </p:cNvSpPr>
          <p:nvPr>
            <p:ph type="subTitle" idx="1"/>
          </p:nvPr>
        </p:nvSpPr>
        <p:spPr>
          <a:xfrm>
            <a:off x="3718579" y="4030481"/>
            <a:ext cx="4224900" cy="53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1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3">
  <p:cSld name="CUSTOM_2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1"/>
          <p:cNvSpPr txBox="1">
            <a:spLocks noGrp="1"/>
          </p:cNvSpPr>
          <p:nvPr>
            <p:ph type="ctrTitle"/>
          </p:nvPr>
        </p:nvSpPr>
        <p:spPr>
          <a:xfrm flipH="1">
            <a:off x="2754543" y="1347038"/>
            <a:ext cx="5195700" cy="192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None/>
              <a:defRPr sz="36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500"/>
              <a:buNone/>
              <a:defRPr sz="65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66" name="Google Shape;66;p11"/>
          <p:cNvSpPr txBox="1">
            <a:spLocks noGrp="1"/>
          </p:cNvSpPr>
          <p:nvPr>
            <p:ph type="title" idx="2" hasCustomPrompt="1"/>
          </p:nvPr>
        </p:nvSpPr>
        <p:spPr>
          <a:xfrm flipH="1">
            <a:off x="4970943" y="1035213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00"/>
              <a:buNone/>
              <a:defRPr sz="9600"/>
            </a:lvl1pPr>
            <a:lvl2pPr lvl="1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2pPr>
            <a:lvl3pPr lvl="2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3pPr>
            <a:lvl4pPr lvl="3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4pPr>
            <a:lvl5pPr lvl="4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5pPr>
            <a:lvl6pPr lvl="5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6pPr>
            <a:lvl7pPr lvl="6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7pPr>
            <a:lvl8pPr lvl="7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8pPr>
            <a:lvl9pPr lvl="8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Fira Sans Extra Condensed Medium"/>
              <a:buNone/>
              <a:defRPr sz="6000">
                <a:solidFill>
                  <a:schemeClr val="lt1"/>
                </a:solidFill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defRPr>
            </a:lvl9pPr>
          </a:lstStyle>
          <a:p>
            <a:r>
              <a:t>xx%</a:t>
            </a:r>
          </a:p>
        </p:txBody>
      </p:sp>
      <p:sp>
        <p:nvSpPr>
          <p:cNvPr id="67" name="Google Shape;67;p11"/>
          <p:cNvSpPr txBox="1">
            <a:spLocks noGrp="1"/>
          </p:cNvSpPr>
          <p:nvPr>
            <p:ph type="subTitle" idx="1"/>
          </p:nvPr>
        </p:nvSpPr>
        <p:spPr>
          <a:xfrm>
            <a:off x="3725343" y="2742989"/>
            <a:ext cx="4224900" cy="53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1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">
  <p:cSld name="CUSTOM_14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4"/>
          <p:cNvSpPr txBox="1">
            <a:spLocks noGrp="1"/>
          </p:cNvSpPr>
          <p:nvPr>
            <p:ph type="body" idx="1"/>
          </p:nvPr>
        </p:nvSpPr>
        <p:spPr>
          <a:xfrm>
            <a:off x="642050" y="2134800"/>
            <a:ext cx="5308200" cy="14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marL="914400" lvl="1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/>
            </a:lvl2pPr>
            <a:lvl3pPr marL="1371600" lvl="2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/>
            </a:lvl3pPr>
            <a:lvl4pPr marL="1828800" lvl="3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/>
            </a:lvl4pPr>
            <a:lvl5pPr marL="2286000" lvl="4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/>
            </a:lvl5pPr>
            <a:lvl6pPr marL="2743200" lvl="5" indent="-304800" rtl="0">
              <a:spcBef>
                <a:spcPts val="1600"/>
              </a:spcBef>
              <a:spcAft>
                <a:spcPts val="0"/>
              </a:spcAft>
              <a:buSzPts val="1200"/>
              <a:buChar char="■"/>
              <a:defRPr/>
            </a:lvl6pPr>
            <a:lvl7pPr marL="3200400" lvl="6" indent="-304800" rtl="0">
              <a:spcBef>
                <a:spcPts val="1600"/>
              </a:spcBef>
              <a:spcAft>
                <a:spcPts val="0"/>
              </a:spcAft>
              <a:buSzPts val="1200"/>
              <a:buChar char="●"/>
              <a:defRPr/>
            </a:lvl7pPr>
            <a:lvl8pPr marL="3657600" lvl="7" indent="-304800" rtl="0">
              <a:spcBef>
                <a:spcPts val="1600"/>
              </a:spcBef>
              <a:spcAft>
                <a:spcPts val="0"/>
              </a:spcAft>
              <a:buSzPts val="1200"/>
              <a:buChar char="○"/>
              <a:defRPr/>
            </a:lvl8pPr>
            <a:lvl9pPr marL="4114800" lvl="8" indent="-304800" rtl="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sp>
        <p:nvSpPr>
          <p:cNvPr id="126" name="Google Shape;126;p24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r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>
  <p:cSld name="CUSTOM_33">
    <p:bg>
      <p:bgPr>
        <a:noFill/>
        <a:effectLst/>
      </p:bgPr>
    </p:bg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Exo 2"/>
              <a:buNone/>
              <a:defRPr sz="2800" b="1">
                <a:solidFill>
                  <a:schemeClr val="dk1"/>
                </a:solidFill>
                <a:latin typeface="Exo 2"/>
                <a:ea typeface="Exo 2"/>
                <a:cs typeface="Exo 2"/>
                <a:sym typeface="Exo 2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Squada One"/>
              <a:buNone/>
              <a:defRPr sz="2800">
                <a:solidFill>
                  <a:schemeClr val="dk1"/>
                </a:solidFill>
                <a:latin typeface="Squada One"/>
                <a:ea typeface="Squada One"/>
                <a:cs typeface="Squada One"/>
                <a:sym typeface="Squada On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●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1pPr>
            <a:lvl2pPr marL="914400" lvl="1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○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2pPr>
            <a:lvl3pPr marL="1371600" lvl="2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■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3pPr>
            <a:lvl4pPr marL="1828800" lvl="3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●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4pPr>
            <a:lvl5pPr marL="2286000" lvl="4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○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5pPr>
            <a:lvl6pPr marL="2743200" lvl="5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■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6pPr>
            <a:lvl7pPr marL="3200400" lvl="6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●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7pPr>
            <a:lvl8pPr marL="3657600" lvl="7" indent="-3048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boto Condensed Light"/>
              <a:buChar char="○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8pPr>
            <a:lvl9pPr marL="4114800" lvl="8" indent="-3048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Font typeface="Roboto Condensed Light"/>
              <a:buChar char="■"/>
              <a:defRPr sz="1200">
                <a:solidFill>
                  <a:schemeClr val="dk1"/>
                </a:solidFill>
                <a:latin typeface="Roboto Condensed Light"/>
                <a:ea typeface="Roboto Condensed Light"/>
                <a:cs typeface="Roboto Condensed Light"/>
                <a:sym typeface="Roboto Condensed Ligh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2" r:id="rId4"/>
    <p:sldLayoutId id="2147483653" r:id="rId5"/>
    <p:sldLayoutId id="2147483657" r:id="rId6"/>
    <p:sldLayoutId id="2147483670" r:id="rId7"/>
    <p:sldLayoutId id="2147483671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30"/>
          <p:cNvSpPr txBox="1">
            <a:spLocks noGrp="1"/>
          </p:cNvSpPr>
          <p:nvPr>
            <p:ph type="subTitle" idx="1"/>
          </p:nvPr>
        </p:nvSpPr>
        <p:spPr>
          <a:xfrm>
            <a:off x="3670681" y="2933522"/>
            <a:ext cx="4352100" cy="717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Machine Learning</a:t>
            </a:r>
            <a:endParaRPr dirty="0"/>
          </a:p>
        </p:txBody>
      </p:sp>
      <p:sp>
        <p:nvSpPr>
          <p:cNvPr id="141" name="Google Shape;141;p30"/>
          <p:cNvSpPr txBox="1">
            <a:spLocks noGrp="1"/>
          </p:cNvSpPr>
          <p:nvPr>
            <p:ph type="ctrTitle"/>
          </p:nvPr>
        </p:nvSpPr>
        <p:spPr>
          <a:xfrm>
            <a:off x="1135981" y="1393699"/>
            <a:ext cx="6886800" cy="17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03 - Pandas</a:t>
            </a:r>
            <a:endParaRPr/>
          </a:p>
        </p:txBody>
      </p:sp>
      <p:cxnSp>
        <p:nvCxnSpPr>
          <p:cNvPr id="142" name="Google Shape;142;p30"/>
          <p:cNvCxnSpPr/>
          <p:nvPr/>
        </p:nvCxnSpPr>
        <p:spPr>
          <a:xfrm>
            <a:off x="7145675" y="3176000"/>
            <a:ext cx="20865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39"/>
          <p:cNvSpPr txBox="1">
            <a:spLocks noGrp="1"/>
          </p:cNvSpPr>
          <p:nvPr>
            <p:ph type="ctrTitle"/>
          </p:nvPr>
        </p:nvSpPr>
        <p:spPr>
          <a:xfrm>
            <a:off x="1645200" y="352850"/>
            <a:ext cx="58536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Course Overview:</a:t>
            </a:r>
            <a:endParaRPr dirty="0"/>
          </a:p>
        </p:txBody>
      </p:sp>
      <p:sp>
        <p:nvSpPr>
          <p:cNvPr id="231" name="Google Shape;231;p39"/>
          <p:cNvSpPr/>
          <p:nvPr/>
        </p:nvSpPr>
        <p:spPr>
          <a:xfrm>
            <a:off x="662850" y="1299050"/>
            <a:ext cx="1561800" cy="7965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accent1"/>
                </a:solidFill>
                <a:latin typeface="Exo 2"/>
                <a:sym typeface="Exo 2"/>
              </a:rPr>
              <a:t>1.1 - Python Review</a:t>
            </a:r>
            <a:endParaRPr sz="1200" dirty="0">
              <a:solidFill>
                <a:schemeClr val="accent1"/>
              </a:solidFill>
              <a:latin typeface="Exo 2"/>
              <a:sym typeface="Exo 2"/>
            </a:endParaRPr>
          </a:p>
        </p:txBody>
      </p:sp>
      <p:sp>
        <p:nvSpPr>
          <p:cNvPr id="232" name="Google Shape;232;p39"/>
          <p:cNvSpPr/>
          <p:nvPr/>
        </p:nvSpPr>
        <p:spPr>
          <a:xfrm>
            <a:off x="2684776" y="1309150"/>
            <a:ext cx="156180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en" sz="1200" dirty="0">
                <a:solidFill>
                  <a:schemeClr val="accent1"/>
                </a:solidFill>
                <a:latin typeface="Exo 2"/>
              </a:rPr>
              <a:t>1.2 - Numpy</a:t>
            </a:r>
            <a:endParaRPr sz="1200" dirty="0">
              <a:solidFill>
                <a:schemeClr val="accent1"/>
              </a:solidFill>
              <a:latin typeface="Exo 2"/>
            </a:endParaRPr>
          </a:p>
        </p:txBody>
      </p:sp>
      <p:cxnSp>
        <p:nvCxnSpPr>
          <p:cNvPr id="233" name="Google Shape;233;p39"/>
          <p:cNvCxnSpPr>
            <a:stCxn id="231" idx="3"/>
            <a:endCxn id="232" idx="1"/>
          </p:cNvCxnSpPr>
          <p:nvPr/>
        </p:nvCxnSpPr>
        <p:spPr>
          <a:xfrm>
            <a:off x="2224650" y="1697300"/>
            <a:ext cx="4602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34" name="Google Shape;234;p39"/>
          <p:cNvSpPr/>
          <p:nvPr/>
        </p:nvSpPr>
        <p:spPr>
          <a:xfrm>
            <a:off x="4681975" y="1298950"/>
            <a:ext cx="1561800" cy="7965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accent1"/>
                </a:solidFill>
                <a:latin typeface="Exo 2"/>
                <a:sym typeface="Exo 2"/>
              </a:rPr>
              <a:t>1.3 - Pandas</a:t>
            </a:r>
            <a:endParaRPr sz="1200" dirty="0">
              <a:solidFill>
                <a:schemeClr val="accent1"/>
              </a:solidFill>
              <a:latin typeface="Exo 2"/>
              <a:sym typeface="Exo 2"/>
            </a:endParaRPr>
          </a:p>
        </p:txBody>
      </p:sp>
      <p:sp>
        <p:nvSpPr>
          <p:cNvPr id="235" name="Google Shape;235;p39"/>
          <p:cNvSpPr/>
          <p:nvPr/>
        </p:nvSpPr>
        <p:spPr>
          <a:xfrm>
            <a:off x="6679176" y="1309250"/>
            <a:ext cx="156180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accent1"/>
                </a:solidFill>
                <a:latin typeface="Exo 2"/>
              </a:rPr>
              <a:t>1.4 - Seaborn</a:t>
            </a:r>
            <a:endParaRPr sz="1200" dirty="0">
              <a:solidFill>
                <a:schemeClr val="accent1"/>
              </a:solidFill>
              <a:latin typeface="Exo 2"/>
            </a:endParaRPr>
          </a:p>
        </p:txBody>
      </p:sp>
      <p:cxnSp>
        <p:nvCxnSpPr>
          <p:cNvPr id="236" name="Google Shape;236;p39"/>
          <p:cNvCxnSpPr>
            <a:stCxn id="234" idx="3"/>
            <a:endCxn id="235" idx="1"/>
          </p:cNvCxnSpPr>
          <p:nvPr/>
        </p:nvCxnSpPr>
        <p:spPr>
          <a:xfrm>
            <a:off x="6243775" y="1697200"/>
            <a:ext cx="4353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37" name="Google Shape;237;p39"/>
          <p:cNvCxnSpPr/>
          <p:nvPr/>
        </p:nvCxnSpPr>
        <p:spPr>
          <a:xfrm>
            <a:off x="4234250" y="1697300"/>
            <a:ext cx="4353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38" name="Google Shape;238;p39"/>
          <p:cNvSpPr/>
          <p:nvPr/>
        </p:nvSpPr>
        <p:spPr>
          <a:xfrm>
            <a:off x="662850" y="2388075"/>
            <a:ext cx="1021500" cy="7965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accent1"/>
                </a:solidFill>
                <a:latin typeface="Exo 2"/>
                <a:sym typeface="Exo 2"/>
              </a:rPr>
              <a:t>2.1 - ML Intro</a:t>
            </a:r>
            <a:endParaRPr sz="1200" dirty="0">
              <a:solidFill>
                <a:schemeClr val="accent1"/>
              </a:solidFill>
              <a:latin typeface="Exo 2"/>
              <a:sym typeface="Exo 2"/>
            </a:endParaRPr>
          </a:p>
        </p:txBody>
      </p:sp>
      <p:sp>
        <p:nvSpPr>
          <p:cNvPr id="239" name="Google Shape;239;p39"/>
          <p:cNvSpPr/>
          <p:nvPr/>
        </p:nvSpPr>
        <p:spPr>
          <a:xfrm>
            <a:off x="1985500" y="2398175"/>
            <a:ext cx="102150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chemeClr val="accent1"/>
                </a:solidFill>
                <a:latin typeface="Exo 2"/>
              </a:rPr>
              <a:t>2.2 - Linear Regression</a:t>
            </a:r>
            <a:endParaRPr sz="1100" dirty="0">
              <a:solidFill>
                <a:schemeClr val="accent1"/>
              </a:solidFill>
              <a:latin typeface="Exo 2"/>
            </a:endParaRPr>
          </a:p>
        </p:txBody>
      </p:sp>
      <p:cxnSp>
        <p:nvCxnSpPr>
          <p:cNvPr id="240" name="Google Shape;240;p39"/>
          <p:cNvCxnSpPr>
            <a:stCxn id="238" idx="3"/>
            <a:endCxn id="239" idx="1"/>
          </p:cNvCxnSpPr>
          <p:nvPr/>
        </p:nvCxnSpPr>
        <p:spPr>
          <a:xfrm>
            <a:off x="1684350" y="2786325"/>
            <a:ext cx="3012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41" name="Google Shape;241;p39"/>
          <p:cNvSpPr/>
          <p:nvPr/>
        </p:nvSpPr>
        <p:spPr>
          <a:xfrm>
            <a:off x="3287163" y="2387975"/>
            <a:ext cx="1021500" cy="7965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2.3 - Logistic Regression</a:t>
            </a:r>
            <a:endParaRPr sz="1100" dirty="0">
              <a:solidFill>
                <a:schemeClr val="accent1"/>
              </a:solidFill>
              <a:latin typeface="Exo 2"/>
              <a:ea typeface="Exo 2"/>
              <a:cs typeface="Exo 2"/>
              <a:sym typeface="Exo 2"/>
            </a:endParaRPr>
          </a:p>
        </p:txBody>
      </p:sp>
      <p:sp>
        <p:nvSpPr>
          <p:cNvPr id="242" name="Google Shape;242;p39"/>
          <p:cNvSpPr/>
          <p:nvPr/>
        </p:nvSpPr>
        <p:spPr>
          <a:xfrm>
            <a:off x="4593637" y="2398275"/>
            <a:ext cx="102150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 algn="ctr"/>
            <a:r>
              <a:rPr lang="en" sz="1100" dirty="0">
                <a:solidFill>
                  <a:schemeClr val="accent1"/>
                </a:solidFill>
                <a:latin typeface="Exo 2"/>
              </a:rPr>
              <a:t>2.4 -</a:t>
            </a:r>
            <a:r>
              <a:rPr lang="de-DE" sz="1100" dirty="0" err="1">
                <a:solidFill>
                  <a:schemeClr val="accent1"/>
                </a:solidFill>
                <a:latin typeface="Exo 2"/>
              </a:rPr>
              <a:t>Naïve</a:t>
            </a:r>
            <a:r>
              <a:rPr lang="de-DE" sz="1100" dirty="0">
                <a:solidFill>
                  <a:schemeClr val="accent1"/>
                </a:solidFill>
                <a:latin typeface="Exo 2"/>
              </a:rPr>
              <a:t> Bayes </a:t>
            </a:r>
            <a:r>
              <a:rPr lang="de-DE" sz="1100" dirty="0" err="1">
                <a:solidFill>
                  <a:schemeClr val="accent1"/>
                </a:solidFill>
                <a:latin typeface="Exo 2"/>
              </a:rPr>
              <a:t>Classifier</a:t>
            </a:r>
            <a:endParaRPr sz="1100" dirty="0">
              <a:solidFill>
                <a:schemeClr val="accent1"/>
              </a:solidFill>
              <a:latin typeface="Exo 2"/>
            </a:endParaRPr>
          </a:p>
        </p:txBody>
      </p:sp>
      <p:cxnSp>
        <p:nvCxnSpPr>
          <p:cNvPr id="243" name="Google Shape;243;p39"/>
          <p:cNvCxnSpPr>
            <a:stCxn id="241" idx="3"/>
            <a:endCxn id="242" idx="1"/>
          </p:cNvCxnSpPr>
          <p:nvPr/>
        </p:nvCxnSpPr>
        <p:spPr>
          <a:xfrm>
            <a:off x="4308663" y="2786225"/>
            <a:ext cx="284974" cy="10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4" name="Google Shape;244;p39"/>
          <p:cNvCxnSpPr/>
          <p:nvPr/>
        </p:nvCxnSpPr>
        <p:spPr>
          <a:xfrm>
            <a:off x="2999078" y="2786325"/>
            <a:ext cx="2847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45" name="Google Shape;245;p39"/>
          <p:cNvSpPr/>
          <p:nvPr/>
        </p:nvSpPr>
        <p:spPr>
          <a:xfrm>
            <a:off x="7211180" y="2367574"/>
            <a:ext cx="1021500" cy="7965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chemeClr val="accent1"/>
                </a:solidFill>
                <a:latin typeface="Exo 2"/>
                <a:sym typeface="Exo 2"/>
              </a:rPr>
              <a:t>2.6 - Decision Trees</a:t>
            </a:r>
            <a:endParaRPr sz="1100" dirty="0">
              <a:solidFill>
                <a:schemeClr val="accent1"/>
              </a:solidFill>
              <a:latin typeface="Exo 2"/>
              <a:sym typeface="Exo 2"/>
            </a:endParaRPr>
          </a:p>
        </p:txBody>
      </p:sp>
      <p:cxnSp>
        <p:nvCxnSpPr>
          <p:cNvPr id="247" name="Google Shape;247;p39"/>
          <p:cNvCxnSpPr>
            <a:cxnSpLocks/>
          </p:cNvCxnSpPr>
          <p:nvPr/>
        </p:nvCxnSpPr>
        <p:spPr>
          <a:xfrm>
            <a:off x="6926180" y="2770549"/>
            <a:ext cx="2850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48" name="Google Shape;248;p39"/>
          <p:cNvCxnSpPr>
            <a:cxnSpLocks/>
          </p:cNvCxnSpPr>
          <p:nvPr/>
        </p:nvCxnSpPr>
        <p:spPr>
          <a:xfrm>
            <a:off x="5619980" y="2796625"/>
            <a:ext cx="2847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49" name="Google Shape;249;p39"/>
          <p:cNvSpPr/>
          <p:nvPr/>
        </p:nvSpPr>
        <p:spPr>
          <a:xfrm>
            <a:off x="662875" y="3487200"/>
            <a:ext cx="1462746" cy="7965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strike="sngStrike" dirty="0">
                <a:solidFill>
                  <a:schemeClr val="accent1"/>
                </a:solidFill>
                <a:latin typeface="Exo 2"/>
                <a:ea typeface="Exo 2"/>
                <a:cs typeface="Exo 2"/>
                <a:sym typeface="Exo 2"/>
              </a:rPr>
              <a:t>3.1 – Ensembling Learning</a:t>
            </a:r>
            <a:endParaRPr sz="1200" strike="sngStrike" dirty="0">
              <a:solidFill>
                <a:schemeClr val="accent1"/>
              </a:solidFill>
              <a:latin typeface="Exo 2"/>
              <a:ea typeface="Exo 2"/>
              <a:cs typeface="Exo 2"/>
              <a:sym typeface="Exo 2"/>
            </a:endParaRPr>
          </a:p>
        </p:txBody>
      </p:sp>
      <p:cxnSp>
        <p:nvCxnSpPr>
          <p:cNvPr id="251" name="Google Shape;251;p39"/>
          <p:cNvCxnSpPr>
            <a:cxnSpLocks/>
            <a:stCxn id="249" idx="3"/>
          </p:cNvCxnSpPr>
          <p:nvPr/>
        </p:nvCxnSpPr>
        <p:spPr>
          <a:xfrm flipV="1">
            <a:off x="2125621" y="3883468"/>
            <a:ext cx="329129" cy="1982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52" name="Google Shape;252;p39"/>
          <p:cNvSpPr/>
          <p:nvPr/>
        </p:nvSpPr>
        <p:spPr>
          <a:xfrm>
            <a:off x="3889561" y="3495418"/>
            <a:ext cx="194468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strike="sngStrike" dirty="0">
                <a:solidFill>
                  <a:schemeClr val="accent1"/>
                </a:solidFill>
                <a:latin typeface="Exo 2"/>
              </a:rPr>
              <a:t>4</a:t>
            </a:r>
            <a:r>
              <a:rPr lang="en" sz="1200" strike="sngStrike" dirty="0">
                <a:solidFill>
                  <a:schemeClr val="accent1"/>
                </a:solidFill>
                <a:latin typeface="Exo 2"/>
              </a:rPr>
              <a:t>.* - Natural Language Processing (NLP)</a:t>
            </a:r>
            <a:endParaRPr sz="1200" strike="sngStrike" dirty="0">
              <a:solidFill>
                <a:schemeClr val="accent1"/>
              </a:solidFill>
              <a:latin typeface="Exo 2"/>
            </a:endParaRPr>
          </a:p>
        </p:txBody>
      </p:sp>
      <p:cxnSp>
        <p:nvCxnSpPr>
          <p:cNvPr id="253" name="Google Shape;253;p39"/>
          <p:cNvCxnSpPr>
            <a:cxnSpLocks/>
          </p:cNvCxnSpPr>
          <p:nvPr/>
        </p:nvCxnSpPr>
        <p:spPr>
          <a:xfrm flipV="1">
            <a:off x="3512022" y="3885450"/>
            <a:ext cx="370594" cy="101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7CE7875C-AF3A-C2C2-F19E-141096FF1EEF}"/>
              </a:ext>
            </a:extLst>
          </p:cNvPr>
          <p:cNvCxnSpPr>
            <a:cxnSpLocks/>
          </p:cNvCxnSpPr>
          <p:nvPr/>
        </p:nvCxnSpPr>
        <p:spPr>
          <a:xfrm rot="5400000">
            <a:off x="4576588" y="302261"/>
            <a:ext cx="302525" cy="600445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0" name="Google Shape;242;p39">
            <a:extLst>
              <a:ext uri="{FF2B5EF4-FFF2-40B4-BE49-F238E27FC236}">
                <a16:creationId xmlns:a16="http://schemas.microsoft.com/office/drawing/2014/main" id="{C367036A-0937-2BA9-B3D7-B66F206EBDE5}"/>
              </a:ext>
            </a:extLst>
          </p:cNvPr>
          <p:cNvSpPr/>
          <p:nvPr/>
        </p:nvSpPr>
        <p:spPr>
          <a:xfrm>
            <a:off x="5899893" y="2387974"/>
            <a:ext cx="102150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indent="0" algn="ctr">
              <a:buFont typeface="Arial"/>
              <a:buNone/>
            </a:pPr>
            <a:r>
              <a:rPr lang="en" sz="1100" strike="sngStrike" dirty="0">
                <a:solidFill>
                  <a:schemeClr val="accent1"/>
                </a:solidFill>
                <a:latin typeface="Exo 2"/>
              </a:rPr>
              <a:t>2.5 - KNN</a:t>
            </a:r>
            <a:endParaRPr sz="1100" strike="sngStrike" dirty="0">
              <a:solidFill>
                <a:schemeClr val="accent1"/>
              </a:solidFill>
              <a:latin typeface="Exo 2"/>
            </a:endParaRPr>
          </a:p>
        </p:txBody>
      </p:sp>
      <p:sp>
        <p:nvSpPr>
          <p:cNvPr id="11" name="Google Shape;246;p39"/>
          <p:cNvSpPr/>
          <p:nvPr/>
        </p:nvSpPr>
        <p:spPr>
          <a:xfrm>
            <a:off x="2484398" y="3497801"/>
            <a:ext cx="1021500" cy="771335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ctr"/>
            <a:r>
              <a:rPr lang="en" sz="1200" strike="sngStrike" dirty="0">
                <a:solidFill>
                  <a:schemeClr val="accent1"/>
                </a:solidFill>
                <a:latin typeface="Exo 2"/>
              </a:rPr>
              <a:t>3.2 - Neural Networks</a:t>
            </a:r>
            <a:endParaRPr sz="1200" strike="sngStrike" dirty="0">
              <a:solidFill>
                <a:schemeClr val="accent1"/>
              </a:solidFill>
              <a:latin typeface="Exo 2"/>
            </a:endParaRPr>
          </a:p>
        </p:txBody>
      </p:sp>
      <p:sp>
        <p:nvSpPr>
          <p:cNvPr id="15" name="Google Shape;250;p39"/>
          <p:cNvSpPr/>
          <p:nvPr/>
        </p:nvSpPr>
        <p:spPr>
          <a:xfrm>
            <a:off x="6215053" y="3487163"/>
            <a:ext cx="2125500" cy="776100"/>
          </a:xfrm>
          <a:prstGeom prst="flowChartAlternateProcess">
            <a:avLst/>
          </a:prstGeom>
          <a:solidFill>
            <a:schemeClr val="lt2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chemeClr val="accent1"/>
                </a:solidFill>
                <a:latin typeface="Exo 2"/>
              </a:rPr>
              <a:t>5.* Competition Tips &amp; Final Thoughts</a:t>
            </a:r>
            <a:endParaRPr sz="1200" dirty="0">
              <a:solidFill>
                <a:schemeClr val="accent1"/>
              </a:solidFill>
              <a:latin typeface="Exo 2"/>
            </a:endParaRPr>
          </a:p>
        </p:txBody>
      </p:sp>
      <p:cxnSp>
        <p:nvCxnSpPr>
          <p:cNvPr id="29" name="Google Shape;253;p39">
            <a:extLst>
              <a:ext uri="{FF2B5EF4-FFF2-40B4-BE49-F238E27FC236}">
                <a16:creationId xmlns:a16="http://schemas.microsoft.com/office/drawing/2014/main" id="{83D54D0B-E89E-5AFB-7532-752D8B42179B}"/>
              </a:ext>
            </a:extLst>
          </p:cNvPr>
          <p:cNvCxnSpPr>
            <a:cxnSpLocks/>
          </p:cNvCxnSpPr>
          <p:nvPr/>
        </p:nvCxnSpPr>
        <p:spPr>
          <a:xfrm flipV="1">
            <a:off x="5847310" y="3908621"/>
            <a:ext cx="370594" cy="101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31"/>
          <p:cNvSpPr txBox="1">
            <a:spLocks noGrp="1"/>
          </p:cNvSpPr>
          <p:nvPr>
            <p:ph type="ctrTitle"/>
          </p:nvPr>
        </p:nvSpPr>
        <p:spPr>
          <a:xfrm>
            <a:off x="3385875" y="2098650"/>
            <a:ext cx="2372400" cy="946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TABLE OF CONTENTS</a:t>
            </a:r>
            <a:endParaRPr/>
          </a:p>
        </p:txBody>
      </p:sp>
      <p:sp>
        <p:nvSpPr>
          <p:cNvPr id="148" name="Google Shape;148;p31"/>
          <p:cNvSpPr txBox="1">
            <a:spLocks noGrp="1"/>
          </p:cNvSpPr>
          <p:nvPr>
            <p:ph type="ctrTitle" idx="2"/>
          </p:nvPr>
        </p:nvSpPr>
        <p:spPr>
          <a:xfrm>
            <a:off x="390296" y="544428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Intro - What is Pandas?</a:t>
            </a:r>
            <a:endParaRPr/>
          </a:p>
        </p:txBody>
      </p:sp>
      <p:sp>
        <p:nvSpPr>
          <p:cNvPr id="149" name="Google Shape;149;p31"/>
          <p:cNvSpPr txBox="1">
            <a:spLocks noGrp="1"/>
          </p:cNvSpPr>
          <p:nvPr>
            <p:ph type="ctrTitle" idx="9"/>
          </p:nvPr>
        </p:nvSpPr>
        <p:spPr>
          <a:xfrm>
            <a:off x="390296" y="1423792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Installation</a:t>
            </a:r>
            <a:endParaRPr/>
          </a:p>
        </p:txBody>
      </p:sp>
      <p:sp>
        <p:nvSpPr>
          <p:cNvPr id="150" name="Google Shape;150;p31"/>
          <p:cNvSpPr txBox="1">
            <a:spLocks noGrp="1"/>
          </p:cNvSpPr>
          <p:nvPr>
            <p:ph type="title" idx="3"/>
          </p:nvPr>
        </p:nvSpPr>
        <p:spPr>
          <a:xfrm>
            <a:off x="2118448" y="544448"/>
            <a:ext cx="11076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sp>
        <p:nvSpPr>
          <p:cNvPr id="151" name="Google Shape;151;p31"/>
          <p:cNvSpPr txBox="1">
            <a:spLocks noGrp="1"/>
          </p:cNvSpPr>
          <p:nvPr>
            <p:ph type="title" idx="5"/>
          </p:nvPr>
        </p:nvSpPr>
        <p:spPr>
          <a:xfrm>
            <a:off x="2105406" y="2487168"/>
            <a:ext cx="11076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sp>
        <p:nvSpPr>
          <p:cNvPr id="152" name="Google Shape;152;p31"/>
          <p:cNvSpPr txBox="1">
            <a:spLocks noGrp="1"/>
          </p:cNvSpPr>
          <p:nvPr>
            <p:ph type="title" idx="4"/>
          </p:nvPr>
        </p:nvSpPr>
        <p:spPr>
          <a:xfrm>
            <a:off x="2105406" y="1515808"/>
            <a:ext cx="1107600" cy="57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cxnSp>
        <p:nvCxnSpPr>
          <p:cNvPr id="153" name="Google Shape;153;p31"/>
          <p:cNvCxnSpPr/>
          <p:nvPr/>
        </p:nvCxnSpPr>
        <p:spPr>
          <a:xfrm>
            <a:off x="3297225" y="0"/>
            <a:ext cx="0" cy="23937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54" name="Google Shape;154;p31"/>
          <p:cNvCxnSpPr/>
          <p:nvPr/>
        </p:nvCxnSpPr>
        <p:spPr>
          <a:xfrm>
            <a:off x="5861950" y="3131400"/>
            <a:ext cx="0" cy="20301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55" name="Google Shape;155;p31"/>
          <p:cNvSpPr txBox="1">
            <a:spLocks noGrp="1"/>
          </p:cNvSpPr>
          <p:nvPr>
            <p:ph type="ctrTitle" idx="14"/>
          </p:nvPr>
        </p:nvSpPr>
        <p:spPr>
          <a:xfrm>
            <a:off x="390296" y="2487161"/>
            <a:ext cx="1974300" cy="577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Series and Dataframes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32"/>
          <p:cNvSpPr txBox="1">
            <a:spLocks noGrp="1"/>
          </p:cNvSpPr>
          <p:nvPr>
            <p:ph type="ctrTitle"/>
          </p:nvPr>
        </p:nvSpPr>
        <p:spPr>
          <a:xfrm flipH="1">
            <a:off x="1147650" y="3085150"/>
            <a:ext cx="5005500" cy="1022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Pandas?</a:t>
            </a:r>
            <a:endParaRPr/>
          </a:p>
        </p:txBody>
      </p:sp>
      <p:sp>
        <p:nvSpPr>
          <p:cNvPr id="161" name="Google Shape;161;p32"/>
          <p:cNvSpPr txBox="1">
            <a:spLocks noGrp="1"/>
          </p:cNvSpPr>
          <p:nvPr>
            <p:ph type="title" idx="2"/>
          </p:nvPr>
        </p:nvSpPr>
        <p:spPr>
          <a:xfrm flipH="1">
            <a:off x="1147579" y="2323850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01</a:t>
            </a:r>
            <a:endParaRPr/>
          </a:p>
        </p:txBody>
      </p:sp>
      <p:cxnSp>
        <p:nvCxnSpPr>
          <p:cNvPr id="162" name="Google Shape;162;p32"/>
          <p:cNvCxnSpPr/>
          <p:nvPr/>
        </p:nvCxnSpPr>
        <p:spPr>
          <a:xfrm>
            <a:off x="0" y="4028275"/>
            <a:ext cx="15615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33"/>
          <p:cNvSpPr txBox="1">
            <a:spLocks noGrp="1"/>
          </p:cNvSpPr>
          <p:nvPr>
            <p:ph type="body" idx="1"/>
          </p:nvPr>
        </p:nvSpPr>
        <p:spPr>
          <a:xfrm>
            <a:off x="697275" y="1299050"/>
            <a:ext cx="7942800" cy="324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❖"/>
            </a:pPr>
            <a:r>
              <a:rPr lang="en" sz="2000" b="1">
                <a:latin typeface="Roboto Condensed"/>
                <a:ea typeface="Roboto Condensed"/>
                <a:cs typeface="Roboto Condensed"/>
                <a:sym typeface="Roboto Condensed"/>
              </a:rPr>
              <a:t>Python library</a:t>
            </a:r>
            <a:r>
              <a:rPr lang="en" sz="2000"/>
              <a:t> closely related to </a:t>
            </a:r>
            <a:r>
              <a:rPr lang="en" sz="2000" b="1">
                <a:latin typeface="Roboto Condensed"/>
                <a:ea typeface="Roboto Condensed"/>
                <a:cs typeface="Roboto Condensed"/>
                <a:sym typeface="Roboto Condensed"/>
              </a:rPr>
              <a:t>NumPy</a:t>
            </a:r>
            <a:r>
              <a:rPr lang="en" sz="2000"/>
              <a:t>, both go hand in hand</a:t>
            </a:r>
            <a:endParaRPr sz="200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sz="2000"/>
          </a:p>
          <a:p>
            <a:pPr marL="457200" lvl="0" indent="-355600" algn="l" rtl="0">
              <a:spcBef>
                <a:spcPts val="1600"/>
              </a:spcBef>
              <a:spcAft>
                <a:spcPts val="0"/>
              </a:spcAft>
              <a:buSzPts val="2000"/>
              <a:buChar char="❖"/>
            </a:pPr>
            <a:r>
              <a:rPr lang="en" sz="2000"/>
              <a:t>Used for </a:t>
            </a:r>
            <a:r>
              <a:rPr lang="en" sz="2000" b="1">
                <a:latin typeface="Roboto Condensed"/>
                <a:ea typeface="Roboto Condensed"/>
                <a:cs typeface="Roboto Condensed"/>
                <a:sym typeface="Roboto Condensed"/>
              </a:rPr>
              <a:t>manipulating </a:t>
            </a:r>
            <a:r>
              <a:rPr lang="en" sz="2000"/>
              <a:t>and </a:t>
            </a:r>
            <a:r>
              <a:rPr lang="en" sz="2000" b="1">
                <a:latin typeface="Roboto Condensed"/>
                <a:ea typeface="Roboto Condensed"/>
                <a:cs typeface="Roboto Condensed"/>
                <a:sym typeface="Roboto Condensed"/>
              </a:rPr>
              <a:t>storing data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➢"/>
            </a:pPr>
            <a:r>
              <a:rPr lang="en" sz="2000"/>
              <a:t>E.g. cleaning, transforming, analyzing, etc.</a:t>
            </a:r>
            <a:endParaRPr sz="2000"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endParaRPr sz="2000"/>
          </a:p>
          <a:p>
            <a:pPr marL="457200" lvl="0" indent="-355600" algn="l" rtl="0">
              <a:spcBef>
                <a:spcPts val="1600"/>
              </a:spcBef>
              <a:spcAft>
                <a:spcPts val="0"/>
              </a:spcAft>
              <a:buSzPts val="2000"/>
              <a:buChar char="❖"/>
            </a:pPr>
            <a:r>
              <a:rPr lang="en" sz="2000"/>
              <a:t>Very similar to </a:t>
            </a:r>
            <a:r>
              <a:rPr lang="en" sz="2000" b="1">
                <a:latin typeface="Roboto Condensed"/>
                <a:ea typeface="Roboto Condensed"/>
                <a:cs typeface="Roboto Condensed"/>
                <a:sym typeface="Roboto Condensed"/>
              </a:rPr>
              <a:t>excel</a:t>
            </a:r>
            <a:r>
              <a:rPr lang="en" sz="2000"/>
              <a:t>, but has a lot more features and flexibility</a:t>
            </a:r>
            <a:endParaRPr sz="2000"/>
          </a:p>
        </p:txBody>
      </p:sp>
      <p:sp>
        <p:nvSpPr>
          <p:cNvPr id="168" name="Google Shape;168;p33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/>
              <a:t>Pandas</a:t>
            </a:r>
            <a:endParaRPr sz="33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34"/>
          <p:cNvSpPr txBox="1">
            <a:spLocks noGrp="1"/>
          </p:cNvSpPr>
          <p:nvPr>
            <p:ph type="ctrTitle"/>
          </p:nvPr>
        </p:nvSpPr>
        <p:spPr>
          <a:xfrm flipH="1">
            <a:off x="2747779" y="2635675"/>
            <a:ext cx="5195700" cy="192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Installation</a:t>
            </a:r>
            <a:endParaRPr/>
          </a:p>
        </p:txBody>
      </p:sp>
      <p:sp>
        <p:nvSpPr>
          <p:cNvPr id="174" name="Google Shape;174;p34"/>
          <p:cNvSpPr txBox="1">
            <a:spLocks noGrp="1"/>
          </p:cNvSpPr>
          <p:nvPr>
            <p:ph type="title" idx="2"/>
          </p:nvPr>
        </p:nvSpPr>
        <p:spPr>
          <a:xfrm flipH="1">
            <a:off x="4964179" y="2323850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02</a:t>
            </a:r>
            <a:endParaRPr/>
          </a:p>
        </p:txBody>
      </p:sp>
      <p:cxnSp>
        <p:nvCxnSpPr>
          <p:cNvPr id="175" name="Google Shape;175;p34"/>
          <p:cNvCxnSpPr/>
          <p:nvPr/>
        </p:nvCxnSpPr>
        <p:spPr>
          <a:xfrm>
            <a:off x="7578325" y="4028400"/>
            <a:ext cx="15657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5"/>
          <p:cNvSpPr txBox="1">
            <a:spLocks noGrp="1"/>
          </p:cNvSpPr>
          <p:nvPr>
            <p:ph type="ctrTitle"/>
          </p:nvPr>
        </p:nvSpPr>
        <p:spPr>
          <a:xfrm>
            <a:off x="1964850" y="352850"/>
            <a:ext cx="5214300" cy="65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Installation</a:t>
            </a:r>
            <a:endParaRPr/>
          </a:p>
        </p:txBody>
      </p:sp>
      <p:sp>
        <p:nvSpPr>
          <p:cNvPr id="181" name="Google Shape;181;p35"/>
          <p:cNvSpPr txBox="1"/>
          <p:nvPr/>
        </p:nvSpPr>
        <p:spPr>
          <a:xfrm>
            <a:off x="652200" y="1139400"/>
            <a:ext cx="7839600" cy="400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 Command Prompt:</a:t>
            </a:r>
            <a:endParaRPr sz="1700">
              <a:solidFill>
                <a:schemeClr val="dk1"/>
              </a:solidFill>
              <a:latin typeface="Roboto Condensed Light"/>
              <a:ea typeface="Roboto Condensed Light"/>
              <a:cs typeface="Roboto Condensed Light"/>
              <a:sym typeface="Roboto Condensed Light"/>
            </a:endParaRPr>
          </a:p>
          <a:p>
            <a:pPr marL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&gt; conda install pandas</a:t>
            </a:r>
            <a:br>
              <a:rPr lang="en" sz="20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</a:br>
            <a:r>
              <a:rPr lang="en" sz="20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      </a:t>
            </a:r>
            <a:r>
              <a:rPr lang="en" sz="2000" b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---OR---</a:t>
            </a:r>
            <a:br>
              <a:rPr lang="en" sz="200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" sz="20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&gt; pip install pandas</a:t>
            </a:r>
            <a:endParaRPr sz="200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en" sz="2600" b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Importing in Python:</a:t>
            </a:r>
            <a:endParaRPr sz="2600" b="1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None/>
            </a:pPr>
            <a:r>
              <a:rPr lang="en" sz="2000">
                <a:solidFill>
                  <a:srgbClr val="FF00FF"/>
                </a:solidFill>
                <a:latin typeface="Roboto Mono"/>
                <a:ea typeface="Roboto Mono"/>
                <a:cs typeface="Roboto Mono"/>
                <a:sym typeface="Roboto Mono"/>
              </a:rPr>
              <a:t>import </a:t>
            </a:r>
            <a:r>
              <a:rPr lang="en" sz="20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numpy </a:t>
            </a:r>
            <a:r>
              <a:rPr lang="en" sz="2000">
                <a:solidFill>
                  <a:srgbClr val="FF00FF"/>
                </a:solidFill>
                <a:latin typeface="Roboto Mono"/>
                <a:ea typeface="Roboto Mono"/>
                <a:cs typeface="Roboto Mono"/>
                <a:sym typeface="Roboto Mono"/>
              </a:rPr>
              <a:t>as </a:t>
            </a:r>
            <a:r>
              <a:rPr lang="en" sz="20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np   </a:t>
            </a:r>
            <a:r>
              <a:rPr lang="en" sz="2000">
                <a:solidFill>
                  <a:srgbClr val="38761D"/>
                </a:solidFill>
                <a:latin typeface="Roboto Mono"/>
                <a:ea typeface="Roboto Mono"/>
                <a:cs typeface="Roboto Mono"/>
                <a:sym typeface="Roboto Mono"/>
              </a:rPr>
              <a:t># we always need numpy!</a:t>
            </a:r>
            <a:br>
              <a:rPr lang="en" sz="2000">
                <a:solidFill>
                  <a:srgbClr val="38761D"/>
                </a:solidFill>
                <a:latin typeface="Roboto Mono"/>
                <a:ea typeface="Roboto Mono"/>
                <a:cs typeface="Roboto Mono"/>
                <a:sym typeface="Roboto Mono"/>
              </a:rPr>
            </a:br>
            <a:r>
              <a:rPr lang="en" sz="2000">
                <a:solidFill>
                  <a:srgbClr val="FF00FF"/>
                </a:solidFill>
                <a:latin typeface="Roboto Mono"/>
                <a:ea typeface="Roboto Mono"/>
                <a:cs typeface="Roboto Mono"/>
                <a:sym typeface="Roboto Mono"/>
              </a:rPr>
              <a:t>import </a:t>
            </a:r>
            <a:r>
              <a:rPr lang="en" sz="20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pandas </a:t>
            </a:r>
            <a:r>
              <a:rPr lang="en" sz="2000">
                <a:solidFill>
                  <a:srgbClr val="FF00FF"/>
                </a:solidFill>
                <a:latin typeface="Roboto Mono"/>
                <a:ea typeface="Roboto Mono"/>
                <a:cs typeface="Roboto Mono"/>
                <a:sym typeface="Roboto Mono"/>
              </a:rPr>
              <a:t>as </a:t>
            </a:r>
            <a:r>
              <a:rPr lang="en" sz="20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pd  </a:t>
            </a:r>
            <a:r>
              <a:rPr lang="en" sz="2000">
                <a:solidFill>
                  <a:srgbClr val="38761D"/>
                </a:solidFill>
                <a:latin typeface="Roboto Mono"/>
                <a:ea typeface="Roboto Mono"/>
                <a:cs typeface="Roboto Mono"/>
                <a:sym typeface="Roboto Mono"/>
              </a:rPr>
              <a:t># this imports pandas!</a:t>
            </a:r>
            <a:endParaRPr sz="2600" b="1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marL="0" lvl="0" indent="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None/>
            </a:pPr>
            <a:endParaRPr sz="2000" b="1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6"/>
          <p:cNvSpPr txBox="1">
            <a:spLocks noGrp="1"/>
          </p:cNvSpPr>
          <p:nvPr>
            <p:ph type="ctrTitle"/>
          </p:nvPr>
        </p:nvSpPr>
        <p:spPr>
          <a:xfrm flipH="1">
            <a:off x="2754543" y="1347038"/>
            <a:ext cx="5195700" cy="1921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Series and Dataframes</a:t>
            </a:r>
            <a:endParaRPr/>
          </a:p>
        </p:txBody>
      </p:sp>
      <p:sp>
        <p:nvSpPr>
          <p:cNvPr id="187" name="Google Shape;187;p36"/>
          <p:cNvSpPr txBox="1">
            <a:spLocks noGrp="1"/>
          </p:cNvSpPr>
          <p:nvPr>
            <p:ph type="title" idx="2"/>
          </p:nvPr>
        </p:nvSpPr>
        <p:spPr>
          <a:xfrm flipH="1">
            <a:off x="4970943" y="1035213"/>
            <a:ext cx="2979300" cy="754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03</a:t>
            </a:r>
            <a:endParaRPr/>
          </a:p>
        </p:txBody>
      </p:sp>
      <p:cxnSp>
        <p:nvCxnSpPr>
          <p:cNvPr id="188" name="Google Shape;188;p36"/>
          <p:cNvCxnSpPr/>
          <p:nvPr/>
        </p:nvCxnSpPr>
        <p:spPr>
          <a:xfrm>
            <a:off x="7626825" y="2744700"/>
            <a:ext cx="1560600" cy="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89" name="Google Shape;189;p36"/>
          <p:cNvSpPr txBox="1">
            <a:spLocks noGrp="1"/>
          </p:cNvSpPr>
          <p:nvPr>
            <p:ph type="subTitle" idx="1"/>
          </p:nvPr>
        </p:nvSpPr>
        <p:spPr>
          <a:xfrm>
            <a:off x="3725343" y="2742989"/>
            <a:ext cx="4224900" cy="536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You can enter here the subtitle if you need it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37"/>
          <p:cNvSpPr txBox="1">
            <a:spLocks noGrp="1"/>
          </p:cNvSpPr>
          <p:nvPr>
            <p:ph type="body" idx="1"/>
          </p:nvPr>
        </p:nvSpPr>
        <p:spPr>
          <a:xfrm>
            <a:off x="605250" y="1144700"/>
            <a:ext cx="7970400" cy="193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Font typeface="Roboto Condensed"/>
              <a:buChar char="●"/>
            </a:pPr>
            <a:r>
              <a:rPr lang="en" sz="2000"/>
              <a:t>Stores 1-dimensional data - </a:t>
            </a:r>
            <a:r>
              <a:rPr lang="en" sz="2000" b="1">
                <a:latin typeface="Roboto Condensed"/>
                <a:ea typeface="Roboto Condensed"/>
                <a:cs typeface="Roboto Condensed"/>
                <a:sym typeface="Roboto Condensed"/>
              </a:rPr>
              <a:t>very</a:t>
            </a:r>
            <a:r>
              <a:rPr lang="en" sz="2000"/>
              <a:t> similar to NumPy arrays</a:t>
            </a:r>
            <a:endParaRPr sz="200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Every series has </a:t>
            </a:r>
            <a:r>
              <a:rPr lang="en" sz="2000" b="1">
                <a:latin typeface="Roboto Condensed"/>
                <a:ea typeface="Roboto Condensed"/>
                <a:cs typeface="Roboto Condensed"/>
                <a:sym typeface="Roboto Condensed"/>
              </a:rPr>
              <a:t>indexes </a:t>
            </a:r>
            <a:r>
              <a:rPr lang="en" sz="2000"/>
              <a:t>and </a:t>
            </a:r>
            <a:r>
              <a:rPr lang="en" sz="2000" b="1">
                <a:latin typeface="Roboto Condensed"/>
                <a:ea typeface="Roboto Condensed"/>
                <a:cs typeface="Roboto Condensed"/>
                <a:sym typeface="Roboto Condensed"/>
              </a:rPr>
              <a:t>data</a:t>
            </a:r>
            <a:endParaRPr sz="2000" b="1"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Font typeface="Roboto Condensed"/>
              <a:buChar char="○"/>
            </a:pPr>
            <a:r>
              <a:rPr lang="en" sz="2000" b="1">
                <a:latin typeface="Roboto Condensed"/>
                <a:ea typeface="Roboto Condensed"/>
                <a:cs typeface="Roboto Condensed"/>
                <a:sym typeface="Roboto Condensed"/>
              </a:rPr>
              <a:t>Indexes</a:t>
            </a:r>
            <a:r>
              <a:rPr lang="en" sz="2000"/>
              <a:t> are more flexible than NumPy, aren’t limited to numbers</a:t>
            </a:r>
            <a:endParaRPr sz="2000"/>
          </a:p>
          <a:p>
            <a:pPr marL="914400" lvl="1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○"/>
            </a:pPr>
            <a:r>
              <a:rPr lang="en" sz="2000"/>
              <a:t>The </a:t>
            </a:r>
            <a:r>
              <a:rPr lang="en" sz="2000" b="1">
                <a:latin typeface="Roboto Condensed"/>
                <a:ea typeface="Roboto Condensed"/>
                <a:cs typeface="Roboto Condensed"/>
                <a:sym typeface="Roboto Condensed"/>
              </a:rPr>
              <a:t>data</a:t>
            </a:r>
            <a:r>
              <a:rPr lang="en" sz="2000"/>
              <a:t> can be anything - numbers, strings, dates, etc.</a:t>
            </a:r>
            <a:endParaRPr sz="2000"/>
          </a:p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Not limited to one type of data</a:t>
            </a:r>
            <a:endParaRPr sz="2000"/>
          </a:p>
        </p:txBody>
      </p:sp>
      <p:sp>
        <p:nvSpPr>
          <p:cNvPr id="195" name="Google Shape;195;p37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Series</a:t>
            </a:r>
            <a:endParaRPr/>
          </a:p>
        </p:txBody>
      </p:sp>
      <p:pic>
        <p:nvPicPr>
          <p:cNvPr id="196" name="Google Shape;196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22237" y="3321650"/>
            <a:ext cx="2299526" cy="1724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38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DataFrames</a:t>
            </a:r>
            <a:endParaRPr/>
          </a:p>
        </p:txBody>
      </p:sp>
      <p:sp>
        <p:nvSpPr>
          <p:cNvPr id="202" name="Google Shape;202;p38"/>
          <p:cNvSpPr txBox="1">
            <a:spLocks noGrp="1"/>
          </p:cNvSpPr>
          <p:nvPr>
            <p:ph type="body" idx="1"/>
          </p:nvPr>
        </p:nvSpPr>
        <p:spPr>
          <a:xfrm>
            <a:off x="605250" y="1144700"/>
            <a:ext cx="7970400" cy="1937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55600" algn="l" rtl="0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 collection of series</a:t>
            </a:r>
            <a:endParaRPr sz="2000"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endParaRPr sz="2000"/>
          </a:p>
        </p:txBody>
      </p:sp>
      <p:pic>
        <p:nvPicPr>
          <p:cNvPr id="203" name="Google Shape;203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38938" y="1749100"/>
            <a:ext cx="6866124" cy="28580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39"/>
          <p:cNvSpPr txBox="1">
            <a:spLocks noGrp="1"/>
          </p:cNvSpPr>
          <p:nvPr>
            <p:ph type="body" idx="1"/>
          </p:nvPr>
        </p:nvSpPr>
        <p:spPr>
          <a:xfrm>
            <a:off x="642050" y="2134800"/>
            <a:ext cx="5308200" cy="14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Font typeface="Roboto Condensed"/>
              <a:buChar char="●"/>
            </a:pPr>
            <a:r>
              <a:rPr lang="en">
                <a:latin typeface="Roboto Condensed"/>
                <a:ea typeface="Roboto Condensed"/>
                <a:cs typeface="Roboto Condensed"/>
                <a:sym typeface="Roboto Condensed"/>
              </a:rPr>
              <a:t>df.head() gives quick snapshot of data (first 5 rows)</a:t>
            </a:r>
            <a:endParaRPr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914400" lvl="1" indent="-304800" algn="l" rtl="0">
              <a:spcBef>
                <a:spcPts val="0"/>
              </a:spcBef>
              <a:spcAft>
                <a:spcPts val="0"/>
              </a:spcAft>
              <a:buSzPts val="1200"/>
              <a:buFont typeface="Roboto Condensed"/>
              <a:buChar char="○"/>
            </a:pPr>
            <a:r>
              <a:rPr lang="en">
                <a:latin typeface="Roboto Condensed"/>
                <a:ea typeface="Roboto Condensed"/>
                <a:cs typeface="Roboto Condensed"/>
                <a:sym typeface="Roboto Condensed"/>
              </a:rPr>
              <a:t>You can specify more rows by passing in parameter</a:t>
            </a:r>
            <a:endParaRPr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Font typeface="Roboto Condensed"/>
              <a:buChar char="●"/>
            </a:pPr>
            <a:r>
              <a:rPr lang="en">
                <a:latin typeface="Roboto Condensed"/>
                <a:ea typeface="Roboto Condensed"/>
                <a:cs typeface="Roboto Condensed"/>
                <a:sym typeface="Roboto Condensed"/>
              </a:rPr>
              <a:t>df.info() provides important details of dataset - # of rows/columns, null values, type of data in each column, etc.</a:t>
            </a:r>
            <a:endParaRPr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Font typeface="Roboto Condensed"/>
              <a:buChar char="●"/>
            </a:pPr>
            <a:r>
              <a:rPr lang="en">
                <a:latin typeface="Roboto Condensed"/>
                <a:ea typeface="Roboto Condensed"/>
                <a:cs typeface="Roboto Condensed"/>
                <a:sym typeface="Roboto Condensed"/>
              </a:rPr>
              <a:t>df.shape() outputs the dimensions of dataframe in a tuple (# of rows, # of columns)</a:t>
            </a:r>
            <a:endParaRPr sz="1300"/>
          </a:p>
        </p:txBody>
      </p:sp>
      <p:sp>
        <p:nvSpPr>
          <p:cNvPr id="209" name="Google Shape;209;p39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Important dataframe methods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0"/>
          <p:cNvSpPr txBox="1">
            <a:spLocks noGrp="1"/>
          </p:cNvSpPr>
          <p:nvPr>
            <p:ph type="body" idx="1"/>
          </p:nvPr>
        </p:nvSpPr>
        <p:spPr>
          <a:xfrm>
            <a:off x="642050" y="2134800"/>
            <a:ext cx="5308200" cy="14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Roboto Condensed"/>
                <a:ea typeface="Roboto Condensed"/>
                <a:cs typeface="Roboto Condensed"/>
                <a:sym typeface="Roboto Condensed"/>
              </a:rPr>
              <a:t>Accession</a:t>
            </a:r>
            <a:endParaRPr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914400" lvl="0" indent="-304800" algn="l" rtl="0">
              <a:spcBef>
                <a:spcPts val="0"/>
              </a:spcBef>
              <a:spcAft>
                <a:spcPts val="0"/>
              </a:spcAft>
              <a:buSzPts val="1200"/>
              <a:buFont typeface="Roboto Condensed"/>
              <a:buChar char="●"/>
            </a:pPr>
            <a:r>
              <a:rPr lang="en">
                <a:latin typeface="Roboto Condensed"/>
                <a:ea typeface="Roboto Condensed"/>
                <a:cs typeface="Roboto Condensed"/>
                <a:sym typeface="Roboto Condensed"/>
              </a:rPr>
              <a:t>df[‘column_name’] returns the specific column in the form of a pandas Series </a:t>
            </a:r>
            <a:endParaRPr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914400" lvl="0" indent="-304800" algn="l" rtl="0">
              <a:spcBef>
                <a:spcPts val="0"/>
              </a:spcBef>
              <a:spcAft>
                <a:spcPts val="0"/>
              </a:spcAft>
              <a:buSzPts val="1200"/>
              <a:buFont typeface="Roboto Condensed"/>
              <a:buChar char="●"/>
            </a:pPr>
            <a:r>
              <a:rPr lang="en">
                <a:latin typeface="Roboto Condensed"/>
                <a:ea typeface="Roboto Condensed"/>
                <a:cs typeface="Roboto Condensed"/>
                <a:sym typeface="Roboto Condensed"/>
              </a:rPr>
              <a:t>.iloc + .loc</a:t>
            </a:r>
            <a:endParaRPr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914400" lvl="0" indent="-304800" algn="l" rtl="0">
              <a:spcBef>
                <a:spcPts val="0"/>
              </a:spcBef>
              <a:spcAft>
                <a:spcPts val="0"/>
              </a:spcAft>
              <a:buSzPts val="1200"/>
              <a:buFont typeface="Roboto Condensed"/>
              <a:buChar char="●"/>
            </a:pPr>
            <a:r>
              <a:rPr lang="en">
                <a:latin typeface="Roboto Condensed"/>
                <a:ea typeface="Roboto Condensed"/>
                <a:cs typeface="Roboto Condensed"/>
                <a:sym typeface="Roboto Condensed"/>
              </a:rPr>
              <a:t>df[df[‘column’]==___]</a:t>
            </a:r>
            <a:endParaRPr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Font typeface="Roboto Condensed"/>
              <a:buChar char="●"/>
            </a:pPr>
            <a:r>
              <a:rPr lang="en">
                <a:latin typeface="Roboto Condensed"/>
                <a:ea typeface="Roboto Condensed"/>
                <a:cs typeface="Roboto Condensed"/>
                <a:sym typeface="Roboto Condensed"/>
              </a:rPr>
              <a:t>Making a new column</a:t>
            </a:r>
            <a:endParaRPr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lvl="0" indent="0" algn="l" rtl="0">
              <a:spcBef>
                <a:spcPts val="0"/>
              </a:spcBef>
              <a:spcAft>
                <a:spcPts val="1600"/>
              </a:spcAft>
              <a:buNone/>
            </a:pPr>
            <a:endParaRPr/>
          </a:p>
        </p:txBody>
      </p:sp>
      <p:sp>
        <p:nvSpPr>
          <p:cNvPr id="215" name="Google Shape;215;p40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Accession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41"/>
          <p:cNvSpPr txBox="1">
            <a:spLocks noGrp="1"/>
          </p:cNvSpPr>
          <p:nvPr>
            <p:ph type="body" idx="1"/>
          </p:nvPr>
        </p:nvSpPr>
        <p:spPr>
          <a:xfrm>
            <a:off x="642050" y="2134800"/>
            <a:ext cx="5308200" cy="14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Font typeface="Roboto Condensed"/>
              <a:buChar char="●"/>
            </a:pPr>
            <a:r>
              <a:rPr lang="en">
                <a:latin typeface="Roboto Condensed"/>
                <a:ea typeface="Roboto Condensed"/>
                <a:cs typeface="Roboto Condensed"/>
                <a:sym typeface="Roboto Condensed"/>
              </a:rPr>
              <a:t>Apply</a:t>
            </a:r>
            <a:endParaRPr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914400" lvl="1" indent="-304800" algn="l" rtl="0">
              <a:spcBef>
                <a:spcPts val="0"/>
              </a:spcBef>
              <a:spcAft>
                <a:spcPts val="0"/>
              </a:spcAft>
              <a:buSzPts val="1200"/>
              <a:buFont typeface="Roboto Condensed"/>
              <a:buChar char="○"/>
            </a:pPr>
            <a:r>
              <a:rPr lang="en">
                <a:latin typeface="Roboto Condensed"/>
                <a:ea typeface="Roboto Condensed"/>
                <a:cs typeface="Roboto Condensed"/>
                <a:sym typeface="Roboto Condensed"/>
              </a:rPr>
              <a:t>Write out a function</a:t>
            </a:r>
            <a:endParaRPr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914400" lvl="1" indent="-304800" algn="l" rtl="0">
              <a:spcBef>
                <a:spcPts val="0"/>
              </a:spcBef>
              <a:spcAft>
                <a:spcPts val="0"/>
              </a:spcAft>
              <a:buSzPts val="1200"/>
              <a:buFont typeface="Roboto Condensed"/>
              <a:buChar char="○"/>
            </a:pPr>
            <a:r>
              <a:rPr lang="en">
                <a:latin typeface="Roboto Condensed"/>
                <a:ea typeface="Roboto Condensed"/>
                <a:cs typeface="Roboto Condensed"/>
                <a:sym typeface="Roboto Condensed"/>
              </a:rPr>
              <a:t>Lambda notation</a:t>
            </a:r>
            <a:endParaRPr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Font typeface="Roboto Condensed"/>
              <a:buChar char="●"/>
            </a:pPr>
            <a:r>
              <a:rPr lang="en">
                <a:latin typeface="Roboto Condensed"/>
                <a:ea typeface="Roboto Condensed"/>
                <a:cs typeface="Roboto Condensed"/>
                <a:sym typeface="Roboto Condensed"/>
              </a:rPr>
              <a:t>Example: to split a certain string apart and create a new column</a:t>
            </a:r>
            <a:endParaRPr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914400" lvl="1" indent="-304800" algn="l" rtl="0">
              <a:spcBef>
                <a:spcPts val="0"/>
              </a:spcBef>
              <a:spcAft>
                <a:spcPts val="0"/>
              </a:spcAft>
              <a:buSzPts val="1200"/>
              <a:buFont typeface="Roboto Condensed"/>
              <a:buChar char="○"/>
            </a:pPr>
            <a:r>
              <a:rPr lang="en">
                <a:latin typeface="Roboto Condensed"/>
                <a:ea typeface="Roboto Condensed"/>
                <a:cs typeface="Roboto Condensed"/>
                <a:sym typeface="Roboto Condensed"/>
              </a:rPr>
              <a:t>Df[“newcolumn”] = df[“oldcolumn”].apply(lambda x: x.split(‘:’)[0])</a:t>
            </a:r>
            <a:endParaRPr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1371600" lvl="2" indent="-304800" algn="l" rtl="0">
              <a:spcBef>
                <a:spcPts val="0"/>
              </a:spcBef>
              <a:spcAft>
                <a:spcPts val="0"/>
              </a:spcAft>
              <a:buSzPts val="1200"/>
              <a:buFont typeface="Roboto Condensed"/>
              <a:buChar char="■"/>
            </a:pPr>
            <a:r>
              <a:rPr lang="en">
                <a:latin typeface="Roboto Condensed"/>
                <a:ea typeface="Roboto Condensed"/>
                <a:cs typeface="Roboto Condensed"/>
                <a:sym typeface="Roboto Condensed"/>
              </a:rPr>
              <a:t>What this does is pick out the first word before the colon</a:t>
            </a:r>
            <a:endParaRPr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21" name="Google Shape;221;p41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.apply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42"/>
          <p:cNvSpPr txBox="1">
            <a:spLocks noGrp="1"/>
          </p:cNvSpPr>
          <p:nvPr>
            <p:ph type="body" idx="1"/>
          </p:nvPr>
        </p:nvSpPr>
        <p:spPr>
          <a:xfrm>
            <a:off x="642050" y="2134800"/>
            <a:ext cx="5308200" cy="14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04800" algn="l" rtl="0">
              <a:spcBef>
                <a:spcPts val="0"/>
              </a:spcBef>
              <a:spcAft>
                <a:spcPts val="0"/>
              </a:spcAft>
              <a:buSzPts val="1200"/>
              <a:buFont typeface="Roboto Condensed"/>
              <a:buChar char="●"/>
            </a:pPr>
            <a:r>
              <a:rPr lang="en">
                <a:latin typeface="Roboto Condensed"/>
                <a:ea typeface="Roboto Condensed"/>
                <a:cs typeface="Roboto Condensed"/>
                <a:sym typeface="Roboto Condensed"/>
              </a:rPr>
              <a:t>When dealing with missing data, either drop of fill missing values</a:t>
            </a:r>
            <a:endParaRPr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914400" lvl="1" indent="-304800" algn="l" rtl="0">
              <a:spcBef>
                <a:spcPts val="0"/>
              </a:spcBef>
              <a:spcAft>
                <a:spcPts val="0"/>
              </a:spcAft>
              <a:buSzPts val="1200"/>
              <a:buFont typeface="Roboto Condensed"/>
              <a:buChar char="○"/>
            </a:pPr>
            <a:r>
              <a:rPr lang="en" b="1">
                <a:latin typeface="Roboto Condensed"/>
                <a:ea typeface="Roboto Condensed"/>
                <a:cs typeface="Roboto Condensed"/>
                <a:sym typeface="Roboto Condensed"/>
              </a:rPr>
              <a:t>Drop:        df.dropna()</a:t>
            </a:r>
            <a:endParaRPr b="1"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1371600" lvl="2" indent="-304800" algn="l" rtl="0">
              <a:spcBef>
                <a:spcPts val="0"/>
              </a:spcBef>
              <a:spcAft>
                <a:spcPts val="0"/>
              </a:spcAft>
              <a:buSzPts val="1200"/>
              <a:buFont typeface="Roboto Condensed"/>
              <a:buChar char="■"/>
            </a:pPr>
            <a:r>
              <a:rPr lang="en">
                <a:latin typeface="Roboto Condensed"/>
                <a:ea typeface="Roboto Condensed"/>
                <a:cs typeface="Roboto Condensed"/>
                <a:sym typeface="Roboto Condensed"/>
              </a:rPr>
              <a:t>Make sure to specify axis=1 if wanting to drop columns</a:t>
            </a:r>
            <a:endParaRPr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1371600" lvl="2" indent="-304800" algn="l" rtl="0">
              <a:spcBef>
                <a:spcPts val="0"/>
              </a:spcBef>
              <a:spcAft>
                <a:spcPts val="0"/>
              </a:spcAft>
              <a:buSzPts val="1200"/>
              <a:buFont typeface="Roboto Condensed"/>
              <a:buChar char="■"/>
            </a:pPr>
            <a:r>
              <a:rPr lang="en">
                <a:latin typeface="Roboto Condensed"/>
                <a:ea typeface="Roboto Condensed"/>
                <a:cs typeface="Roboto Condensed"/>
                <a:sym typeface="Roboto Condensed"/>
              </a:rPr>
              <a:t>Thresh argument can be used to specifically drop only columns with less than a certain amount of missing data points</a:t>
            </a:r>
            <a:endParaRPr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914400" lvl="1" indent="-304800" algn="l" rtl="0">
              <a:spcBef>
                <a:spcPts val="0"/>
              </a:spcBef>
              <a:spcAft>
                <a:spcPts val="0"/>
              </a:spcAft>
              <a:buSzPts val="1200"/>
              <a:buFont typeface="Roboto Condensed"/>
              <a:buChar char="○"/>
            </a:pPr>
            <a:r>
              <a:rPr lang="en" b="1">
                <a:latin typeface="Roboto Condensed"/>
                <a:ea typeface="Roboto Condensed"/>
                <a:cs typeface="Roboto Condensed"/>
                <a:sym typeface="Roboto Condensed"/>
              </a:rPr>
              <a:t>Fill:          df.fillna(#whatever)</a:t>
            </a:r>
            <a:endParaRPr b="1"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27" name="Google Shape;227;p42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Null values</a:t>
            </a:r>
            <a:endParaRPr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43"/>
          <p:cNvSpPr txBox="1">
            <a:spLocks noGrp="1"/>
          </p:cNvSpPr>
          <p:nvPr>
            <p:ph type="body" idx="1"/>
          </p:nvPr>
        </p:nvSpPr>
        <p:spPr>
          <a:xfrm>
            <a:off x="642050" y="2134800"/>
            <a:ext cx="5308200" cy="147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First to count the amount of null values: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0"/>
              </a:spcAft>
              <a:buNone/>
            </a:pPr>
            <a:r>
              <a:rPr lang="en"/>
              <a:t>df.isnull() - returns a dataframe with true and false values</a:t>
            </a:r>
            <a:endParaRPr/>
          </a:p>
          <a:p>
            <a:pPr marL="0" lvl="0" indent="0" algn="l" rtl="0">
              <a:spcBef>
                <a:spcPts val="1600"/>
              </a:spcBef>
              <a:spcAft>
                <a:spcPts val="1600"/>
              </a:spcAft>
              <a:buNone/>
            </a:pPr>
            <a:r>
              <a:rPr lang="en"/>
              <a:t>To get the count per column, do df.is_null().count()</a:t>
            </a:r>
            <a:endParaRPr/>
          </a:p>
        </p:txBody>
      </p:sp>
      <p:sp>
        <p:nvSpPr>
          <p:cNvPr id="233" name="Google Shape;233;p43"/>
          <p:cNvSpPr txBox="1">
            <a:spLocks noGrp="1"/>
          </p:cNvSpPr>
          <p:nvPr>
            <p:ph type="ctrTitle"/>
          </p:nvPr>
        </p:nvSpPr>
        <p:spPr>
          <a:xfrm>
            <a:off x="1964851" y="352850"/>
            <a:ext cx="5214300" cy="946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All about Null values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>
            <a:extLst>
              <a:ext uri="{FF2B5EF4-FFF2-40B4-BE49-F238E27FC236}">
                <a16:creationId xmlns:a16="http://schemas.microsoft.com/office/drawing/2014/main" id="{7CF3D243-ACB9-287A-C421-4BFC4569559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2400" indent="0">
              <a:buNone/>
            </a:pPr>
            <a:r>
              <a:rPr lang="de-DE" sz="3600" b="1" dirty="0" err="1">
                <a:latin typeface="Exo 2"/>
                <a:sym typeface="Exo 2"/>
              </a:rPr>
              <a:t>Thank</a:t>
            </a:r>
            <a:r>
              <a:rPr lang="de-DE" sz="3600" b="1" dirty="0">
                <a:latin typeface="Exo 2"/>
                <a:sym typeface="Exo 2"/>
              </a:rPr>
              <a:t> </a:t>
            </a:r>
            <a:r>
              <a:rPr lang="de-DE" sz="3600" b="1" dirty="0" err="1">
                <a:latin typeface="Exo 2"/>
                <a:sym typeface="Exo 2"/>
              </a:rPr>
              <a:t>you</a:t>
            </a:r>
            <a:r>
              <a:rPr lang="de-DE" sz="3600" b="1" dirty="0">
                <a:latin typeface="Exo 2"/>
                <a:sym typeface="Exo 2"/>
              </a:rPr>
              <a:t>!</a:t>
            </a: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1A38E729-1ED8-1466-565B-98B582A545E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01074718"/>
      </p:ext>
    </p:extLst>
  </p:cSld>
  <p:clrMapOvr>
    <a:masterClrMapping/>
  </p:clrMapOvr>
</p:sld>
</file>

<file path=ppt/theme/theme1.xml><?xml version="1.0" encoding="utf-8"?>
<a:theme xmlns:a="http://schemas.openxmlformats.org/drawingml/2006/main" name="Tech Newsletter by Slidesgo">
  <a:themeElements>
    <a:clrScheme name="Simple Light">
      <a:dk1>
        <a:srgbClr val="FFFFFF"/>
      </a:dk1>
      <a:lt1>
        <a:srgbClr val="0A3455"/>
      </a:lt1>
      <a:dk2>
        <a:srgbClr val="6EBDC4"/>
      </a:dk2>
      <a:lt2>
        <a:srgbClr val="416D90"/>
      </a:lt2>
      <a:accent1>
        <a:srgbClr val="B4EBF0"/>
      </a:accent1>
      <a:accent2>
        <a:srgbClr val="7CC5CC"/>
      </a:accent2>
      <a:accent3>
        <a:srgbClr val="61A6B5"/>
      </a:accent3>
      <a:accent4>
        <a:srgbClr val="548FA6"/>
      </a:accent4>
      <a:accent5>
        <a:srgbClr val="2E5F80"/>
      </a:accent5>
      <a:accent6>
        <a:srgbClr val="174366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513</Words>
  <Application>Microsoft Office PowerPoint</Application>
  <PresentationFormat>Bildschirmpräsentation (16:9)</PresentationFormat>
  <Paragraphs>80</Paragraphs>
  <Slides>16</Slides>
  <Notes>15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6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16</vt:i4>
      </vt:variant>
    </vt:vector>
  </HeadingPairs>
  <TitlesOfParts>
    <vt:vector size="23" baseType="lpstr">
      <vt:lpstr>Arial</vt:lpstr>
      <vt:lpstr>Fira Sans Extra Condensed Medium</vt:lpstr>
      <vt:lpstr>Roboto Mono</vt:lpstr>
      <vt:lpstr>Roboto Condensed Light</vt:lpstr>
      <vt:lpstr>Exo 2</vt:lpstr>
      <vt:lpstr>Roboto Condensed</vt:lpstr>
      <vt:lpstr>Tech Newsletter by Slidesgo</vt:lpstr>
      <vt:lpstr>03 - Pandas</vt:lpstr>
      <vt:lpstr>Course Overview:</vt:lpstr>
      <vt:lpstr>TABLE OF CONTENTS</vt:lpstr>
      <vt:lpstr>What is Pandas?</vt:lpstr>
      <vt:lpstr>Pandas</vt:lpstr>
      <vt:lpstr>Installation</vt:lpstr>
      <vt:lpstr>Installation</vt:lpstr>
      <vt:lpstr>Series and Dataframes</vt:lpstr>
      <vt:lpstr>Series</vt:lpstr>
      <vt:lpstr>DataFrames</vt:lpstr>
      <vt:lpstr>Important dataframe methods</vt:lpstr>
      <vt:lpstr>Accession</vt:lpstr>
      <vt:lpstr>.apply</vt:lpstr>
      <vt:lpstr>Null values </vt:lpstr>
      <vt:lpstr>All about Null values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03 - Pandas</dc:title>
  <dc:creator>Osama Hamed</dc:creator>
  <cp:lastModifiedBy>Hamed, Osama</cp:lastModifiedBy>
  <cp:revision>8</cp:revision>
  <dcterms:modified xsi:type="dcterms:W3CDTF">2025-10-28T07:26:31Z</dcterms:modified>
</cp:coreProperties>
</file>