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309" r:id="rId15"/>
    <p:sldId id="269" r:id="rId16"/>
    <p:sldId id="270" r:id="rId17"/>
  </p:sldIdLst>
  <p:sldSz cx="9144000" cy="5143500" type="screen16x9"/>
  <p:notesSz cx="6794500" cy="9931400"/>
  <p:embeddedFontLst>
    <p:embeddedFont>
      <p:font typeface="Exo 2" panose="020B0604020202020204" charset="0"/>
      <p:regular r:id="rId19"/>
      <p:bold r:id="rId20"/>
      <p:italic r:id="rId21"/>
      <p:boldItalic r:id="rId22"/>
    </p:embeddedFont>
    <p:embeddedFont>
      <p:font typeface="Fira Sans Extra Condensed Medium" panose="020B0604020202020204" charset="0"/>
      <p:regular r:id="rId23"/>
      <p:bold r:id="rId24"/>
      <p:italic r:id="rId25"/>
      <p:boldItalic r:id="rId26"/>
    </p:embeddedFont>
    <p:embeddedFont>
      <p:font typeface="Roboto Condensed" panose="02000000000000000000" pitchFamily="2" charset="0"/>
      <p:regular r:id="rId27"/>
      <p:bold r:id="rId28"/>
      <p:italic r:id="rId29"/>
      <p:boldItalic r:id="rId30"/>
    </p:embeddedFont>
    <p:embeddedFont>
      <p:font typeface="Roboto Condensed Light" panose="02000000000000000000" pitchFamily="2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Nathan Kang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99" d="100"/>
          <a:sy n="199" d="100"/>
        </p:scale>
        <p:origin x="684" y="15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9" Type="http://schemas.openxmlformats.org/officeDocument/2006/relationships/tableStyles" Target="tableStyles.xml"/><Relationship Id="rId21" Type="http://schemas.openxmlformats.org/officeDocument/2006/relationships/font" Target="fonts/font3.fntdata"/><Relationship Id="rId34" Type="http://schemas.openxmlformats.org/officeDocument/2006/relationships/font" Target="fonts/font1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font" Target="fonts/font15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font" Target="fonts/font14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e2db3e8363_1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e2db3e8363_1_127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e2db3e8363_1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e2db3e8363_1_154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e2db3e8363_1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e2db3e8363_1_132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e2db3e8363_1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e2db3e8363_1_199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e2db3e8363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e2db3e8363_1_211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e2db3e8363_1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e2db3e8363_1_223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ar-JO" dirty="0"/>
              <a:t>"لا أعتقد أن التنبؤ بالمستقبل هو فعلياً ما </a:t>
            </a:r>
            <a:r>
              <a:rPr lang="ar-JO"/>
              <a:t>يدور حول </a:t>
            </a:r>
            <a:r>
              <a:rPr lang="ar-JO" dirty="0"/>
              <a:t>[تعلم الآلة]. نحن… سوف نكون جزءاً من المستقبل. لذلك… مهمتنا ليست التنبؤ به، بل تصميمه."</a:t>
            </a: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e2db3e8363_1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e2db3e8363_1_234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e2db3e8363_1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e2db3e8363_1_239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e2db3e8363_1_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e2db3e8363_1_248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e2db3e8363_1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e2db3e8363_1_253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e2db3e8363_1_2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e2db3e8363_1_263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e2db3e8363_1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e2db3e8363_1_282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e2db3e8363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e2db3e8363_1_296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e2db3e8363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70150" y="560388"/>
            <a:ext cx="4987925" cy="28067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e2db3e8363_1_296:notes"/>
          <p:cNvSpPr txBox="1">
            <a:spLocks noGrp="1"/>
          </p:cNvSpPr>
          <p:nvPr>
            <p:ph type="body" idx="1"/>
          </p:nvPr>
        </p:nvSpPr>
        <p:spPr>
          <a:xfrm>
            <a:off x="992909" y="3554441"/>
            <a:ext cx="7943274" cy="3367366"/>
          </a:xfrm>
          <a:prstGeom prst="rect">
            <a:avLst/>
          </a:prstGeom>
        </p:spPr>
        <p:txBody>
          <a:bodyPr spcFirstLastPara="1" wrap="square" lIns="96618" tIns="96618" rIns="96618" bIns="96618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e2db3e8363_1_3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e2db3e8363_1_327:notes"/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F2B42E50-9873-60F8-1AB0-C7D041F39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e2db3e8363_1_327:notes">
            <a:extLst>
              <a:ext uri="{FF2B5EF4-FFF2-40B4-BE49-F238E27FC236}">
                <a16:creationId xmlns:a16="http://schemas.microsoft.com/office/drawing/2014/main" id="{BB6A4C22-FDFA-037C-F1FA-3714F6D386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e2db3e8363_1_327:notes">
            <a:extLst>
              <a:ext uri="{FF2B5EF4-FFF2-40B4-BE49-F238E27FC236}">
                <a16:creationId xmlns:a16="http://schemas.microsoft.com/office/drawing/2014/main" id="{83E3BD86-9C53-5D8F-EEC1-1993D6DC05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385319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nxth" TargetMode="External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>
  <p:cSld name="CUSTOM_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35981" y="1393699"/>
            <a:ext cx="6886800" cy="17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3670681" y="2933522"/>
            <a:ext cx="4352100" cy="71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1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3385875" y="2098650"/>
            <a:ext cx="2372400" cy="94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ctrTitle" idx="2"/>
          </p:nvPr>
        </p:nvSpPr>
        <p:spPr>
          <a:xfrm>
            <a:off x="390296" y="201653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690446" y="656478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3" hasCustomPrompt="1"/>
          </p:nvPr>
        </p:nvSpPr>
        <p:spPr>
          <a:xfrm>
            <a:off x="2118448" y="54444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4" hasCustomPrompt="1"/>
          </p:nvPr>
        </p:nvSpPr>
        <p:spPr>
          <a:xfrm>
            <a:off x="2105406" y="151580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5" hasCustomPrompt="1"/>
          </p:nvPr>
        </p:nvSpPr>
        <p:spPr>
          <a:xfrm>
            <a:off x="2105406" y="248716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>
            <a:spLocks noGrp="1"/>
          </p:cNvSpPr>
          <p:nvPr>
            <p:ph type="title" idx="6" hasCustomPrompt="1"/>
          </p:nvPr>
        </p:nvSpPr>
        <p:spPr>
          <a:xfrm>
            <a:off x="5922008" y="2092638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7" hasCustomPrompt="1"/>
          </p:nvPr>
        </p:nvSpPr>
        <p:spPr>
          <a:xfrm>
            <a:off x="5922008" y="3112336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title" idx="8" hasCustomPrompt="1"/>
          </p:nvPr>
        </p:nvSpPr>
        <p:spPr>
          <a:xfrm>
            <a:off x="5922008" y="4132033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1" name="Google Shape;21;p3"/>
          <p:cNvSpPr txBox="1">
            <a:spLocks noGrp="1"/>
          </p:cNvSpPr>
          <p:nvPr>
            <p:ph type="ctrTitle" idx="9"/>
          </p:nvPr>
        </p:nvSpPr>
        <p:spPr>
          <a:xfrm>
            <a:off x="390296" y="1167854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ubTitle" idx="13"/>
          </p:nvPr>
        </p:nvSpPr>
        <p:spPr>
          <a:xfrm>
            <a:off x="690446" y="1622677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ctrTitle" idx="14"/>
          </p:nvPr>
        </p:nvSpPr>
        <p:spPr>
          <a:xfrm>
            <a:off x="390296" y="2141336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5"/>
          </p:nvPr>
        </p:nvSpPr>
        <p:spPr>
          <a:xfrm>
            <a:off x="690446" y="2596156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ctrTitle" idx="16"/>
          </p:nvPr>
        </p:nvSpPr>
        <p:spPr>
          <a:xfrm>
            <a:off x="6811558" y="1775180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17"/>
          </p:nvPr>
        </p:nvSpPr>
        <p:spPr>
          <a:xfrm>
            <a:off x="6811558" y="2230005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ctrTitle" idx="18"/>
          </p:nvPr>
        </p:nvSpPr>
        <p:spPr>
          <a:xfrm>
            <a:off x="6811558" y="2799095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ubTitle" idx="19"/>
          </p:nvPr>
        </p:nvSpPr>
        <p:spPr>
          <a:xfrm>
            <a:off x="6811558" y="3253917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ctrTitle" idx="20"/>
          </p:nvPr>
        </p:nvSpPr>
        <p:spPr>
          <a:xfrm>
            <a:off x="6811558" y="3811353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subTitle" idx="21"/>
          </p:nvPr>
        </p:nvSpPr>
        <p:spPr>
          <a:xfrm>
            <a:off x="6811558" y="4266173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1">
  <p:cSld name="CUSTOM_1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 txBox="1">
            <a:spLocks noGrp="1"/>
          </p:cNvSpPr>
          <p:nvPr>
            <p:ph type="ctrTitle"/>
          </p:nvPr>
        </p:nvSpPr>
        <p:spPr>
          <a:xfrm flipH="1">
            <a:off x="1147650" y="3085150"/>
            <a:ext cx="500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147575" y="402895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subtitle">
  <p:cSld name="CUSTOM_1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>
            <a:spLocks noGrp="1"/>
          </p:cNvSpPr>
          <p:nvPr>
            <p:ph type="ctrTitle"/>
          </p:nvPr>
        </p:nvSpPr>
        <p:spPr>
          <a:xfrm>
            <a:off x="2638350" y="376498"/>
            <a:ext cx="3867300" cy="20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16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1"/>
          </p:nvPr>
        </p:nvSpPr>
        <p:spPr>
          <a:xfrm>
            <a:off x="2459550" y="2314225"/>
            <a:ext cx="4224900" cy="178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">
  <p:cSld name="CUSTOM_1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2">
  <p:cSld name="CUSTOM_2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ctrTitle"/>
          </p:nvPr>
        </p:nvSpPr>
        <p:spPr>
          <a:xfrm flipH="1">
            <a:off x="2747779" y="263567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9641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3718579" y="4030481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photo">
  <p:cSld name="CUSTOM_2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ctrTitle"/>
          </p:nvPr>
        </p:nvSpPr>
        <p:spPr>
          <a:xfrm>
            <a:off x="1600733" y="985228"/>
            <a:ext cx="2673600" cy="20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0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subTitle" idx="1"/>
          </p:nvPr>
        </p:nvSpPr>
        <p:spPr>
          <a:xfrm>
            <a:off x="1179233" y="3058425"/>
            <a:ext cx="3095100" cy="178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100">
                <a:solidFill>
                  <a:schemeClr val="accent6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ctrTitle" idx="2"/>
          </p:nvPr>
        </p:nvSpPr>
        <p:spPr>
          <a:xfrm>
            <a:off x="1932090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">
  <p:cSld name="CUSTOM_26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 idx="2" hasCustomPrompt="1"/>
          </p:nvPr>
        </p:nvSpPr>
        <p:spPr>
          <a:xfrm>
            <a:off x="1086651" y="1475125"/>
            <a:ext cx="17952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 flipH="1">
            <a:off x="3481677" y="1666454"/>
            <a:ext cx="3264900" cy="33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title" idx="3" hasCustomPrompt="1"/>
          </p:nvPr>
        </p:nvSpPr>
        <p:spPr>
          <a:xfrm>
            <a:off x="2298451" y="2475350"/>
            <a:ext cx="17637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3" name="Google Shape;53;p9"/>
          <p:cNvSpPr txBox="1">
            <a:spLocks noGrp="1"/>
          </p:cNvSpPr>
          <p:nvPr>
            <p:ph type="subTitle" idx="4"/>
          </p:nvPr>
        </p:nvSpPr>
        <p:spPr>
          <a:xfrm flipH="1">
            <a:off x="4568051" y="2688425"/>
            <a:ext cx="3264900" cy="33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title" idx="5" hasCustomPrompt="1"/>
          </p:nvPr>
        </p:nvSpPr>
        <p:spPr>
          <a:xfrm>
            <a:off x="3353176" y="3513625"/>
            <a:ext cx="17952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9"/>
          <p:cNvSpPr txBox="1">
            <a:spLocks noGrp="1"/>
          </p:cNvSpPr>
          <p:nvPr>
            <p:ph type="subTitle" idx="6"/>
          </p:nvPr>
        </p:nvSpPr>
        <p:spPr>
          <a:xfrm flipH="1">
            <a:off x="5671490" y="3709941"/>
            <a:ext cx="3264900" cy="33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">
  <p:cSld name="CUSTOM_2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ctrTitle" idx="2"/>
          </p:nvPr>
        </p:nvSpPr>
        <p:spPr>
          <a:xfrm>
            <a:off x="561600" y="2804713"/>
            <a:ext cx="26736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subTitle" idx="1"/>
          </p:nvPr>
        </p:nvSpPr>
        <p:spPr>
          <a:xfrm>
            <a:off x="872450" y="3090475"/>
            <a:ext cx="20520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100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ctrTitle" idx="3"/>
          </p:nvPr>
        </p:nvSpPr>
        <p:spPr>
          <a:xfrm>
            <a:off x="3235200" y="2804713"/>
            <a:ext cx="26736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subTitle" idx="4"/>
          </p:nvPr>
        </p:nvSpPr>
        <p:spPr>
          <a:xfrm>
            <a:off x="3462900" y="2036750"/>
            <a:ext cx="2218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100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ctrTitle" idx="5"/>
          </p:nvPr>
        </p:nvSpPr>
        <p:spPr>
          <a:xfrm>
            <a:off x="5908800" y="2804713"/>
            <a:ext cx="26736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18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subTitle" idx="6"/>
          </p:nvPr>
        </p:nvSpPr>
        <p:spPr>
          <a:xfrm>
            <a:off x="6136500" y="3090475"/>
            <a:ext cx="2218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100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3">
  <p:cSld name="CUSTOM_2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>
            <a:spLocks noGrp="1"/>
          </p:cNvSpPr>
          <p:nvPr>
            <p:ph type="ctrTitle"/>
          </p:nvPr>
        </p:nvSpPr>
        <p:spPr>
          <a:xfrm flipH="1">
            <a:off x="2754543" y="1347038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970943" y="1035213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1"/>
          <p:cNvSpPr txBox="1">
            <a:spLocks noGrp="1"/>
          </p:cNvSpPr>
          <p:nvPr>
            <p:ph type="subTitle" idx="1"/>
          </p:nvPr>
        </p:nvSpPr>
        <p:spPr>
          <a:xfrm>
            <a:off x="3725343" y="274298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x Columns">
  <p:cSld name="CUSTOM_2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ctrTitle" idx="2"/>
          </p:nvPr>
        </p:nvSpPr>
        <p:spPr>
          <a:xfrm>
            <a:off x="464478" y="1806500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subTitle" idx="1"/>
          </p:nvPr>
        </p:nvSpPr>
        <p:spPr>
          <a:xfrm>
            <a:off x="616128" y="2100749"/>
            <a:ext cx="1477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ctrTitle" idx="3"/>
          </p:nvPr>
        </p:nvSpPr>
        <p:spPr>
          <a:xfrm>
            <a:off x="2077426" y="1806500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ubTitle" idx="4"/>
          </p:nvPr>
        </p:nvSpPr>
        <p:spPr>
          <a:xfrm>
            <a:off x="2229076" y="2100749"/>
            <a:ext cx="1477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ctrTitle" idx="5"/>
          </p:nvPr>
        </p:nvSpPr>
        <p:spPr>
          <a:xfrm>
            <a:off x="3690375" y="1806500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subTitle" idx="6"/>
          </p:nvPr>
        </p:nvSpPr>
        <p:spPr>
          <a:xfrm>
            <a:off x="3842025" y="2100749"/>
            <a:ext cx="1477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ctrTitle" idx="7"/>
          </p:nvPr>
        </p:nvSpPr>
        <p:spPr>
          <a:xfrm>
            <a:off x="3707117" y="3549862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ubTitle" idx="8"/>
          </p:nvPr>
        </p:nvSpPr>
        <p:spPr>
          <a:xfrm>
            <a:off x="3858772" y="3890201"/>
            <a:ext cx="1477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ctrTitle" idx="9"/>
          </p:nvPr>
        </p:nvSpPr>
        <p:spPr>
          <a:xfrm>
            <a:off x="5343519" y="3549862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ubTitle" idx="13"/>
          </p:nvPr>
        </p:nvSpPr>
        <p:spPr>
          <a:xfrm>
            <a:off x="5500261" y="3890201"/>
            <a:ext cx="1477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ctrTitle" idx="14"/>
          </p:nvPr>
        </p:nvSpPr>
        <p:spPr>
          <a:xfrm>
            <a:off x="6979921" y="3549862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ubTitle" idx="15"/>
          </p:nvPr>
        </p:nvSpPr>
        <p:spPr>
          <a:xfrm>
            <a:off x="7141750" y="3890201"/>
            <a:ext cx="14568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">
  <p:cSld name="CUSTOM_25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ctrTitle" idx="2"/>
          </p:nvPr>
        </p:nvSpPr>
        <p:spPr>
          <a:xfrm>
            <a:off x="1741950" y="2846700"/>
            <a:ext cx="12579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ubTitle" idx="1"/>
          </p:nvPr>
        </p:nvSpPr>
        <p:spPr>
          <a:xfrm>
            <a:off x="1741950" y="1650025"/>
            <a:ext cx="21573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3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ctrTitle" idx="3"/>
          </p:nvPr>
        </p:nvSpPr>
        <p:spPr>
          <a:xfrm>
            <a:off x="5633751" y="3635300"/>
            <a:ext cx="17805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4"/>
          </p:nvPr>
        </p:nvSpPr>
        <p:spPr>
          <a:xfrm>
            <a:off x="5256958" y="2440056"/>
            <a:ext cx="21573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3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2">
  <p:cSld name="CUSTOM_15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4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4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5"/>
          <p:cNvSpPr txBox="1">
            <a:spLocks noGrp="1"/>
          </p:cNvSpPr>
          <p:nvPr>
            <p:ph type="ctrTitle"/>
          </p:nvPr>
        </p:nvSpPr>
        <p:spPr>
          <a:xfrm flipH="1">
            <a:off x="1180003" y="1347038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2" name="Google Shape;92;p15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180003" y="1035213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93" name="Google Shape;93;p15"/>
          <p:cNvSpPr txBox="1">
            <a:spLocks noGrp="1"/>
          </p:cNvSpPr>
          <p:nvPr>
            <p:ph type="subTitle" idx="1"/>
          </p:nvPr>
        </p:nvSpPr>
        <p:spPr>
          <a:xfrm>
            <a:off x="1180003" y="274298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">
  <p:cSld name="CUSTOM_2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6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16"/>
          <p:cNvSpPr txBox="1">
            <a:spLocks noGrp="1"/>
          </p:cNvSpPr>
          <p:nvPr>
            <p:ph type="ctrTitle" idx="2"/>
          </p:nvPr>
        </p:nvSpPr>
        <p:spPr>
          <a:xfrm>
            <a:off x="2285760" y="1652042"/>
            <a:ext cx="17931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97" name="Google Shape;97;p16"/>
          <p:cNvSpPr txBox="1">
            <a:spLocks noGrp="1"/>
          </p:cNvSpPr>
          <p:nvPr>
            <p:ph type="subTitle" idx="1"/>
          </p:nvPr>
        </p:nvSpPr>
        <p:spPr>
          <a:xfrm>
            <a:off x="2285760" y="1946292"/>
            <a:ext cx="1708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98" name="Google Shape;98;p16"/>
          <p:cNvSpPr txBox="1">
            <a:spLocks noGrp="1"/>
          </p:cNvSpPr>
          <p:nvPr>
            <p:ph type="ctrTitle" idx="3"/>
          </p:nvPr>
        </p:nvSpPr>
        <p:spPr>
          <a:xfrm>
            <a:off x="2285760" y="3570573"/>
            <a:ext cx="17931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99" name="Google Shape;99;p16"/>
          <p:cNvSpPr txBox="1">
            <a:spLocks noGrp="1"/>
          </p:cNvSpPr>
          <p:nvPr>
            <p:ph type="subTitle" idx="4"/>
          </p:nvPr>
        </p:nvSpPr>
        <p:spPr>
          <a:xfrm>
            <a:off x="2285760" y="3864823"/>
            <a:ext cx="17082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100" name="Google Shape;100;p16"/>
          <p:cNvSpPr txBox="1">
            <a:spLocks noGrp="1"/>
          </p:cNvSpPr>
          <p:nvPr>
            <p:ph type="ctrTitle" idx="5"/>
          </p:nvPr>
        </p:nvSpPr>
        <p:spPr>
          <a:xfrm>
            <a:off x="5047297" y="1652042"/>
            <a:ext cx="17931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16"/>
          <p:cNvSpPr txBox="1">
            <a:spLocks noGrp="1"/>
          </p:cNvSpPr>
          <p:nvPr>
            <p:ph type="subTitle" idx="6"/>
          </p:nvPr>
        </p:nvSpPr>
        <p:spPr>
          <a:xfrm>
            <a:off x="5047299" y="1946292"/>
            <a:ext cx="17931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102" name="Google Shape;102;p16"/>
          <p:cNvSpPr txBox="1">
            <a:spLocks noGrp="1"/>
          </p:cNvSpPr>
          <p:nvPr>
            <p:ph type="ctrTitle" idx="7"/>
          </p:nvPr>
        </p:nvSpPr>
        <p:spPr>
          <a:xfrm>
            <a:off x="5047297" y="3570573"/>
            <a:ext cx="1793100" cy="42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103" name="Google Shape;103;p16"/>
          <p:cNvSpPr txBox="1">
            <a:spLocks noGrp="1"/>
          </p:cNvSpPr>
          <p:nvPr>
            <p:ph type="subTitle" idx="8"/>
          </p:nvPr>
        </p:nvSpPr>
        <p:spPr>
          <a:xfrm>
            <a:off x="5047299" y="3864823"/>
            <a:ext cx="17931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itle">
  <p:cSld name="CUSTOM_29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7"/>
          <p:cNvSpPr txBox="1">
            <a:spLocks noGrp="1"/>
          </p:cNvSpPr>
          <p:nvPr>
            <p:ph type="ctrTitle"/>
          </p:nvPr>
        </p:nvSpPr>
        <p:spPr>
          <a:xfrm flipH="1">
            <a:off x="1193529" y="1611150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2pPr>
            <a:lvl3pPr lvl="2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3pPr>
            <a:lvl4pPr lvl="3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4pPr>
            <a:lvl5pPr lvl="4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5pPr>
            <a:lvl6pPr lvl="5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6pPr>
            <a:lvl7pPr lvl="6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7pPr>
            <a:lvl8pPr lvl="7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8pPr>
            <a:lvl9pPr lvl="8" rtl="0">
              <a:spcBef>
                <a:spcPts val="0"/>
              </a:spcBef>
              <a:spcAft>
                <a:spcPts val="0"/>
              </a:spcAft>
              <a:buSzPts val="6500"/>
              <a:buNone/>
              <a:defRPr sz="6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5">
  <p:cSld name="CUSTOM_30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8"/>
          <p:cNvSpPr txBox="1">
            <a:spLocks noGrp="1"/>
          </p:cNvSpPr>
          <p:nvPr>
            <p:ph type="ctrTitle"/>
          </p:nvPr>
        </p:nvSpPr>
        <p:spPr>
          <a:xfrm flipH="1">
            <a:off x="2260329" y="219380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2260329" y="188198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09" name="Google Shape;109;p18"/>
          <p:cNvSpPr txBox="1">
            <a:spLocks noGrp="1"/>
          </p:cNvSpPr>
          <p:nvPr>
            <p:ph type="subTitle" idx="1"/>
          </p:nvPr>
        </p:nvSpPr>
        <p:spPr>
          <a:xfrm>
            <a:off x="2260329" y="3476054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3">
  <p:cSld name="CUSTOM_15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4">
  <p:cSld name="CUSTOM_15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6">
  <p:cSld name="CUSTOM_3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>
            <a:spLocks noGrp="1"/>
          </p:cNvSpPr>
          <p:nvPr>
            <p:ph type="ctrTitle"/>
          </p:nvPr>
        </p:nvSpPr>
        <p:spPr>
          <a:xfrm flipH="1">
            <a:off x="1698072" y="217847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6" name="Google Shape;116;p21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3914472" y="18666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17" name="Google Shape;117;p21"/>
          <p:cNvSpPr txBox="1">
            <a:spLocks noGrp="1"/>
          </p:cNvSpPr>
          <p:nvPr>
            <p:ph type="subTitle" idx="1"/>
          </p:nvPr>
        </p:nvSpPr>
        <p:spPr>
          <a:xfrm>
            <a:off x="2668872" y="3476054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5">
  <p:cSld name="CUSTOM_15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2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3"/>
          <p:cNvSpPr txBox="1">
            <a:spLocks noGrp="1"/>
          </p:cNvSpPr>
          <p:nvPr>
            <p:ph type="ctrTitle"/>
          </p:nvPr>
        </p:nvSpPr>
        <p:spPr>
          <a:xfrm flipH="1">
            <a:off x="1974150" y="1161000"/>
            <a:ext cx="5195700" cy="136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ubTitle" idx="1"/>
          </p:nvPr>
        </p:nvSpPr>
        <p:spPr>
          <a:xfrm>
            <a:off x="2152500" y="2494850"/>
            <a:ext cx="4839000" cy="10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3"/>
          <p:cNvSpPr txBox="1"/>
          <p:nvPr/>
        </p:nvSpPr>
        <p:spPr>
          <a:xfrm>
            <a:off x="625906" y="3722418"/>
            <a:ext cx="3830100" cy="17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CREDITS: This presentation template was created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, including icons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, and infographics &amp; images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. </a:t>
            </a:r>
            <a:endParaRPr sz="1000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Please keep this slide for attribution.</a:t>
            </a:r>
            <a:endParaRPr sz="900" b="1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>
  <p:cSld name="CUSTOM_1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6" name="Google Shape;126;p24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>
  <p:cSld name="CUSTOM_33">
    <p:bg>
      <p:bgPr>
        <a:noFill/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30" name="Google Shape;130;p2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1" name="Google Shape;131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Exo 2"/>
              <a:buNone/>
              <a:defRPr sz="2800" b="1">
                <a:solidFill>
                  <a:schemeClr val="dk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0.gif"/><Relationship Id="rId4" Type="http://schemas.openxmlformats.org/officeDocument/2006/relationships/image" Target="../media/image1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inpython.github.io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7"/>
          <p:cNvSpPr txBox="1">
            <a:spLocks noGrp="1"/>
          </p:cNvSpPr>
          <p:nvPr>
            <p:ph type="ctrTitle"/>
          </p:nvPr>
        </p:nvSpPr>
        <p:spPr>
          <a:xfrm>
            <a:off x="1135981" y="1393699"/>
            <a:ext cx="6886800" cy="17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 to Course</a:t>
            </a:r>
            <a:endParaRPr/>
          </a:p>
        </p:txBody>
      </p:sp>
      <p:sp>
        <p:nvSpPr>
          <p:cNvPr id="137" name="Google Shape;137;p27"/>
          <p:cNvSpPr txBox="1">
            <a:spLocks noGrp="1"/>
          </p:cNvSpPr>
          <p:nvPr>
            <p:ph type="subTitle" idx="1"/>
          </p:nvPr>
        </p:nvSpPr>
        <p:spPr>
          <a:xfrm>
            <a:off x="3670681" y="2933522"/>
            <a:ext cx="4352100" cy="71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Machine Learning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28" descr="Object Detection with 10 lines of code | by Moses Olafenwa | Towards Data  Scienc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5275" y="445050"/>
            <a:ext cx="5080500" cy="3049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8" descr="Stock Price Prediction Mobile Application | Devpost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72550" y="1272504"/>
            <a:ext cx="5080500" cy="25984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8" descr="Using reinforcement-learning and q-learning to play snake | by Hugo Sjöberg  | Medium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97100" y="1587500"/>
            <a:ext cx="3294075" cy="3294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9"/>
          <p:cNvSpPr txBox="1">
            <a:spLocks noGrp="1"/>
          </p:cNvSpPr>
          <p:nvPr>
            <p:ph type="ctrTitle"/>
          </p:nvPr>
        </p:nvSpPr>
        <p:spPr>
          <a:xfrm>
            <a:off x="3385875" y="2098650"/>
            <a:ext cx="2372400" cy="94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150" name="Google Shape;150;p29"/>
          <p:cNvSpPr txBox="1">
            <a:spLocks noGrp="1"/>
          </p:cNvSpPr>
          <p:nvPr>
            <p:ph type="ctrTitle" idx="2"/>
          </p:nvPr>
        </p:nvSpPr>
        <p:spPr>
          <a:xfrm>
            <a:off x="390296" y="506453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Machine Learning?</a:t>
            </a:r>
            <a:endParaRPr/>
          </a:p>
        </p:txBody>
      </p:sp>
      <p:sp>
        <p:nvSpPr>
          <p:cNvPr id="151" name="Google Shape;151;p29"/>
          <p:cNvSpPr txBox="1">
            <a:spLocks noGrp="1"/>
          </p:cNvSpPr>
          <p:nvPr>
            <p:ph type="title" idx="3"/>
          </p:nvPr>
        </p:nvSpPr>
        <p:spPr>
          <a:xfrm>
            <a:off x="2118448" y="54444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52" name="Google Shape;152;p29"/>
          <p:cNvSpPr txBox="1">
            <a:spLocks noGrp="1"/>
          </p:cNvSpPr>
          <p:nvPr>
            <p:ph type="title" idx="4"/>
          </p:nvPr>
        </p:nvSpPr>
        <p:spPr>
          <a:xfrm>
            <a:off x="2105406" y="151580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53" name="Google Shape;153;p29"/>
          <p:cNvSpPr txBox="1">
            <a:spLocks noGrp="1"/>
          </p:cNvSpPr>
          <p:nvPr>
            <p:ph type="title" idx="5"/>
          </p:nvPr>
        </p:nvSpPr>
        <p:spPr>
          <a:xfrm>
            <a:off x="2105406" y="248716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54" name="Google Shape;154;p29"/>
          <p:cNvSpPr txBox="1">
            <a:spLocks noGrp="1"/>
          </p:cNvSpPr>
          <p:nvPr>
            <p:ph type="title" idx="6"/>
          </p:nvPr>
        </p:nvSpPr>
        <p:spPr>
          <a:xfrm>
            <a:off x="5922008" y="2092638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55" name="Google Shape;155;p29"/>
          <p:cNvSpPr txBox="1">
            <a:spLocks noGrp="1"/>
          </p:cNvSpPr>
          <p:nvPr>
            <p:ph type="title" idx="7"/>
          </p:nvPr>
        </p:nvSpPr>
        <p:spPr>
          <a:xfrm>
            <a:off x="5922008" y="3112336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sp>
        <p:nvSpPr>
          <p:cNvPr id="156" name="Google Shape;156;p29"/>
          <p:cNvSpPr txBox="1">
            <a:spLocks noGrp="1"/>
          </p:cNvSpPr>
          <p:nvPr>
            <p:ph type="ctrTitle" idx="9"/>
          </p:nvPr>
        </p:nvSpPr>
        <p:spPr>
          <a:xfrm>
            <a:off x="390296" y="1472654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 of the Course</a:t>
            </a:r>
            <a:endParaRPr/>
          </a:p>
        </p:txBody>
      </p:sp>
      <p:sp>
        <p:nvSpPr>
          <p:cNvPr id="157" name="Google Shape;157;p29"/>
          <p:cNvSpPr txBox="1">
            <a:spLocks noGrp="1"/>
          </p:cNvSpPr>
          <p:nvPr>
            <p:ph type="ctrTitle" idx="14"/>
          </p:nvPr>
        </p:nvSpPr>
        <p:spPr>
          <a:xfrm>
            <a:off x="390296" y="2446136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Kaggle Overview</a:t>
            </a:r>
            <a:endParaRPr/>
          </a:p>
        </p:txBody>
      </p:sp>
      <p:sp>
        <p:nvSpPr>
          <p:cNvPr id="158" name="Google Shape;158;p29"/>
          <p:cNvSpPr txBox="1">
            <a:spLocks noGrp="1"/>
          </p:cNvSpPr>
          <p:nvPr>
            <p:ph type="ctrTitle" idx="16"/>
          </p:nvPr>
        </p:nvSpPr>
        <p:spPr>
          <a:xfrm>
            <a:off x="6811558" y="2003780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Overview</a:t>
            </a:r>
            <a:endParaRPr/>
          </a:p>
        </p:txBody>
      </p:sp>
      <p:sp>
        <p:nvSpPr>
          <p:cNvPr id="159" name="Google Shape;159;p29"/>
          <p:cNvSpPr txBox="1">
            <a:spLocks noGrp="1"/>
          </p:cNvSpPr>
          <p:nvPr>
            <p:ph type="ctrTitle" idx="18"/>
          </p:nvPr>
        </p:nvSpPr>
        <p:spPr>
          <a:xfrm>
            <a:off x="6811558" y="3027695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Jupyter Notebook &amp; Google Colab  Setup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0"/>
          <p:cNvSpPr txBox="1">
            <a:spLocks noGrp="1"/>
          </p:cNvSpPr>
          <p:nvPr>
            <p:ph type="ctrTitle"/>
          </p:nvPr>
        </p:nvSpPr>
        <p:spPr>
          <a:xfrm flipH="1">
            <a:off x="1147575" y="3164525"/>
            <a:ext cx="434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Machine Learning?</a:t>
            </a:r>
            <a:endParaRPr/>
          </a:p>
        </p:txBody>
      </p:sp>
      <p:sp>
        <p:nvSpPr>
          <p:cNvPr id="165" name="Google Shape;165;p30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1"/>
          <p:cNvSpPr txBox="1">
            <a:spLocks noGrp="1"/>
          </p:cNvSpPr>
          <p:nvPr>
            <p:ph type="ctrTitle"/>
          </p:nvPr>
        </p:nvSpPr>
        <p:spPr>
          <a:xfrm>
            <a:off x="1645200" y="352850"/>
            <a:ext cx="58536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Broad discussion of Machine Learning</a:t>
            </a:r>
            <a:endParaRPr/>
          </a:p>
        </p:txBody>
      </p:sp>
      <p:sp>
        <p:nvSpPr>
          <p:cNvPr id="171" name="Google Shape;171;p31"/>
          <p:cNvSpPr/>
          <p:nvPr/>
        </p:nvSpPr>
        <p:spPr>
          <a:xfrm>
            <a:off x="1777950" y="1299050"/>
            <a:ext cx="5588100" cy="7806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Data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172" name="Google Shape;172;p31"/>
          <p:cNvSpPr/>
          <p:nvPr/>
        </p:nvSpPr>
        <p:spPr>
          <a:xfrm>
            <a:off x="1777950" y="2663650"/>
            <a:ext cx="5588100" cy="760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chemeClr val="dk1"/>
                </a:solidFill>
                <a:latin typeface="Exo 2"/>
                <a:ea typeface="Exo 2"/>
                <a:cs typeface="Exo 2"/>
                <a:sym typeface="Exo 2"/>
              </a:rPr>
              <a:t>Machine Learning</a:t>
            </a:r>
            <a:endParaRPr b="1"/>
          </a:p>
        </p:txBody>
      </p:sp>
      <p:sp>
        <p:nvSpPr>
          <p:cNvPr id="173" name="Google Shape;173;p31"/>
          <p:cNvSpPr/>
          <p:nvPr/>
        </p:nvSpPr>
        <p:spPr>
          <a:xfrm>
            <a:off x="1777950" y="4008450"/>
            <a:ext cx="5588100" cy="7197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Predictions, Patterns, and Actions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174" name="Google Shape;174;p31"/>
          <p:cNvCxnSpPr>
            <a:stCxn id="171" idx="2"/>
            <a:endCxn id="172" idx="0"/>
          </p:cNvCxnSpPr>
          <p:nvPr/>
        </p:nvCxnSpPr>
        <p:spPr>
          <a:xfrm>
            <a:off x="4572000" y="2079650"/>
            <a:ext cx="0" cy="5841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5" name="Google Shape;175;p31"/>
          <p:cNvCxnSpPr/>
          <p:nvPr/>
        </p:nvCxnSpPr>
        <p:spPr>
          <a:xfrm>
            <a:off x="4572000" y="3424450"/>
            <a:ext cx="0" cy="5841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>
            <a:spLocks noGrp="1"/>
          </p:cNvSpPr>
          <p:nvPr>
            <p:ph type="ctrTitle"/>
          </p:nvPr>
        </p:nvSpPr>
        <p:spPr>
          <a:xfrm>
            <a:off x="1964850" y="352850"/>
            <a:ext cx="5214300" cy="59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is ML Important?</a:t>
            </a:r>
            <a:endParaRPr/>
          </a:p>
        </p:txBody>
      </p:sp>
      <p:sp>
        <p:nvSpPr>
          <p:cNvPr id="181" name="Google Shape;181;p32"/>
          <p:cNvSpPr/>
          <p:nvPr/>
        </p:nvSpPr>
        <p:spPr>
          <a:xfrm>
            <a:off x="1777950" y="1299050"/>
            <a:ext cx="2794200" cy="7806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Spreading to Every Industry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82" name="Google Shape;182;p32"/>
          <p:cNvSpPr/>
          <p:nvPr/>
        </p:nvSpPr>
        <p:spPr>
          <a:xfrm>
            <a:off x="4572000" y="2079650"/>
            <a:ext cx="2607000" cy="7806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Fuels life-saving research</a:t>
            </a:r>
            <a:endParaRPr dirty="0">
              <a:solidFill>
                <a:schemeClr val="accent1"/>
              </a:solidFill>
            </a:endParaRPr>
          </a:p>
        </p:txBody>
      </p:sp>
      <p:pic>
        <p:nvPicPr>
          <p:cNvPr id="183" name="Google Shape;183;p32" descr="Herbert A. Simon - The Simon Initiative - Carnegie Mellon University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41575" y="2790800"/>
            <a:ext cx="1381125" cy="2066925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32"/>
          <p:cNvSpPr/>
          <p:nvPr/>
        </p:nvSpPr>
        <p:spPr>
          <a:xfrm>
            <a:off x="3954450" y="3405436"/>
            <a:ext cx="4054500" cy="14523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“...I don't believe that predicting the future is really what [machine learning is] about. We… are going to be a part of the future. So... our task isn't to predict it. It is to design it...”</a:t>
            </a:r>
            <a:endParaRPr i="1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  <a:p>
            <a:pPr marL="457200" lvl="0" indent="-31750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Exo 2"/>
              <a:buChar char="-"/>
            </a:pPr>
            <a:r>
              <a:rPr lang="en" i="1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Herb Simon</a:t>
            </a:r>
            <a:endParaRPr i="1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185" name="Google Shape;185;p32"/>
          <p:cNvSpPr/>
          <p:nvPr/>
        </p:nvSpPr>
        <p:spPr>
          <a:xfrm>
            <a:off x="1664400" y="1967344"/>
            <a:ext cx="5650800" cy="1501255"/>
          </a:xfrm>
          <a:prstGeom prst="flowChartAlternateProcess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5"/>
                </a:solidFill>
                <a:latin typeface="Exo 2"/>
                <a:ea typeface="Exo 2"/>
                <a:cs typeface="Exo 2"/>
                <a:sym typeface="Exo 2"/>
              </a:rPr>
              <a:t>Anyone can learn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3"/>
          <p:cNvSpPr txBox="1">
            <a:spLocks noGrp="1"/>
          </p:cNvSpPr>
          <p:nvPr>
            <p:ph type="ctrTitle"/>
          </p:nvPr>
        </p:nvSpPr>
        <p:spPr>
          <a:xfrm flipH="1">
            <a:off x="1147575" y="3164525"/>
            <a:ext cx="434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Goals of the course</a:t>
            </a:r>
            <a:endParaRPr/>
          </a:p>
        </p:txBody>
      </p:sp>
      <p:sp>
        <p:nvSpPr>
          <p:cNvPr id="191" name="Google Shape;191;p33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4"/>
          <p:cNvSpPr txBox="1">
            <a:spLocks noGrp="1"/>
          </p:cNvSpPr>
          <p:nvPr>
            <p:ph type="ctrTitle"/>
          </p:nvPr>
        </p:nvSpPr>
        <p:spPr>
          <a:xfrm>
            <a:off x="1645200" y="352850"/>
            <a:ext cx="58536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outcomes:</a:t>
            </a:r>
            <a:endParaRPr/>
          </a:p>
        </p:txBody>
      </p:sp>
      <p:sp>
        <p:nvSpPr>
          <p:cNvPr id="197" name="Google Shape;197;p34"/>
          <p:cNvSpPr/>
          <p:nvPr/>
        </p:nvSpPr>
        <p:spPr>
          <a:xfrm>
            <a:off x="1254325" y="1299050"/>
            <a:ext cx="2762100" cy="7806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Theory and Fundamentals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98" name="Google Shape;198;p34"/>
          <p:cNvSpPr/>
          <p:nvPr/>
        </p:nvSpPr>
        <p:spPr>
          <a:xfrm>
            <a:off x="5127675" y="1308950"/>
            <a:ext cx="2762100" cy="760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Practical Implementation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199" name="Google Shape;199;p34"/>
          <p:cNvSpPr/>
          <p:nvPr/>
        </p:nvSpPr>
        <p:spPr>
          <a:xfrm>
            <a:off x="1777950" y="2503900"/>
            <a:ext cx="5588100" cy="7197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Build your first ML application/Submit your first competition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00" name="Google Shape;200;p34"/>
          <p:cNvCxnSpPr>
            <a:stCxn id="197" idx="3"/>
            <a:endCxn id="198" idx="1"/>
          </p:cNvCxnSpPr>
          <p:nvPr/>
        </p:nvCxnSpPr>
        <p:spPr>
          <a:xfrm>
            <a:off x="4016425" y="1689350"/>
            <a:ext cx="1111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201" name="Google Shape;201;p34"/>
          <p:cNvCxnSpPr/>
          <p:nvPr/>
        </p:nvCxnSpPr>
        <p:spPr>
          <a:xfrm>
            <a:off x="4564075" y="1698625"/>
            <a:ext cx="7800" cy="8055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5"/>
          <p:cNvSpPr txBox="1">
            <a:spLocks noGrp="1"/>
          </p:cNvSpPr>
          <p:nvPr>
            <p:ph type="ctrTitle"/>
          </p:nvPr>
        </p:nvSpPr>
        <p:spPr>
          <a:xfrm flipH="1">
            <a:off x="1147575" y="3164525"/>
            <a:ext cx="434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Kaggle Overview</a:t>
            </a:r>
            <a:endParaRPr/>
          </a:p>
        </p:txBody>
      </p:sp>
      <p:sp>
        <p:nvSpPr>
          <p:cNvPr id="207" name="Google Shape;207;p35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6"/>
          <p:cNvSpPr txBox="1">
            <a:spLocks noGrp="1"/>
          </p:cNvSpPr>
          <p:nvPr>
            <p:ph type="body" idx="1"/>
          </p:nvPr>
        </p:nvSpPr>
        <p:spPr>
          <a:xfrm>
            <a:off x="1388550" y="1249950"/>
            <a:ext cx="6366900" cy="264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Most used platform for data scientists and ML enthusiasts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Features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Data Sets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Forums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Code sharing (“Kernels”)</a:t>
            </a:r>
            <a:endParaRPr sz="180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 Condensed"/>
              <a:buChar char="○"/>
            </a:pPr>
            <a:r>
              <a:rPr lang="en" sz="1800" b="1">
                <a:latin typeface="Roboto Condensed"/>
                <a:ea typeface="Roboto Condensed"/>
                <a:cs typeface="Roboto Condensed"/>
                <a:sym typeface="Roboto Condensed"/>
              </a:rPr>
              <a:t>Competitions</a:t>
            </a:r>
            <a:endParaRPr sz="1800"/>
          </a:p>
        </p:txBody>
      </p:sp>
      <p:sp>
        <p:nvSpPr>
          <p:cNvPr id="213" name="Google Shape;213;p36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Kaggle?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7"/>
          <p:cNvSpPr txBox="1">
            <a:spLocks noGrp="1"/>
          </p:cNvSpPr>
          <p:nvPr>
            <p:ph type="body" idx="1"/>
          </p:nvPr>
        </p:nvSpPr>
        <p:spPr>
          <a:xfrm>
            <a:off x="1388550" y="1249950"/>
            <a:ext cx="6366900" cy="3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dirty="0"/>
              <a:t>For novices learners or PhD’s alike to work on real world data and improve skills</a:t>
            </a:r>
            <a:endParaRPr sz="18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dirty="0"/>
              <a:t>Types of competitions</a:t>
            </a:r>
            <a:endParaRPr sz="18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 dirty="0"/>
              <a:t>Novice Competitions</a:t>
            </a:r>
            <a:endParaRPr sz="18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 dirty="0"/>
              <a:t>Prize Competitions</a:t>
            </a:r>
            <a:endParaRPr sz="1800" dirty="0"/>
          </a:p>
          <a:p>
            <a:pPr marL="1371600" lvl="2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■"/>
            </a:pPr>
            <a:r>
              <a:rPr lang="en" sz="1800" dirty="0"/>
              <a:t>Often award $$$</a:t>
            </a:r>
            <a:endParaRPr sz="18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dirty="0"/>
              <a:t>Awards can be useful for internship / job applications</a:t>
            </a:r>
            <a:endParaRPr sz="1800" dirty="0"/>
          </a:p>
          <a:p>
            <a:pPr marL="0" lvl="0" indent="457200" algn="ctr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800" dirty="0"/>
              <a:t>Competitions can be </a:t>
            </a:r>
            <a:r>
              <a:rPr lang="en" sz="1800" b="1" dirty="0">
                <a:latin typeface="Roboto Condensed"/>
                <a:ea typeface="Roboto Condensed"/>
                <a:cs typeface="Roboto Condensed"/>
                <a:sym typeface="Roboto Condensed"/>
              </a:rPr>
              <a:t>hard</a:t>
            </a:r>
            <a:r>
              <a:rPr lang="en" sz="1800" dirty="0"/>
              <a:t>. Most people don’t end up finishing their first submission.</a:t>
            </a:r>
            <a:endParaRPr sz="1800" b="1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19" name="Google Shape;219;p37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Kaggle Competitions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8"/>
          <p:cNvSpPr txBox="1">
            <a:spLocks noGrp="1"/>
          </p:cNvSpPr>
          <p:nvPr>
            <p:ph type="ctrTitle"/>
          </p:nvPr>
        </p:nvSpPr>
        <p:spPr>
          <a:xfrm flipH="1">
            <a:off x="1147575" y="3164525"/>
            <a:ext cx="434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Overview</a:t>
            </a:r>
            <a:endParaRPr/>
          </a:p>
        </p:txBody>
      </p:sp>
      <p:sp>
        <p:nvSpPr>
          <p:cNvPr id="225" name="Google Shape;225;p38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9"/>
          <p:cNvSpPr txBox="1">
            <a:spLocks noGrp="1"/>
          </p:cNvSpPr>
          <p:nvPr>
            <p:ph type="ctrTitle"/>
          </p:nvPr>
        </p:nvSpPr>
        <p:spPr>
          <a:xfrm>
            <a:off x="1645200" y="352850"/>
            <a:ext cx="58536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Course Overview:</a:t>
            </a:r>
            <a:endParaRPr dirty="0"/>
          </a:p>
        </p:txBody>
      </p:sp>
      <p:sp>
        <p:nvSpPr>
          <p:cNvPr id="231" name="Google Shape;231;p39"/>
          <p:cNvSpPr/>
          <p:nvPr/>
        </p:nvSpPr>
        <p:spPr>
          <a:xfrm>
            <a:off x="662850" y="129905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1.1 - Python Review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2" name="Google Shape;232;p39"/>
          <p:cNvSpPr/>
          <p:nvPr/>
        </p:nvSpPr>
        <p:spPr>
          <a:xfrm>
            <a:off x="2684776" y="130915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" sz="1200" dirty="0">
                <a:solidFill>
                  <a:schemeClr val="accent1"/>
                </a:solidFill>
                <a:latin typeface="Exo 2"/>
              </a:rPr>
              <a:t>1.2 - Numpy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33" name="Google Shape;233;p39"/>
          <p:cNvCxnSpPr>
            <a:stCxn id="231" idx="3"/>
            <a:endCxn id="232" idx="1"/>
          </p:cNvCxnSpPr>
          <p:nvPr/>
        </p:nvCxnSpPr>
        <p:spPr>
          <a:xfrm>
            <a:off x="2224650" y="1697300"/>
            <a:ext cx="460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39"/>
          <p:cNvSpPr/>
          <p:nvPr/>
        </p:nvSpPr>
        <p:spPr>
          <a:xfrm>
            <a:off x="4681975" y="129895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1.3 - Pandas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5" name="Google Shape;235;p39"/>
          <p:cNvSpPr/>
          <p:nvPr/>
        </p:nvSpPr>
        <p:spPr>
          <a:xfrm>
            <a:off x="6679176" y="130925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</a:rPr>
              <a:t>1.4 - Seaborn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36" name="Google Shape;236;p39"/>
          <p:cNvCxnSpPr>
            <a:stCxn id="234" idx="3"/>
            <a:endCxn id="235" idx="1"/>
          </p:cNvCxnSpPr>
          <p:nvPr/>
        </p:nvCxnSpPr>
        <p:spPr>
          <a:xfrm>
            <a:off x="6243775" y="169720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7" name="Google Shape;237;p39"/>
          <p:cNvCxnSpPr/>
          <p:nvPr/>
        </p:nvCxnSpPr>
        <p:spPr>
          <a:xfrm>
            <a:off x="4234250" y="169730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8" name="Google Shape;238;p39"/>
          <p:cNvSpPr/>
          <p:nvPr/>
        </p:nvSpPr>
        <p:spPr>
          <a:xfrm>
            <a:off x="662850" y="23880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2.1 - ML Intro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9" name="Google Shape;239;p39"/>
          <p:cNvSpPr/>
          <p:nvPr/>
        </p:nvSpPr>
        <p:spPr>
          <a:xfrm>
            <a:off x="1985500" y="23981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</a:rPr>
              <a:t>2.2 - Linear Regression</a:t>
            </a:r>
            <a:endParaRPr sz="11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40" name="Google Shape;240;p39"/>
          <p:cNvCxnSpPr>
            <a:stCxn id="238" idx="3"/>
            <a:endCxn id="239" idx="1"/>
          </p:cNvCxnSpPr>
          <p:nvPr/>
        </p:nvCxnSpPr>
        <p:spPr>
          <a:xfrm>
            <a:off x="1684350" y="2786325"/>
            <a:ext cx="301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1" name="Google Shape;241;p39"/>
          <p:cNvSpPr/>
          <p:nvPr/>
        </p:nvSpPr>
        <p:spPr>
          <a:xfrm>
            <a:off x="3287163" y="23879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2.3 - Logistic Regression</a:t>
            </a:r>
            <a:endParaRPr sz="1100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42" name="Google Shape;242;p39"/>
          <p:cNvSpPr/>
          <p:nvPr/>
        </p:nvSpPr>
        <p:spPr>
          <a:xfrm>
            <a:off x="4593637" y="23982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" sz="1100" dirty="0">
                <a:solidFill>
                  <a:schemeClr val="accent1"/>
                </a:solidFill>
                <a:latin typeface="Exo 2"/>
              </a:rPr>
              <a:t>2.4 -</a:t>
            </a:r>
            <a:r>
              <a:rPr lang="de-DE" sz="1100" dirty="0" err="1">
                <a:solidFill>
                  <a:schemeClr val="accent1"/>
                </a:solidFill>
                <a:latin typeface="Exo 2"/>
              </a:rPr>
              <a:t>Naïve</a:t>
            </a:r>
            <a:r>
              <a:rPr lang="de-DE" sz="1100" dirty="0">
                <a:solidFill>
                  <a:schemeClr val="accent1"/>
                </a:solidFill>
                <a:latin typeface="Exo 2"/>
              </a:rPr>
              <a:t> Bayes </a:t>
            </a:r>
            <a:r>
              <a:rPr lang="de-DE" sz="1100" dirty="0" err="1">
                <a:solidFill>
                  <a:schemeClr val="accent1"/>
                </a:solidFill>
                <a:latin typeface="Exo 2"/>
              </a:rPr>
              <a:t>Classifier</a:t>
            </a:r>
            <a:endParaRPr sz="11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43" name="Google Shape;243;p39"/>
          <p:cNvCxnSpPr>
            <a:stCxn id="241" idx="3"/>
            <a:endCxn id="242" idx="1"/>
          </p:cNvCxnSpPr>
          <p:nvPr/>
        </p:nvCxnSpPr>
        <p:spPr>
          <a:xfrm>
            <a:off x="4308663" y="2786225"/>
            <a:ext cx="284974" cy="1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4" name="Google Shape;244;p39"/>
          <p:cNvCxnSpPr/>
          <p:nvPr/>
        </p:nvCxnSpPr>
        <p:spPr>
          <a:xfrm>
            <a:off x="2999078" y="278632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5" name="Google Shape;245;p39"/>
          <p:cNvSpPr/>
          <p:nvPr/>
        </p:nvSpPr>
        <p:spPr>
          <a:xfrm>
            <a:off x="7211180" y="2367574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  <a:sym typeface="Exo 2"/>
              </a:rPr>
              <a:t>2.6 - Decision Trees</a:t>
            </a:r>
            <a:endParaRPr sz="11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cxnSp>
        <p:nvCxnSpPr>
          <p:cNvPr id="247" name="Google Shape;247;p39"/>
          <p:cNvCxnSpPr>
            <a:cxnSpLocks/>
          </p:cNvCxnSpPr>
          <p:nvPr/>
        </p:nvCxnSpPr>
        <p:spPr>
          <a:xfrm>
            <a:off x="6926180" y="2770549"/>
            <a:ext cx="2850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8" name="Google Shape;248;p39"/>
          <p:cNvCxnSpPr>
            <a:cxnSpLocks/>
          </p:cNvCxnSpPr>
          <p:nvPr/>
        </p:nvCxnSpPr>
        <p:spPr>
          <a:xfrm>
            <a:off x="5619980" y="279662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9" name="Google Shape;249;p39"/>
          <p:cNvSpPr/>
          <p:nvPr/>
        </p:nvSpPr>
        <p:spPr>
          <a:xfrm>
            <a:off x="662875" y="3487200"/>
            <a:ext cx="1462746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3.1 – Ensembling Learning</a:t>
            </a:r>
            <a:endParaRPr sz="1200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cxnSp>
        <p:nvCxnSpPr>
          <p:cNvPr id="251" name="Google Shape;251;p39"/>
          <p:cNvCxnSpPr>
            <a:cxnSpLocks/>
            <a:stCxn id="249" idx="3"/>
          </p:cNvCxnSpPr>
          <p:nvPr/>
        </p:nvCxnSpPr>
        <p:spPr>
          <a:xfrm flipV="1">
            <a:off x="2125621" y="3883468"/>
            <a:ext cx="329129" cy="1982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39"/>
          <p:cNvSpPr/>
          <p:nvPr/>
        </p:nvSpPr>
        <p:spPr>
          <a:xfrm>
            <a:off x="3889561" y="3495418"/>
            <a:ext cx="194468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strike="sngStrike" dirty="0">
                <a:solidFill>
                  <a:schemeClr val="accent1"/>
                </a:solidFill>
                <a:latin typeface="Exo 2"/>
              </a:rPr>
              <a:t>4</a:t>
            </a:r>
            <a:r>
              <a:rPr lang="en" sz="1200" strike="sngStrike" dirty="0">
                <a:solidFill>
                  <a:schemeClr val="accent1"/>
                </a:solidFill>
                <a:latin typeface="Exo 2"/>
              </a:rPr>
              <a:t>.* - Natural Language Processing (NLP)</a:t>
            </a:r>
            <a:endParaRPr sz="1200" strike="sngStrike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53" name="Google Shape;253;p39"/>
          <p:cNvCxnSpPr>
            <a:cxnSpLocks/>
          </p:cNvCxnSpPr>
          <p:nvPr/>
        </p:nvCxnSpPr>
        <p:spPr>
          <a:xfrm flipV="1">
            <a:off x="3512022" y="3885450"/>
            <a:ext cx="370594" cy="101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7CE7875C-AF3A-C2C2-F19E-141096FF1EEF}"/>
              </a:ext>
            </a:extLst>
          </p:cNvPr>
          <p:cNvCxnSpPr>
            <a:cxnSpLocks/>
          </p:cNvCxnSpPr>
          <p:nvPr/>
        </p:nvCxnSpPr>
        <p:spPr>
          <a:xfrm rot="5400000">
            <a:off x="4576588" y="302261"/>
            <a:ext cx="302525" cy="60044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Google Shape;242;p39">
            <a:extLst>
              <a:ext uri="{FF2B5EF4-FFF2-40B4-BE49-F238E27FC236}">
                <a16:creationId xmlns:a16="http://schemas.microsoft.com/office/drawing/2014/main" id="{C367036A-0937-2BA9-B3D7-B66F206EBDE5}"/>
              </a:ext>
            </a:extLst>
          </p:cNvPr>
          <p:cNvSpPr/>
          <p:nvPr/>
        </p:nvSpPr>
        <p:spPr>
          <a:xfrm>
            <a:off x="5899893" y="2387974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 algn="ctr">
              <a:buFont typeface="Arial"/>
              <a:buNone/>
            </a:pPr>
            <a:r>
              <a:rPr lang="en" sz="1100" strike="sngStrike" dirty="0">
                <a:solidFill>
                  <a:schemeClr val="accent1"/>
                </a:solidFill>
                <a:latin typeface="Exo 2"/>
              </a:rPr>
              <a:t>2.5 - KNN</a:t>
            </a:r>
            <a:endParaRPr sz="1100" strike="sngStrike" dirty="0">
              <a:solidFill>
                <a:schemeClr val="accent1"/>
              </a:solidFill>
              <a:latin typeface="Exo 2"/>
            </a:endParaRPr>
          </a:p>
        </p:txBody>
      </p:sp>
      <p:sp>
        <p:nvSpPr>
          <p:cNvPr id="11" name="Google Shape;246;p39"/>
          <p:cNvSpPr/>
          <p:nvPr/>
        </p:nvSpPr>
        <p:spPr>
          <a:xfrm>
            <a:off x="2484398" y="3497801"/>
            <a:ext cx="1021500" cy="771335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" sz="1200" strike="sngStrike" dirty="0">
                <a:solidFill>
                  <a:schemeClr val="accent1"/>
                </a:solidFill>
                <a:latin typeface="Exo 2"/>
              </a:rPr>
              <a:t>3.2 - Neural Networks</a:t>
            </a:r>
            <a:endParaRPr sz="1200" strike="sngStrike" dirty="0">
              <a:solidFill>
                <a:schemeClr val="accent1"/>
              </a:solidFill>
              <a:latin typeface="Exo 2"/>
            </a:endParaRPr>
          </a:p>
        </p:txBody>
      </p:sp>
      <p:sp>
        <p:nvSpPr>
          <p:cNvPr id="15" name="Google Shape;250;p39"/>
          <p:cNvSpPr/>
          <p:nvPr/>
        </p:nvSpPr>
        <p:spPr>
          <a:xfrm>
            <a:off x="6215053" y="3487163"/>
            <a:ext cx="2125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</a:rPr>
              <a:t>5.* Competition Tips &amp; Final Thoughts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9" name="Google Shape;253;p39">
            <a:extLst>
              <a:ext uri="{FF2B5EF4-FFF2-40B4-BE49-F238E27FC236}">
                <a16:creationId xmlns:a16="http://schemas.microsoft.com/office/drawing/2014/main" id="{83D54D0B-E89E-5AFB-7532-752D8B42179B}"/>
              </a:ext>
            </a:extLst>
          </p:cNvPr>
          <p:cNvCxnSpPr>
            <a:cxnSpLocks/>
          </p:cNvCxnSpPr>
          <p:nvPr/>
        </p:nvCxnSpPr>
        <p:spPr>
          <a:xfrm flipV="1">
            <a:off x="5847310" y="3908621"/>
            <a:ext cx="370594" cy="101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9"/>
          <p:cNvSpPr txBox="1">
            <a:spLocks noGrp="1"/>
          </p:cNvSpPr>
          <p:nvPr>
            <p:ph type="ctrTitle"/>
          </p:nvPr>
        </p:nvSpPr>
        <p:spPr>
          <a:xfrm>
            <a:off x="1645200" y="352850"/>
            <a:ext cx="58536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Course Overview:</a:t>
            </a:r>
            <a:endParaRPr dirty="0"/>
          </a:p>
        </p:txBody>
      </p:sp>
      <p:sp>
        <p:nvSpPr>
          <p:cNvPr id="231" name="Google Shape;231;p39"/>
          <p:cNvSpPr/>
          <p:nvPr/>
        </p:nvSpPr>
        <p:spPr>
          <a:xfrm>
            <a:off x="662850" y="129905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1.1 - Python Review</a:t>
            </a:r>
            <a:endParaRPr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32" name="Google Shape;232;p39"/>
          <p:cNvSpPr/>
          <p:nvPr/>
        </p:nvSpPr>
        <p:spPr>
          <a:xfrm>
            <a:off x="2684776" y="130915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</a:rPr>
              <a:t>1.2 - Numpy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33" name="Google Shape;233;p39"/>
          <p:cNvCxnSpPr>
            <a:stCxn id="231" idx="3"/>
            <a:endCxn id="232" idx="1"/>
          </p:cNvCxnSpPr>
          <p:nvPr/>
        </p:nvCxnSpPr>
        <p:spPr>
          <a:xfrm>
            <a:off x="2224650" y="1697300"/>
            <a:ext cx="460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39"/>
          <p:cNvSpPr/>
          <p:nvPr/>
        </p:nvSpPr>
        <p:spPr>
          <a:xfrm>
            <a:off x="4681975" y="129895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1.3 - Pandas</a:t>
            </a:r>
            <a:endParaRPr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35" name="Google Shape;235;p39"/>
          <p:cNvSpPr/>
          <p:nvPr/>
        </p:nvSpPr>
        <p:spPr>
          <a:xfrm>
            <a:off x="6679176" y="130925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1.4 - Seaborn</a:t>
            </a:r>
            <a:endParaRPr>
              <a:solidFill>
                <a:schemeClr val="accent1"/>
              </a:solidFill>
            </a:endParaRPr>
          </a:p>
        </p:txBody>
      </p:sp>
      <p:cxnSp>
        <p:nvCxnSpPr>
          <p:cNvPr id="236" name="Google Shape;236;p39"/>
          <p:cNvCxnSpPr>
            <a:stCxn id="234" idx="3"/>
            <a:endCxn id="235" idx="1"/>
          </p:cNvCxnSpPr>
          <p:nvPr/>
        </p:nvCxnSpPr>
        <p:spPr>
          <a:xfrm>
            <a:off x="6243775" y="169720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7" name="Google Shape;237;p39"/>
          <p:cNvCxnSpPr/>
          <p:nvPr/>
        </p:nvCxnSpPr>
        <p:spPr>
          <a:xfrm>
            <a:off x="4234250" y="169730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8" name="Google Shape;238;p39"/>
          <p:cNvSpPr/>
          <p:nvPr/>
        </p:nvSpPr>
        <p:spPr>
          <a:xfrm>
            <a:off x="662850" y="23880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2.1 - ML Intro</a:t>
            </a:r>
            <a:endParaRPr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39" name="Google Shape;239;p39"/>
          <p:cNvSpPr/>
          <p:nvPr/>
        </p:nvSpPr>
        <p:spPr>
          <a:xfrm>
            <a:off x="1985500" y="23981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</a:rPr>
              <a:t>2.2 - Linear Regression</a:t>
            </a:r>
            <a:endParaRPr sz="1100">
              <a:solidFill>
                <a:schemeClr val="accent1"/>
              </a:solidFill>
            </a:endParaRPr>
          </a:p>
        </p:txBody>
      </p:sp>
      <p:cxnSp>
        <p:nvCxnSpPr>
          <p:cNvPr id="240" name="Google Shape;240;p39"/>
          <p:cNvCxnSpPr>
            <a:stCxn id="238" idx="3"/>
            <a:endCxn id="239" idx="1"/>
          </p:cNvCxnSpPr>
          <p:nvPr/>
        </p:nvCxnSpPr>
        <p:spPr>
          <a:xfrm>
            <a:off x="1684350" y="2786325"/>
            <a:ext cx="301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1" name="Google Shape;241;p39"/>
          <p:cNvSpPr/>
          <p:nvPr/>
        </p:nvSpPr>
        <p:spPr>
          <a:xfrm>
            <a:off x="3291950" y="23879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2.3 - Logistic Regression</a:t>
            </a:r>
            <a:endParaRPr sz="110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42" name="Google Shape;242;p39"/>
          <p:cNvSpPr/>
          <p:nvPr/>
        </p:nvSpPr>
        <p:spPr>
          <a:xfrm>
            <a:off x="4598424" y="23982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</a:rPr>
              <a:t>2.4 - K-NN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43" name="Google Shape;243;p39"/>
          <p:cNvCxnSpPr>
            <a:stCxn id="241" idx="3"/>
            <a:endCxn id="242" idx="1"/>
          </p:cNvCxnSpPr>
          <p:nvPr/>
        </p:nvCxnSpPr>
        <p:spPr>
          <a:xfrm>
            <a:off x="4313450" y="2786225"/>
            <a:ext cx="2850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4" name="Google Shape;244;p39"/>
          <p:cNvCxnSpPr/>
          <p:nvPr/>
        </p:nvCxnSpPr>
        <p:spPr>
          <a:xfrm>
            <a:off x="2999078" y="278632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5" name="Google Shape;245;p39"/>
          <p:cNvSpPr/>
          <p:nvPr/>
        </p:nvSpPr>
        <p:spPr>
          <a:xfrm>
            <a:off x="5912859" y="23982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2.5 - Decision Trees</a:t>
            </a:r>
            <a:endParaRPr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46" name="Google Shape;246;p39"/>
          <p:cNvSpPr/>
          <p:nvPr/>
        </p:nvSpPr>
        <p:spPr>
          <a:xfrm>
            <a:off x="7219327" y="24085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2.6 - Neural Networks</a:t>
            </a:r>
            <a:endParaRPr>
              <a:solidFill>
                <a:schemeClr val="accent1"/>
              </a:solidFill>
            </a:endParaRPr>
          </a:p>
        </p:txBody>
      </p:sp>
      <p:cxnSp>
        <p:nvCxnSpPr>
          <p:cNvPr id="247" name="Google Shape;247;p39"/>
          <p:cNvCxnSpPr>
            <a:stCxn id="245" idx="3"/>
            <a:endCxn id="246" idx="1"/>
          </p:cNvCxnSpPr>
          <p:nvPr/>
        </p:nvCxnSpPr>
        <p:spPr>
          <a:xfrm>
            <a:off x="6934359" y="2796525"/>
            <a:ext cx="2850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8" name="Google Shape;248;p39"/>
          <p:cNvCxnSpPr/>
          <p:nvPr/>
        </p:nvCxnSpPr>
        <p:spPr>
          <a:xfrm>
            <a:off x="5619980" y="279662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9" name="Google Shape;249;p39"/>
          <p:cNvSpPr/>
          <p:nvPr/>
        </p:nvSpPr>
        <p:spPr>
          <a:xfrm>
            <a:off x="662875" y="3487200"/>
            <a:ext cx="2125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3.1 – Ensembling Learning</a:t>
            </a:r>
            <a:endParaRPr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50" name="Google Shape;250;p39"/>
          <p:cNvSpPr/>
          <p:nvPr/>
        </p:nvSpPr>
        <p:spPr>
          <a:xfrm>
            <a:off x="3414446" y="3497300"/>
            <a:ext cx="2125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</a:rPr>
              <a:t>3.2 Competition Tips &amp; Final Thoughts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51" name="Google Shape;251;p39"/>
          <p:cNvCxnSpPr>
            <a:stCxn id="249" idx="3"/>
            <a:endCxn id="250" idx="1"/>
          </p:cNvCxnSpPr>
          <p:nvPr/>
        </p:nvCxnSpPr>
        <p:spPr>
          <a:xfrm>
            <a:off x="2788375" y="3885450"/>
            <a:ext cx="6261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39"/>
          <p:cNvSpPr/>
          <p:nvPr/>
        </p:nvSpPr>
        <p:spPr>
          <a:xfrm>
            <a:off x="6115425" y="3497600"/>
            <a:ext cx="2125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1"/>
                </a:solidFill>
              </a:rPr>
              <a:t>4.* - Natural Language Processing (NLP)</a:t>
            </a:r>
            <a:endParaRPr dirty="0">
              <a:solidFill>
                <a:schemeClr val="accent1"/>
              </a:solidFill>
            </a:endParaRPr>
          </a:p>
        </p:txBody>
      </p:sp>
      <p:cxnSp>
        <p:nvCxnSpPr>
          <p:cNvPr id="253" name="Google Shape;253;p39"/>
          <p:cNvCxnSpPr>
            <a:stCxn id="250" idx="3"/>
            <a:endCxn id="252" idx="1"/>
          </p:cNvCxnSpPr>
          <p:nvPr/>
        </p:nvCxnSpPr>
        <p:spPr>
          <a:xfrm>
            <a:off x="5539946" y="3885350"/>
            <a:ext cx="575400" cy="3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0"/>
          <p:cNvSpPr txBox="1">
            <a:spLocks noGrp="1"/>
          </p:cNvSpPr>
          <p:nvPr>
            <p:ph type="ctrTitle"/>
          </p:nvPr>
        </p:nvSpPr>
        <p:spPr>
          <a:xfrm flipH="1">
            <a:off x="1147575" y="3164524"/>
            <a:ext cx="5334868" cy="112172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Jupyter Notebook &amp; Google Colab Setup</a:t>
            </a:r>
            <a:endParaRPr dirty="0"/>
          </a:p>
        </p:txBody>
      </p:sp>
      <p:sp>
        <p:nvSpPr>
          <p:cNvPr id="259" name="Google Shape;259;p40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>
          <a:extLst>
            <a:ext uri="{FF2B5EF4-FFF2-40B4-BE49-F238E27FC236}">
              <a16:creationId xmlns:a16="http://schemas.microsoft.com/office/drawing/2014/main" id="{31FB04C3-AD69-AA41-FECB-C1BC04F42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0">
            <a:extLst>
              <a:ext uri="{FF2B5EF4-FFF2-40B4-BE49-F238E27FC236}">
                <a16:creationId xmlns:a16="http://schemas.microsoft.com/office/drawing/2014/main" id="{3CE5111C-011E-C009-BD7B-9187B5E6F0D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 flipH="1">
            <a:off x="1147575" y="3164524"/>
            <a:ext cx="5334868" cy="112172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Installing Jupyter NB @ Local Win Machine</a:t>
            </a:r>
            <a:endParaRPr dirty="0"/>
          </a:p>
        </p:txBody>
      </p:sp>
      <p:sp>
        <p:nvSpPr>
          <p:cNvPr id="259" name="Google Shape;259;p40">
            <a:extLst>
              <a:ext uri="{FF2B5EF4-FFF2-40B4-BE49-F238E27FC236}">
                <a16:creationId xmlns:a16="http://schemas.microsoft.com/office/drawing/2014/main" id="{3C316504-D8FF-BF55-AC04-94722E33DFD5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C0FA84-F0B7-BAA1-8571-7A2B551F31A1}"/>
              </a:ext>
            </a:extLst>
          </p:cNvPr>
          <p:cNvSpPr txBox="1"/>
          <p:nvPr/>
        </p:nvSpPr>
        <p:spPr>
          <a:xfrm>
            <a:off x="5364320" y="3905856"/>
            <a:ext cx="12471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chemeClr val="accent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WinPython</a:t>
            </a:r>
            <a:endParaRPr lang="de-DE" sz="160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4879296"/>
      </p:ext>
    </p:extLst>
  </p:cSld>
  <p:clrMapOvr>
    <a:masterClrMapping/>
  </p:clrMapOvr>
</p:sld>
</file>

<file path=ppt/theme/theme1.xml><?xml version="1.0" encoding="utf-8"?>
<a:theme xmlns:a="http://schemas.openxmlformats.org/drawingml/2006/main" name="Tech Newsletter by Slidesgo">
  <a:themeElements>
    <a:clrScheme name="Simple Light">
      <a:dk1>
        <a:srgbClr val="FFFFFF"/>
      </a:dk1>
      <a:lt1>
        <a:srgbClr val="0A3455"/>
      </a:lt1>
      <a:dk2>
        <a:srgbClr val="6EBDC4"/>
      </a:dk2>
      <a:lt2>
        <a:srgbClr val="416D90"/>
      </a:lt2>
      <a:accent1>
        <a:srgbClr val="B4EBF0"/>
      </a:accent1>
      <a:accent2>
        <a:srgbClr val="7CC5CC"/>
      </a:accent2>
      <a:accent3>
        <a:srgbClr val="61A6B5"/>
      </a:accent3>
      <a:accent4>
        <a:srgbClr val="548FA6"/>
      </a:accent4>
      <a:accent5>
        <a:srgbClr val="2E5F80"/>
      </a:accent5>
      <a:accent6>
        <a:srgbClr val="17436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388</Words>
  <Application>Microsoft Office PowerPoint</Application>
  <PresentationFormat>On-screen Show (16:9)</PresentationFormat>
  <Paragraphs>85</Paragraphs>
  <Slides>16</Slides>
  <Notes>16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Roboto Condensed</vt:lpstr>
      <vt:lpstr>Fira Sans Extra Condensed Medium</vt:lpstr>
      <vt:lpstr>Roboto Condensed Light</vt:lpstr>
      <vt:lpstr>Arial</vt:lpstr>
      <vt:lpstr>Exo 2</vt:lpstr>
      <vt:lpstr>Tech Newsletter by Slidesgo</vt:lpstr>
      <vt:lpstr>Intro to Course</vt:lpstr>
      <vt:lpstr>PowerPoint Presentation</vt:lpstr>
      <vt:lpstr>Table of Contents</vt:lpstr>
      <vt:lpstr>What is Machine Learning?</vt:lpstr>
      <vt:lpstr>Broad discussion of Machine Learning</vt:lpstr>
      <vt:lpstr>Why is ML Important?</vt:lpstr>
      <vt:lpstr>Goals of the course</vt:lpstr>
      <vt:lpstr>Course outcomes:</vt:lpstr>
      <vt:lpstr>Kaggle Overview</vt:lpstr>
      <vt:lpstr>What is Kaggle?</vt:lpstr>
      <vt:lpstr>Kaggle Competitions</vt:lpstr>
      <vt:lpstr>Course Overview</vt:lpstr>
      <vt:lpstr>Course Overview:</vt:lpstr>
      <vt:lpstr>Course Overview:</vt:lpstr>
      <vt:lpstr>Jupyter Notebook &amp; Google Colab Setup</vt:lpstr>
      <vt:lpstr>Installing Jupyter NB @ Local Win Machine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Course</dc:title>
  <cp:lastModifiedBy>Hamed, Osama</cp:lastModifiedBy>
  <cp:revision>28</cp:revision>
  <cp:lastPrinted>2025-10-07T07:59:05Z</cp:lastPrinted>
  <dcterms:modified xsi:type="dcterms:W3CDTF">2025-10-08T07:55:16Z</dcterms:modified>
</cp:coreProperties>
</file>