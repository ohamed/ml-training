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09" r:id="rId15"/>
    <p:sldId id="269" r:id="rId16"/>
    <p:sldId id="270" r:id="rId17"/>
  </p:sldIdLst>
  <p:sldSz cx="9144000" cy="5143500" type="screen16x9"/>
  <p:notesSz cx="6794500" cy="9931400"/>
  <p:embeddedFontLst>
    <p:embeddedFont>
      <p:font typeface="Exo 2" panose="020B0604020202020204" charset="0"/>
      <p:regular r:id="rId19"/>
      <p:bold r:id="rId20"/>
      <p:italic r:id="rId21"/>
      <p:boldItalic r:id="rId22"/>
    </p:embeddedFont>
    <p:embeddedFont>
      <p:font typeface="Fira Sans Extra Condensed Medium" panose="020B0604020202020204" charset="0"/>
      <p:regular r:id="rId23"/>
      <p:bold r:id="rId24"/>
      <p:italic r:id="rId25"/>
      <p:boldItalic r:id="rId26"/>
    </p:embeddedFont>
    <p:embeddedFont>
      <p:font typeface="Roboto Condensed" panose="02000000000000000000" pitchFamily="2" charset="0"/>
      <p:regular r:id="rId27"/>
      <p:bold r:id="rId28"/>
      <p:italic r:id="rId29"/>
      <p:boldItalic r:id="rId30"/>
    </p:embeddedFont>
    <p:embeddedFont>
      <p:font typeface="Roboto Condensed Light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athan Ka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tableStyles" Target="tableStyle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2db3e8363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2db3e8363_1_127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2db3e8363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2db3e8363_1_154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e2db3e8363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e2db3e8363_1_132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2db3e8363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2db3e8363_1_199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e2db3e8363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e2db3e8363_1_211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2db3e8363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2db3e8363_1_22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JO" dirty="0"/>
              <a:t>"لا أعتقد أن التنبؤ بالمستقبل هو فعلياً ما </a:t>
            </a:r>
            <a:r>
              <a:rPr lang="ar-JO"/>
              <a:t>يدور حول </a:t>
            </a:r>
            <a:r>
              <a:rPr lang="ar-JO" dirty="0"/>
              <a:t>[تعلم الآلة]. نحن… سوف نكون جزءاً من المستقبل. لذلك… مهمتنا ليست التنبؤ به، بل تصميمه."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e2db3e8363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e2db3e8363_1_234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e2db3e8363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e2db3e8363_1_239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e2db3e8363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e2db3e8363_1_248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e2db3e8363_1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e2db3e8363_1_25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e2db3e8363_1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e2db3e8363_1_26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e2db3e836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e2db3e8363_1_282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70150" y="560388"/>
            <a:ext cx="4987925" cy="28067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992909" y="3554441"/>
            <a:ext cx="7943274" cy="3367366"/>
          </a:xfrm>
          <a:prstGeom prst="rect">
            <a:avLst/>
          </a:prstGeom>
        </p:spPr>
        <p:txBody>
          <a:bodyPr spcFirstLastPara="1" wrap="square" lIns="96618" tIns="96618" rIns="96618" bIns="96618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F2B42E50-9873-60F8-1AB0-C7D041F39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>
            <a:extLst>
              <a:ext uri="{FF2B5EF4-FFF2-40B4-BE49-F238E27FC236}">
                <a16:creationId xmlns:a16="http://schemas.microsoft.com/office/drawing/2014/main" id="{BB6A4C22-FDFA-037C-F1FA-3714F6D386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>
            <a:extLst>
              <a:ext uri="{FF2B5EF4-FFF2-40B4-BE49-F238E27FC236}">
                <a16:creationId xmlns:a16="http://schemas.microsoft.com/office/drawing/2014/main" id="{83E3BD86-9C53-5D8F-EEC1-1993D6DC0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8531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263835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2459550" y="2314225"/>
            <a:ext cx="42249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CUSTOM_2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1600733" y="985228"/>
            <a:ext cx="26736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179233" y="3058425"/>
            <a:ext cx="30951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1932090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CUSTOM_2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086651" y="14751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3481677" y="1666454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2298451" y="2475350"/>
            <a:ext cx="17637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4568051" y="2688425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3353176" y="35136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5671490" y="3709941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CUSTOM_2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5616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872450" y="30904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32352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3462900" y="2036750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59088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6136500" y="3090475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2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464478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616128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077426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229076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3690375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3842025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3707117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3858772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5343519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5500261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6979921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7141750" y="3890201"/>
            <a:ext cx="14568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CUSTOM_2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1741950" y="2846700"/>
            <a:ext cx="12579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1741950" y="1650025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5633751" y="36353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5256958" y="2440056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USTOM_1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CUSTOM_2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2285760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2285760" y="1946292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2285760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2285760" y="3864823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5047297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5047299" y="1946292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5047297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5047299" y="3864823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2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USTOM_15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CUSTOM_15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CUSTOM_3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1698072" y="21784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914472" y="18666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2668872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CUSTOM_15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1974150" y="1161000"/>
            <a:ext cx="5195700" cy="136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152500" y="2494850"/>
            <a:ext cx="4839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625906" y="3722418"/>
            <a:ext cx="3830100" cy="17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0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9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gif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inpython.github.io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to Course</a:t>
            </a:r>
            <a:endParaRPr/>
          </a:p>
        </p:txBody>
      </p:sp>
      <p:sp>
        <p:nvSpPr>
          <p:cNvPr id="137" name="Google Shape;137;p27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8" descr="Object Detection with 10 lines of code | by Moses Olafenwa | Towards Data  Scienc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275" y="445050"/>
            <a:ext cx="5080500" cy="3049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8" descr="Stock Price Prediction Mobile Application | Devpos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2550" y="1272504"/>
            <a:ext cx="5080500" cy="2598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8" descr="Using reinforcement-learning and q-learning to play snake | by Hugo Sjöberg  | Medium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7100" y="1587500"/>
            <a:ext cx="3294075" cy="329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50" name="Google Shape;150;p29"/>
          <p:cNvSpPr txBox="1">
            <a:spLocks noGrp="1"/>
          </p:cNvSpPr>
          <p:nvPr>
            <p:ph type="ctrTitle" idx="2"/>
          </p:nvPr>
        </p:nvSpPr>
        <p:spPr>
          <a:xfrm>
            <a:off x="390296" y="506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2" name="Google Shape;152;p29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53" name="Google Shape;153;p29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title" idx="6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5" name="Google Shape;155;p29"/>
          <p:cNvSpPr txBox="1">
            <a:spLocks noGrp="1"/>
          </p:cNvSpPr>
          <p:nvPr>
            <p:ph type="title" idx="7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156" name="Google Shape;156;p29"/>
          <p:cNvSpPr txBox="1">
            <a:spLocks noGrp="1"/>
          </p:cNvSpPr>
          <p:nvPr>
            <p:ph type="ctrTitle" idx="9"/>
          </p:nvPr>
        </p:nvSpPr>
        <p:spPr>
          <a:xfrm>
            <a:off x="390296" y="14726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 of the Course</a:t>
            </a:r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ctrTitle" idx="14"/>
          </p:nvPr>
        </p:nvSpPr>
        <p:spPr>
          <a:xfrm>
            <a:off x="390296" y="24461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158" name="Google Shape;158;p29"/>
          <p:cNvSpPr txBox="1">
            <a:spLocks noGrp="1"/>
          </p:cNvSpPr>
          <p:nvPr>
            <p:ph type="ctrTitle" idx="16"/>
          </p:nvPr>
        </p:nvSpPr>
        <p:spPr>
          <a:xfrm>
            <a:off x="6811558" y="20037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159" name="Google Shape;159;p29"/>
          <p:cNvSpPr txBox="1">
            <a:spLocks noGrp="1"/>
          </p:cNvSpPr>
          <p:nvPr>
            <p:ph type="ctrTitle" idx="18"/>
          </p:nvPr>
        </p:nvSpPr>
        <p:spPr>
          <a:xfrm>
            <a:off x="6811558" y="30276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Colab  Setup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0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65" name="Google Shape;165;p3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discussion of Machine Learning</a:t>
            </a:r>
            <a:endParaRPr/>
          </a:p>
        </p:txBody>
      </p:sp>
      <p:sp>
        <p:nvSpPr>
          <p:cNvPr id="171" name="Google Shape;171;p31"/>
          <p:cNvSpPr/>
          <p:nvPr/>
        </p:nvSpPr>
        <p:spPr>
          <a:xfrm>
            <a:off x="1777950" y="1299050"/>
            <a:ext cx="5588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Data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72" name="Google Shape;172;p31"/>
          <p:cNvSpPr/>
          <p:nvPr/>
        </p:nvSpPr>
        <p:spPr>
          <a:xfrm>
            <a:off x="1777950" y="2663650"/>
            <a:ext cx="5588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rPr>
              <a:t>Machine Learning</a:t>
            </a:r>
            <a:endParaRPr b="1"/>
          </a:p>
        </p:txBody>
      </p:sp>
      <p:sp>
        <p:nvSpPr>
          <p:cNvPr id="173" name="Google Shape;173;p31"/>
          <p:cNvSpPr/>
          <p:nvPr/>
        </p:nvSpPr>
        <p:spPr>
          <a:xfrm>
            <a:off x="1777950" y="400845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Predictions, Patterns, and Actions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174" name="Google Shape;174;p31"/>
          <p:cNvCxnSpPr>
            <a:stCxn id="171" idx="2"/>
            <a:endCxn id="172" idx="0"/>
          </p:cNvCxnSpPr>
          <p:nvPr/>
        </p:nvCxnSpPr>
        <p:spPr>
          <a:xfrm>
            <a:off x="4572000" y="20796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31"/>
          <p:cNvCxnSpPr/>
          <p:nvPr/>
        </p:nvCxnSpPr>
        <p:spPr>
          <a:xfrm>
            <a:off x="4572000" y="34244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5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is ML Important?</a:t>
            </a:r>
            <a:endParaRPr/>
          </a:p>
        </p:txBody>
      </p:sp>
      <p:sp>
        <p:nvSpPr>
          <p:cNvPr id="181" name="Google Shape;181;p32"/>
          <p:cNvSpPr/>
          <p:nvPr/>
        </p:nvSpPr>
        <p:spPr>
          <a:xfrm>
            <a:off x="1777950" y="1299050"/>
            <a:ext cx="27942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Spreading to Every Industry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4572000" y="2079650"/>
            <a:ext cx="26070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Fuels life-saving research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183" name="Google Shape;183;p32" descr="Herbert A. Simon - The Simon Initiative - Carnegie Mellon Universit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75" y="2790800"/>
            <a:ext cx="1381125" cy="20669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2"/>
          <p:cNvSpPr/>
          <p:nvPr/>
        </p:nvSpPr>
        <p:spPr>
          <a:xfrm>
            <a:off x="3954450" y="3405436"/>
            <a:ext cx="4054500" cy="14523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“...I don't believe that predicting the future is really what [machine learning is] about. We… are going to be a part of the future. So... our task isn't to predict it. It is to design it...”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Exo 2"/>
              <a:buChar char="-"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Herb Simon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85" name="Google Shape;185;p32"/>
          <p:cNvSpPr/>
          <p:nvPr/>
        </p:nvSpPr>
        <p:spPr>
          <a:xfrm>
            <a:off x="1664400" y="1967344"/>
            <a:ext cx="5650800" cy="1501255"/>
          </a:xfrm>
          <a:prstGeom prst="flowChartAlternateProcess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Exo 2"/>
                <a:ea typeface="Exo 2"/>
                <a:cs typeface="Exo 2"/>
                <a:sym typeface="Exo 2"/>
              </a:rPr>
              <a:t>Anyone can learn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the course</a:t>
            </a:r>
            <a:endParaRPr/>
          </a:p>
        </p:txBody>
      </p:sp>
      <p:sp>
        <p:nvSpPr>
          <p:cNvPr id="191" name="Google Shape;191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outcomes:</a:t>
            </a:r>
            <a:endParaRPr/>
          </a:p>
        </p:txBody>
      </p:sp>
      <p:sp>
        <p:nvSpPr>
          <p:cNvPr id="197" name="Google Shape;197;p34"/>
          <p:cNvSpPr/>
          <p:nvPr/>
        </p:nvSpPr>
        <p:spPr>
          <a:xfrm>
            <a:off x="1254325" y="1299050"/>
            <a:ext cx="2762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Theory and Fundamentals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8" name="Google Shape;198;p34"/>
          <p:cNvSpPr/>
          <p:nvPr/>
        </p:nvSpPr>
        <p:spPr>
          <a:xfrm>
            <a:off x="5127675" y="1308950"/>
            <a:ext cx="2762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Practical Implementation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9" name="Google Shape;199;p34"/>
          <p:cNvSpPr/>
          <p:nvPr/>
        </p:nvSpPr>
        <p:spPr>
          <a:xfrm>
            <a:off x="1777950" y="250390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Build your first ML application/Submit to your first competition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00" name="Google Shape;200;p34"/>
          <p:cNvCxnSpPr>
            <a:stCxn id="197" idx="3"/>
            <a:endCxn id="198" idx="1"/>
          </p:cNvCxnSpPr>
          <p:nvPr/>
        </p:nvCxnSpPr>
        <p:spPr>
          <a:xfrm>
            <a:off x="4016425" y="1689350"/>
            <a:ext cx="111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01" name="Google Shape;201;p34"/>
          <p:cNvCxnSpPr/>
          <p:nvPr/>
        </p:nvCxnSpPr>
        <p:spPr>
          <a:xfrm>
            <a:off x="4564075" y="1698625"/>
            <a:ext cx="7800" cy="8055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5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207" name="Google Shape;207;p35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6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26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Most used platform for data scientists and ML enthusiasts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Features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Data Sets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Forums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Code sharing (“Kernels”)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 Condensed"/>
              <a:buChar char="○"/>
            </a:pPr>
            <a:r>
              <a:rPr lang="en" sz="1800" b="1">
                <a:latin typeface="Roboto Condensed"/>
                <a:ea typeface="Roboto Condensed"/>
                <a:cs typeface="Roboto Condensed"/>
                <a:sym typeface="Roboto Condensed"/>
              </a:rPr>
              <a:t>Competitions</a:t>
            </a:r>
            <a:endParaRPr sz="1800"/>
          </a:p>
        </p:txBody>
      </p:sp>
      <p:sp>
        <p:nvSpPr>
          <p:cNvPr id="213" name="Google Shape;213;p3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Kaggle?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3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For novices learners or PhD’s alike to work on real world data and improve skills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Types of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Novice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Prize Competitions</a:t>
            </a:r>
            <a:endParaRPr sz="1800"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" sz="1800" dirty="0"/>
              <a:t>Often award $$$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Awards can be useful for internship / job applications</a:t>
            </a:r>
            <a:endParaRPr sz="1800" dirty="0"/>
          </a:p>
          <a:p>
            <a:pPr marL="0" lvl="0" indent="45720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800" dirty="0"/>
              <a:t>Competitions can be </a:t>
            </a:r>
            <a:r>
              <a:rPr lang="en" sz="1800" b="1" dirty="0">
                <a:latin typeface="Roboto Condensed"/>
                <a:ea typeface="Roboto Condensed"/>
                <a:cs typeface="Roboto Condensed"/>
                <a:sym typeface="Roboto Condensed"/>
              </a:rPr>
              <a:t>hard</a:t>
            </a:r>
            <a:r>
              <a:rPr lang="en" sz="1800" dirty="0"/>
              <a:t>. Most people don’t end up finishing their first submission.</a:t>
            </a:r>
            <a:endParaRPr sz="1800" b="1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19" name="Google Shape;219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Competitions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8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225" name="Google Shape;225;p38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1.1 - Python Review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1.2 - Numpy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1.3 - Pandas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1.4 - Seaborn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2.1 - ML Intro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</a:rPr>
              <a:t>2.2 - Linear Regression</a:t>
            </a:r>
            <a:endParaRPr sz="1100">
              <a:solidFill>
                <a:schemeClr val="accent1"/>
              </a:solidFill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91950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8424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2.4 - K-NN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13450" y="27862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5912859" y="23982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2.5 - Decision Trees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6" name="Google Shape;246;p39"/>
          <p:cNvSpPr/>
          <p:nvPr/>
        </p:nvSpPr>
        <p:spPr>
          <a:xfrm>
            <a:off x="7219327" y="24085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2.6 - Neural Networks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47" name="Google Shape;247;p39"/>
          <p:cNvCxnSpPr>
            <a:stCxn id="245" idx="3"/>
            <a:endCxn id="246" idx="1"/>
          </p:cNvCxnSpPr>
          <p:nvPr/>
        </p:nvCxnSpPr>
        <p:spPr>
          <a:xfrm>
            <a:off x="6934359" y="27965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/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2125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50" name="Google Shape;250;p39"/>
          <p:cNvSpPr/>
          <p:nvPr/>
        </p:nvSpPr>
        <p:spPr>
          <a:xfrm>
            <a:off x="3414446" y="34973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3.2 Competition Tips &amp; Final Thoughts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1" name="Google Shape;251;p39"/>
          <p:cNvCxnSpPr>
            <a:stCxn id="249" idx="3"/>
            <a:endCxn id="250" idx="1"/>
          </p:cNvCxnSpPr>
          <p:nvPr/>
        </p:nvCxnSpPr>
        <p:spPr>
          <a:xfrm>
            <a:off x="2788375" y="3885450"/>
            <a:ext cx="6261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6115425" y="34976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4.* - Natural Language Processing (NLP)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3" name="Google Shape;253;p39"/>
          <p:cNvCxnSpPr>
            <a:stCxn id="250" idx="3"/>
            <a:endCxn id="252" idx="1"/>
          </p:cNvCxnSpPr>
          <p:nvPr/>
        </p:nvCxnSpPr>
        <p:spPr>
          <a:xfrm>
            <a:off x="5539946" y="3885350"/>
            <a:ext cx="575400" cy="3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/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Google Colab Setup</a:t>
            </a:r>
            <a:endParaRPr dirty="0"/>
          </a:p>
        </p:txBody>
      </p:sp>
      <p:sp>
        <p:nvSpPr>
          <p:cNvPr id="259" name="Google Shape;259;p4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31FB04C3-AD69-AA41-FECB-C1BC04F4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>
            <a:extLst>
              <a:ext uri="{FF2B5EF4-FFF2-40B4-BE49-F238E27FC236}">
                <a16:creationId xmlns:a16="http://schemas.microsoft.com/office/drawing/2014/main" id="{3CE5111C-011E-C009-BD7B-9187B5E6F0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Installing Jupyter NB @ Local Win Machine</a:t>
            </a:r>
            <a:endParaRPr dirty="0"/>
          </a:p>
        </p:txBody>
      </p:sp>
      <p:sp>
        <p:nvSpPr>
          <p:cNvPr id="259" name="Google Shape;259;p40">
            <a:extLst>
              <a:ext uri="{FF2B5EF4-FFF2-40B4-BE49-F238E27FC236}">
                <a16:creationId xmlns:a16="http://schemas.microsoft.com/office/drawing/2014/main" id="{3C316504-D8FF-BF55-AC04-94722E33DFD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0FA84-F0B7-BAA1-8571-7A2B551F31A1}"/>
              </a:ext>
            </a:extLst>
          </p:cNvPr>
          <p:cNvSpPr txBox="1"/>
          <p:nvPr/>
        </p:nvSpPr>
        <p:spPr>
          <a:xfrm>
            <a:off x="5364320" y="3905856"/>
            <a:ext cx="12471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WinPython</a:t>
            </a:r>
            <a:endParaRPr lang="de-DE" sz="16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879296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</Words>
  <Application>Microsoft Office PowerPoint</Application>
  <PresentationFormat>On-screen Show (16:9)</PresentationFormat>
  <Paragraphs>85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Fira Sans Extra Condensed Medium</vt:lpstr>
      <vt:lpstr>Roboto Condensed</vt:lpstr>
      <vt:lpstr>Roboto Condensed Light</vt:lpstr>
      <vt:lpstr>Exo 2</vt:lpstr>
      <vt:lpstr>Tech Newsletter by Slidesgo</vt:lpstr>
      <vt:lpstr>Intro to Course</vt:lpstr>
      <vt:lpstr>PowerPoint Presentation</vt:lpstr>
      <vt:lpstr>Table of Contents</vt:lpstr>
      <vt:lpstr>What is Machine Learning?</vt:lpstr>
      <vt:lpstr>Broad discussion of Machine Learning</vt:lpstr>
      <vt:lpstr>Why is ML Important?</vt:lpstr>
      <vt:lpstr>Goals of the course</vt:lpstr>
      <vt:lpstr>Course outcomes:</vt:lpstr>
      <vt:lpstr>Kaggle Overview</vt:lpstr>
      <vt:lpstr>What is Kaggle?</vt:lpstr>
      <vt:lpstr>Kaggle Competitions</vt:lpstr>
      <vt:lpstr>Course Overview</vt:lpstr>
      <vt:lpstr>Course Overview:</vt:lpstr>
      <vt:lpstr>Course Overview:</vt:lpstr>
      <vt:lpstr>Jupyter Notebook &amp; Google Colab Setup</vt:lpstr>
      <vt:lpstr>Installing Jupyter NB @ Local Win Machine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Course</dc:title>
  <cp:lastModifiedBy>Hamed, Osama</cp:lastModifiedBy>
  <cp:revision>26</cp:revision>
  <cp:lastPrinted>2025-10-07T07:59:05Z</cp:lastPrinted>
  <dcterms:modified xsi:type="dcterms:W3CDTF">2025-10-07T12:24:01Z</dcterms:modified>
</cp:coreProperties>
</file>