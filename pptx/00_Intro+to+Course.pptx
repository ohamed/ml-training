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9" r:id="rId15"/>
    <p:sldId id="269" r:id="rId16"/>
    <p:sldId id="270" r:id="rId17"/>
    <p:sldId id="284" r:id="rId18"/>
  </p:sldIdLst>
  <p:sldSz cx="9144000" cy="5143500" type="screen16x9"/>
  <p:notesSz cx="6794500" cy="9931400"/>
  <p:embeddedFontLst>
    <p:embeddedFont>
      <p:font typeface="Exo 2" panose="020B0604020202020204" charset="0"/>
      <p:regular r:id="rId20"/>
      <p:bold r:id="rId21"/>
      <p:italic r:id="rId22"/>
      <p:boldItalic r:id="rId23"/>
    </p:embeddedFont>
    <p:embeddedFont>
      <p:font typeface="Fira Sans Extra Condensed Medium" panose="020B0604020202020204" charset="0"/>
      <p:regular r:id="rId24"/>
      <p:bold r:id="rId25"/>
      <p:italic r:id="rId26"/>
      <p:boldItalic r:id="rId27"/>
    </p:embeddedFont>
    <p:embeddedFont>
      <p:font typeface="Roboto Condensed" panose="02000000000000000000" pitchFamily="2" charset="0"/>
      <p:regular r:id="rId28"/>
      <p:bold r:id="rId29"/>
      <p:italic r:id="rId30"/>
      <p:boldItalic r:id="rId31"/>
    </p:embeddedFont>
    <p:embeddedFont>
      <p:font typeface="Roboto Condensed Light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than Ka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heme" Target="theme/theme1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e2db3e8363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e2db3e8363_1_127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2db3e8363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2db3e8363_1_154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e2db3e8363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e2db3e8363_1_132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2db3e8363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2db3e8363_1_199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e2db3e8363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e2db3e8363_1_211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e2db3e8363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e2db3e8363_1_223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JO" dirty="0"/>
              <a:t>"لا أعتقد أن التنبؤ بالمستقبل هو فعلياً ما </a:t>
            </a:r>
            <a:r>
              <a:rPr lang="ar-JO"/>
              <a:t>يدور حول </a:t>
            </a:r>
            <a:r>
              <a:rPr lang="ar-JO" dirty="0"/>
              <a:t>[تعلم الآلة]. نحن… سوف نكون جزءاً من المستقبل. لذلك… مهمتنا ليست التنبؤ به، بل تصميمه."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e2db3e8363_1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e2db3e8363_1_234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e2db3e8363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e2db3e8363_1_239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2db3e8363_1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2db3e8363_1_248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e2db3e8363_1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e2db3e8363_1_253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e2db3e8363_1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e2db3e8363_1_263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2db3e8363_1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2db3e8363_1_282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70150" y="560388"/>
            <a:ext cx="4987925" cy="2806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992909" y="3554441"/>
            <a:ext cx="7943274" cy="3367366"/>
          </a:xfrm>
          <a:prstGeom prst="rect">
            <a:avLst/>
          </a:prstGeom>
        </p:spPr>
        <p:txBody>
          <a:bodyPr spcFirstLastPara="1" wrap="square" lIns="96618" tIns="96618" rIns="96618" bIns="9661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e2db3e8363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e2db3e8363_1_327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F2B42E50-9873-60F8-1AB0-C7D041F3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e2db3e8363_1_327:notes">
            <a:extLst>
              <a:ext uri="{FF2B5EF4-FFF2-40B4-BE49-F238E27FC236}">
                <a16:creationId xmlns:a16="http://schemas.microsoft.com/office/drawing/2014/main" id="{BB6A4C22-FDFA-037C-F1FA-3714F6D38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e2db3e8363_1_327:notes">
            <a:extLst>
              <a:ext uri="{FF2B5EF4-FFF2-40B4-BE49-F238E27FC236}">
                <a16:creationId xmlns:a16="http://schemas.microsoft.com/office/drawing/2014/main" id="{83E3BD86-9C53-5D8F-EEC1-1993D6DC0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8531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ebb3e720c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ebb3e720c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 idx="2"/>
          </p:nvPr>
        </p:nvSpPr>
        <p:spPr>
          <a:xfrm>
            <a:off x="390296" y="2016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90446" y="656478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7" hasCustomPrompt="1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>
            <a:off x="390296" y="11678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3"/>
          </p:nvPr>
        </p:nvSpPr>
        <p:spPr>
          <a:xfrm>
            <a:off x="690446" y="162267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14"/>
          </p:nvPr>
        </p:nvSpPr>
        <p:spPr>
          <a:xfrm>
            <a:off x="390296" y="21413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5"/>
          </p:nvPr>
        </p:nvSpPr>
        <p:spPr>
          <a:xfrm>
            <a:off x="690446" y="2596156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811558" y="177518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6811558" y="2230005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811558" y="27990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9"/>
          </p:nvPr>
        </p:nvSpPr>
        <p:spPr>
          <a:xfrm>
            <a:off x="6811558" y="325391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811558" y="38113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21"/>
          </p:nvPr>
        </p:nvSpPr>
        <p:spPr>
          <a:xfrm>
            <a:off x="6811558" y="4266173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147575" y="402895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CUSTOM_1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ctrTitle"/>
          </p:nvPr>
        </p:nvSpPr>
        <p:spPr>
          <a:xfrm>
            <a:off x="263835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2459550" y="2314225"/>
            <a:ext cx="42249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CUSTOM_2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718579" y="4030481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photo">
  <p:cSld name="CUSTOM_2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ctrTitle"/>
          </p:nvPr>
        </p:nvSpPr>
        <p:spPr>
          <a:xfrm>
            <a:off x="1600733" y="985228"/>
            <a:ext cx="26736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1179233" y="3058425"/>
            <a:ext cx="30951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ctrTitle" idx="2"/>
          </p:nvPr>
        </p:nvSpPr>
        <p:spPr>
          <a:xfrm>
            <a:off x="1932090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CUSTOM_2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 idx="2" hasCustomPrompt="1"/>
          </p:nvPr>
        </p:nvSpPr>
        <p:spPr>
          <a:xfrm>
            <a:off x="1086651" y="1475125"/>
            <a:ext cx="17952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 flipH="1">
            <a:off x="3481677" y="1666454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3" hasCustomPrompt="1"/>
          </p:nvPr>
        </p:nvSpPr>
        <p:spPr>
          <a:xfrm>
            <a:off x="2298451" y="2475350"/>
            <a:ext cx="17637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4"/>
          </p:nvPr>
        </p:nvSpPr>
        <p:spPr>
          <a:xfrm flipH="1">
            <a:off x="4568051" y="2688425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title" idx="5" hasCustomPrompt="1"/>
          </p:nvPr>
        </p:nvSpPr>
        <p:spPr>
          <a:xfrm>
            <a:off x="3353176" y="3513625"/>
            <a:ext cx="17952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6"/>
          </p:nvPr>
        </p:nvSpPr>
        <p:spPr>
          <a:xfrm flipH="1">
            <a:off x="5671490" y="3709941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2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ctrTitle" idx="2"/>
          </p:nvPr>
        </p:nvSpPr>
        <p:spPr>
          <a:xfrm>
            <a:off x="5616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>
            <a:off x="872450" y="30904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ctrTitle" idx="3"/>
          </p:nvPr>
        </p:nvSpPr>
        <p:spPr>
          <a:xfrm>
            <a:off x="32352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ubTitle" idx="4"/>
          </p:nvPr>
        </p:nvSpPr>
        <p:spPr>
          <a:xfrm>
            <a:off x="3462900" y="2036750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ctrTitle" idx="5"/>
          </p:nvPr>
        </p:nvSpPr>
        <p:spPr>
          <a:xfrm>
            <a:off x="59088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6"/>
          </p:nvPr>
        </p:nvSpPr>
        <p:spPr>
          <a:xfrm>
            <a:off x="6136500" y="3090475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CUSTOM_2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2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ctrTitle" idx="2"/>
          </p:nvPr>
        </p:nvSpPr>
        <p:spPr>
          <a:xfrm>
            <a:off x="464478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ubTitle" idx="1"/>
          </p:nvPr>
        </p:nvSpPr>
        <p:spPr>
          <a:xfrm>
            <a:off x="616128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ctrTitle" idx="3"/>
          </p:nvPr>
        </p:nvSpPr>
        <p:spPr>
          <a:xfrm>
            <a:off x="2077426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ubTitle" idx="4"/>
          </p:nvPr>
        </p:nvSpPr>
        <p:spPr>
          <a:xfrm>
            <a:off x="2229076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ctrTitle" idx="5"/>
          </p:nvPr>
        </p:nvSpPr>
        <p:spPr>
          <a:xfrm>
            <a:off x="3690375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ubTitle" idx="6"/>
          </p:nvPr>
        </p:nvSpPr>
        <p:spPr>
          <a:xfrm>
            <a:off x="3842025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ctrTitle" idx="7"/>
          </p:nvPr>
        </p:nvSpPr>
        <p:spPr>
          <a:xfrm>
            <a:off x="3707117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ubTitle" idx="8"/>
          </p:nvPr>
        </p:nvSpPr>
        <p:spPr>
          <a:xfrm>
            <a:off x="3858772" y="3890201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ctrTitle" idx="9"/>
          </p:nvPr>
        </p:nvSpPr>
        <p:spPr>
          <a:xfrm>
            <a:off x="5343519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ubTitle" idx="13"/>
          </p:nvPr>
        </p:nvSpPr>
        <p:spPr>
          <a:xfrm>
            <a:off x="5500261" y="3890201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ctrTitle" idx="14"/>
          </p:nvPr>
        </p:nvSpPr>
        <p:spPr>
          <a:xfrm>
            <a:off x="6979921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15"/>
          </p:nvPr>
        </p:nvSpPr>
        <p:spPr>
          <a:xfrm>
            <a:off x="7141750" y="3890201"/>
            <a:ext cx="14568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CUSTOM_2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 idx="2"/>
          </p:nvPr>
        </p:nvSpPr>
        <p:spPr>
          <a:xfrm>
            <a:off x="1741950" y="2846700"/>
            <a:ext cx="12579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741950" y="1650025"/>
            <a:ext cx="21573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ctrTitle" idx="3"/>
          </p:nvPr>
        </p:nvSpPr>
        <p:spPr>
          <a:xfrm>
            <a:off x="5633751" y="36353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4"/>
          </p:nvPr>
        </p:nvSpPr>
        <p:spPr>
          <a:xfrm>
            <a:off x="5256958" y="2440056"/>
            <a:ext cx="21573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USTOM_1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4">
  <p:cSld name="CUSTOM_2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118000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2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ctrTitle" idx="2"/>
          </p:nvPr>
        </p:nvSpPr>
        <p:spPr>
          <a:xfrm>
            <a:off x="2285760" y="1652042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2285760" y="1946292"/>
            <a:ext cx="170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ctrTitle" idx="3"/>
          </p:nvPr>
        </p:nvSpPr>
        <p:spPr>
          <a:xfrm>
            <a:off x="2285760" y="3570573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ubTitle" idx="4"/>
          </p:nvPr>
        </p:nvSpPr>
        <p:spPr>
          <a:xfrm>
            <a:off x="2285760" y="3864823"/>
            <a:ext cx="170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ctrTitle" idx="5"/>
          </p:nvPr>
        </p:nvSpPr>
        <p:spPr>
          <a:xfrm>
            <a:off x="5047297" y="1652042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6"/>
          </p:nvPr>
        </p:nvSpPr>
        <p:spPr>
          <a:xfrm>
            <a:off x="5047299" y="1946292"/>
            <a:ext cx="17931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ctrTitle" idx="7"/>
          </p:nvPr>
        </p:nvSpPr>
        <p:spPr>
          <a:xfrm>
            <a:off x="5047297" y="3570573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8"/>
          </p:nvPr>
        </p:nvSpPr>
        <p:spPr>
          <a:xfrm>
            <a:off x="5047299" y="3864823"/>
            <a:ext cx="17931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29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ctrTitle"/>
          </p:nvPr>
        </p:nvSpPr>
        <p:spPr>
          <a:xfrm flipH="1">
            <a:off x="1193529" y="1611150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5">
  <p:cSld name="CUSTOM_3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2260329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USTOM_15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4">
  <p:cSld name="CUSTOM_15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6">
  <p:cSld name="CUSTOM_3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 flipH="1">
            <a:off x="1698072" y="21784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914472" y="18666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1"/>
          </p:nvPr>
        </p:nvSpPr>
        <p:spPr>
          <a:xfrm>
            <a:off x="2668872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5">
  <p:cSld name="CUSTOM_15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ctrTitle"/>
          </p:nvPr>
        </p:nvSpPr>
        <p:spPr>
          <a:xfrm flipH="1">
            <a:off x="1974150" y="1161000"/>
            <a:ext cx="5195700" cy="13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ubTitle" idx="1"/>
          </p:nvPr>
        </p:nvSpPr>
        <p:spPr>
          <a:xfrm>
            <a:off x="2152500" y="2494850"/>
            <a:ext cx="4839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625906" y="3722418"/>
            <a:ext cx="3830100" cy="17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1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33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gif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inpython.github.io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Course</a:t>
            </a:r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8" descr="Object Detection with 10 lines of code | by Moses Olafenwa | Towards Data  Scienc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275" y="445050"/>
            <a:ext cx="5080500" cy="304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8" descr="Stock Price Prediction Mobile Application | Devpos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2550" y="1272504"/>
            <a:ext cx="5080500" cy="2598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8" descr="Using reinforcement-learning and q-learning to play snake | by Hugo Sjöberg  | Mediu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7100" y="1587500"/>
            <a:ext cx="3294075" cy="32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ctrTitle" idx="2"/>
          </p:nvPr>
        </p:nvSpPr>
        <p:spPr>
          <a:xfrm>
            <a:off x="390296" y="5064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Machine Learning?</a:t>
            </a:r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title" idx="3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title" idx="4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title" idx="5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title" idx="6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title" idx="7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56" name="Google Shape;156;p29"/>
          <p:cNvSpPr txBox="1">
            <a:spLocks noGrp="1"/>
          </p:cNvSpPr>
          <p:nvPr>
            <p:ph type="ctrTitle" idx="9"/>
          </p:nvPr>
        </p:nvSpPr>
        <p:spPr>
          <a:xfrm>
            <a:off x="390296" y="14726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of the Course</a:t>
            </a:r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ctrTitle" idx="14"/>
          </p:nvPr>
        </p:nvSpPr>
        <p:spPr>
          <a:xfrm>
            <a:off x="390296" y="24461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Kaggle Overview</a:t>
            </a: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ctrTitle" idx="16"/>
          </p:nvPr>
        </p:nvSpPr>
        <p:spPr>
          <a:xfrm>
            <a:off x="6811558" y="200378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Overview</a:t>
            </a:r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ctrTitle" idx="18"/>
          </p:nvPr>
        </p:nvSpPr>
        <p:spPr>
          <a:xfrm>
            <a:off x="6811558" y="30276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Jupyter Notebook &amp; Google Colab  Setup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Machine Learning?</a:t>
            </a:r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 discussion of Machine Learning</a:t>
            </a:r>
            <a:endParaRPr/>
          </a:p>
        </p:txBody>
      </p:sp>
      <p:sp>
        <p:nvSpPr>
          <p:cNvPr id="171" name="Google Shape;171;p31"/>
          <p:cNvSpPr/>
          <p:nvPr/>
        </p:nvSpPr>
        <p:spPr>
          <a:xfrm>
            <a:off x="1777950" y="1299050"/>
            <a:ext cx="5588100" cy="7806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Data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72" name="Google Shape;172;p31"/>
          <p:cNvSpPr/>
          <p:nvPr/>
        </p:nvSpPr>
        <p:spPr>
          <a:xfrm>
            <a:off x="1777950" y="2663650"/>
            <a:ext cx="5588100" cy="760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Machine Learning</a:t>
            </a:r>
            <a:endParaRPr b="1"/>
          </a:p>
        </p:txBody>
      </p:sp>
      <p:sp>
        <p:nvSpPr>
          <p:cNvPr id="173" name="Google Shape;173;p31"/>
          <p:cNvSpPr/>
          <p:nvPr/>
        </p:nvSpPr>
        <p:spPr>
          <a:xfrm>
            <a:off x="1777950" y="4008450"/>
            <a:ext cx="5588100" cy="7197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Predictions, Patterns, and Actions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174" name="Google Shape;174;p31"/>
          <p:cNvCxnSpPr>
            <a:stCxn id="171" idx="2"/>
            <a:endCxn id="172" idx="0"/>
          </p:cNvCxnSpPr>
          <p:nvPr/>
        </p:nvCxnSpPr>
        <p:spPr>
          <a:xfrm>
            <a:off x="4572000" y="2079650"/>
            <a:ext cx="0" cy="584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31"/>
          <p:cNvCxnSpPr/>
          <p:nvPr/>
        </p:nvCxnSpPr>
        <p:spPr>
          <a:xfrm>
            <a:off x="4572000" y="3424450"/>
            <a:ext cx="0" cy="584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>
            <a:spLocks noGrp="1"/>
          </p:cNvSpPr>
          <p:nvPr>
            <p:ph type="ctrTitle"/>
          </p:nvPr>
        </p:nvSpPr>
        <p:spPr>
          <a:xfrm>
            <a:off x="1964850" y="352850"/>
            <a:ext cx="5214300" cy="5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ML Important?</a:t>
            </a:r>
            <a:endParaRPr/>
          </a:p>
        </p:txBody>
      </p:sp>
      <p:sp>
        <p:nvSpPr>
          <p:cNvPr id="181" name="Google Shape;181;p32"/>
          <p:cNvSpPr/>
          <p:nvPr/>
        </p:nvSpPr>
        <p:spPr>
          <a:xfrm>
            <a:off x="1777950" y="1299050"/>
            <a:ext cx="2794200" cy="7806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Spreading to Every Industry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2" name="Google Shape;182;p32"/>
          <p:cNvSpPr/>
          <p:nvPr/>
        </p:nvSpPr>
        <p:spPr>
          <a:xfrm>
            <a:off x="4572000" y="2079650"/>
            <a:ext cx="2607000" cy="7806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Fuels life-saving research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83" name="Google Shape;183;p32" descr="Herbert A. Simon - The Simon Initiative - Carnegie Mellon Universit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575" y="2790800"/>
            <a:ext cx="138112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2"/>
          <p:cNvSpPr/>
          <p:nvPr/>
        </p:nvSpPr>
        <p:spPr>
          <a:xfrm>
            <a:off x="3954450" y="3405436"/>
            <a:ext cx="4054500" cy="14523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“...I don't believe that predicting the future is really what [machine learning is] about. We… are going to be a part of the future. So... our task isn't to predict it. It is to design it...”</a:t>
            </a:r>
            <a:endParaRPr i="1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xo 2"/>
              <a:buChar char="-"/>
            </a:pPr>
            <a:r>
              <a:rPr lang="en" i="1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Herb Simon</a:t>
            </a:r>
            <a:endParaRPr i="1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1664400" y="1967344"/>
            <a:ext cx="5650800" cy="1501255"/>
          </a:xfrm>
          <a:prstGeom prst="flowChartAlternateProcess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5"/>
                </a:solidFill>
                <a:latin typeface="Exo 2"/>
                <a:ea typeface="Exo 2"/>
                <a:cs typeface="Exo 2"/>
                <a:sym typeface="Exo 2"/>
              </a:rPr>
              <a:t>Anyone can learn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the course</a:t>
            </a:r>
            <a:endParaRPr/>
          </a:p>
        </p:txBody>
      </p:sp>
      <p:sp>
        <p:nvSpPr>
          <p:cNvPr id="191" name="Google Shape;191;p33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outcomes:</a:t>
            </a:r>
            <a:endParaRPr/>
          </a:p>
        </p:txBody>
      </p:sp>
      <p:sp>
        <p:nvSpPr>
          <p:cNvPr id="197" name="Google Shape;197;p34"/>
          <p:cNvSpPr/>
          <p:nvPr/>
        </p:nvSpPr>
        <p:spPr>
          <a:xfrm>
            <a:off x="1254325" y="1299050"/>
            <a:ext cx="2762100" cy="7806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Theory and Fundamentals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5127675" y="1308950"/>
            <a:ext cx="2762100" cy="760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Practical Implementation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1777950" y="2503900"/>
            <a:ext cx="5588100" cy="7197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Build your first ML application/Submit your first competition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00" name="Google Shape;200;p34"/>
          <p:cNvCxnSpPr>
            <a:stCxn id="197" idx="3"/>
            <a:endCxn id="198" idx="1"/>
          </p:cNvCxnSpPr>
          <p:nvPr/>
        </p:nvCxnSpPr>
        <p:spPr>
          <a:xfrm>
            <a:off x="4016425" y="1689350"/>
            <a:ext cx="111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1" name="Google Shape;201;p34"/>
          <p:cNvCxnSpPr/>
          <p:nvPr/>
        </p:nvCxnSpPr>
        <p:spPr>
          <a:xfrm>
            <a:off x="4564075" y="1698625"/>
            <a:ext cx="7800" cy="805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Kaggle Overview</a:t>
            </a:r>
            <a:endParaRPr/>
          </a:p>
        </p:txBody>
      </p:sp>
      <p:sp>
        <p:nvSpPr>
          <p:cNvPr id="207" name="Google Shape;207;p35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>
            <a:spLocks noGrp="1"/>
          </p:cNvSpPr>
          <p:nvPr>
            <p:ph type="body" idx="1"/>
          </p:nvPr>
        </p:nvSpPr>
        <p:spPr>
          <a:xfrm>
            <a:off x="1388550" y="1249950"/>
            <a:ext cx="6366900" cy="2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Most used platform for data scientists and ML enthusiasts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Features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Data Sets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Forums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Code sharing (“Kernels”)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Condensed"/>
              <a:buChar char="○"/>
            </a:pPr>
            <a:r>
              <a:rPr lang="en" sz="1800" b="1">
                <a:latin typeface="Roboto Condensed"/>
                <a:ea typeface="Roboto Condensed"/>
                <a:cs typeface="Roboto Condensed"/>
                <a:sym typeface="Roboto Condensed"/>
              </a:rPr>
              <a:t>Competitions</a:t>
            </a:r>
            <a:endParaRPr sz="1800"/>
          </a:p>
        </p:txBody>
      </p:sp>
      <p:sp>
        <p:nvSpPr>
          <p:cNvPr id="213" name="Google Shape;213;p3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Kaggle?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>
            <a:spLocks noGrp="1"/>
          </p:cNvSpPr>
          <p:nvPr>
            <p:ph type="body" idx="1"/>
          </p:nvPr>
        </p:nvSpPr>
        <p:spPr>
          <a:xfrm>
            <a:off x="1388550" y="1249950"/>
            <a:ext cx="6366900" cy="3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For novices learners or PhD’s alike to work on real world data and improve skills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Types of competitions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Novice Competitions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Prize Competitions</a:t>
            </a:r>
            <a:endParaRPr sz="1800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 dirty="0"/>
              <a:t>Often award $$$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Awards can be useful for internship / job applications</a:t>
            </a:r>
            <a:endParaRPr sz="1800" dirty="0"/>
          </a:p>
          <a:p>
            <a:pPr marL="0" lvl="0" indent="45720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 dirty="0"/>
              <a:t>Competitions can be </a:t>
            </a:r>
            <a:r>
              <a:rPr lang="en" sz="1800" b="1" dirty="0">
                <a:latin typeface="Roboto Condensed"/>
                <a:ea typeface="Roboto Condensed"/>
                <a:cs typeface="Roboto Condensed"/>
                <a:sym typeface="Roboto Condensed"/>
              </a:rPr>
              <a:t>hard</a:t>
            </a:r>
            <a:r>
              <a:rPr lang="en" sz="1800" dirty="0"/>
              <a:t>. Most people don’t end up finishing their first submission.</a:t>
            </a:r>
            <a:endParaRPr sz="1800" b="1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9" name="Google Shape;219;p37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Kaggle Competitions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Overview</a:t>
            </a:r>
            <a:endParaRPr/>
          </a:p>
        </p:txBody>
      </p:sp>
      <p:sp>
        <p:nvSpPr>
          <p:cNvPr id="225" name="Google Shape;225;p38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662850" y="12990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1.1 - Python Review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2684776" y="13091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dirty="0">
                <a:solidFill>
                  <a:schemeClr val="accent1"/>
                </a:solidFill>
                <a:latin typeface="Exo 2"/>
              </a:rPr>
              <a:t>1.2 - Numpy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224650" y="1697300"/>
            <a:ext cx="460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4681975" y="12989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1.3 - Pandas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679176" y="13092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1.4 - Seaborn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6243775" y="16972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4234250" y="16973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662850" y="23880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2.1 - ML Intro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1985500" y="23981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</a:rPr>
              <a:t>2.2 - Linear Regression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1684350" y="2786325"/>
            <a:ext cx="30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3287163" y="23879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1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593637" y="23982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100" dirty="0">
                <a:solidFill>
                  <a:schemeClr val="accent1"/>
                </a:solidFill>
                <a:latin typeface="Exo 2"/>
              </a:rPr>
              <a:t>2.4 -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Naïve</a:t>
            </a:r>
            <a:r>
              <a:rPr lang="de-DE" sz="1100" dirty="0">
                <a:solidFill>
                  <a:schemeClr val="accent1"/>
                </a:solidFill>
                <a:latin typeface="Exo 2"/>
              </a:rPr>
              <a:t> Bayes 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Classifier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4308663" y="2786225"/>
            <a:ext cx="284974" cy="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2999078" y="27863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7211180" y="2367574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sym typeface="Exo 2"/>
              </a:rPr>
              <a:t>2.6 - Decision Trees</a:t>
            </a:r>
            <a:endParaRPr sz="11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6926180" y="2770549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5619980" y="27966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662875" y="3487200"/>
            <a:ext cx="1462746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Ensembling Learning</a:t>
            </a:r>
            <a:endParaRPr sz="12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125621" y="3883468"/>
            <a:ext cx="329129" cy="19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3889561" y="3495418"/>
            <a:ext cx="194468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4</a:t>
            </a:r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.* - Natural Language Processing (NLP)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3512022" y="3885450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4576588" y="302261"/>
            <a:ext cx="302525" cy="6004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5899893" y="2387974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Font typeface="Arial"/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2.5 - KNN</a:t>
            </a:r>
            <a:endParaRPr sz="11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2484398" y="3497801"/>
            <a:ext cx="1021500" cy="77133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3.2 - Neural Networks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6215053" y="3487163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5.* Competition Tips &amp; Final Thoughts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5847310" y="3908621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662850" y="12990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1.1 - Python Review</a:t>
            </a:r>
            <a:endParaRPr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2684776" y="13091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1.2 - Numpy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224650" y="1697300"/>
            <a:ext cx="460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4681975" y="12989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1.3 - Pandas</a:t>
            </a:r>
            <a:endParaRPr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679176" y="13092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1.4 - Seaborn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6243775" y="16972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4234250" y="16973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662850" y="23880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2.1 - ML Intro</a:t>
            </a:r>
            <a:endParaRPr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1985500" y="23981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</a:rPr>
              <a:t>2.2 - Linear Regression</a:t>
            </a:r>
            <a:endParaRPr sz="1100">
              <a:solidFill>
                <a:schemeClr val="accent1"/>
              </a:solidFill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1684350" y="2786325"/>
            <a:ext cx="30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3291950" y="23879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10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598424" y="23982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2.4 - K-NN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4313450" y="2786225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2999078" y="27863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5912859" y="23982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2.5 - Decision Trees</a:t>
            </a:r>
            <a:endParaRPr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6" name="Google Shape;246;p39"/>
          <p:cNvSpPr/>
          <p:nvPr/>
        </p:nvSpPr>
        <p:spPr>
          <a:xfrm>
            <a:off x="7219327" y="24085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2.6 - Neural Networks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247" name="Google Shape;247;p39"/>
          <p:cNvCxnSpPr>
            <a:stCxn id="245" idx="3"/>
            <a:endCxn id="246" idx="1"/>
          </p:cNvCxnSpPr>
          <p:nvPr/>
        </p:nvCxnSpPr>
        <p:spPr>
          <a:xfrm>
            <a:off x="6934359" y="2796525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/>
          <p:nvPr/>
        </p:nvCxnSpPr>
        <p:spPr>
          <a:xfrm>
            <a:off x="5619980" y="27966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662875" y="3487200"/>
            <a:ext cx="2125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Ensembling Learning</a:t>
            </a:r>
            <a:endParaRPr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50" name="Google Shape;250;p39"/>
          <p:cNvSpPr/>
          <p:nvPr/>
        </p:nvSpPr>
        <p:spPr>
          <a:xfrm>
            <a:off x="3414446" y="3497300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3.2 Competition Tips &amp; Final Thoughts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51" name="Google Shape;251;p39"/>
          <p:cNvCxnSpPr>
            <a:stCxn id="249" idx="3"/>
            <a:endCxn id="250" idx="1"/>
          </p:cNvCxnSpPr>
          <p:nvPr/>
        </p:nvCxnSpPr>
        <p:spPr>
          <a:xfrm>
            <a:off x="2788375" y="3885450"/>
            <a:ext cx="626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6115425" y="3497600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4.* - Natural Language Processing (NLP)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53" name="Google Shape;253;p39"/>
          <p:cNvCxnSpPr>
            <a:stCxn id="250" idx="3"/>
            <a:endCxn id="252" idx="1"/>
          </p:cNvCxnSpPr>
          <p:nvPr/>
        </p:nvCxnSpPr>
        <p:spPr>
          <a:xfrm>
            <a:off x="5539946" y="3885350"/>
            <a:ext cx="575400" cy="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ctrTitle"/>
          </p:nvPr>
        </p:nvSpPr>
        <p:spPr>
          <a:xfrm flipH="1">
            <a:off x="1147575" y="3164524"/>
            <a:ext cx="5334868" cy="11217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Jupyter Notebook &amp; Google Colab Setup</a:t>
            </a:r>
            <a:endParaRPr dirty="0"/>
          </a:p>
        </p:txBody>
      </p:sp>
      <p:sp>
        <p:nvSpPr>
          <p:cNvPr id="259" name="Google Shape;259;p40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31FB04C3-AD69-AA41-FECB-C1BC04F4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>
            <a:extLst>
              <a:ext uri="{FF2B5EF4-FFF2-40B4-BE49-F238E27FC236}">
                <a16:creationId xmlns:a16="http://schemas.microsoft.com/office/drawing/2014/main" id="{3CE5111C-011E-C009-BD7B-9187B5E6F0D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1147575" y="3164524"/>
            <a:ext cx="5334868" cy="11217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Installing Jupyter NB @ Local Win Machine</a:t>
            </a:r>
            <a:endParaRPr dirty="0"/>
          </a:p>
        </p:txBody>
      </p:sp>
      <p:sp>
        <p:nvSpPr>
          <p:cNvPr id="259" name="Google Shape;259;p40">
            <a:extLst>
              <a:ext uri="{FF2B5EF4-FFF2-40B4-BE49-F238E27FC236}">
                <a16:creationId xmlns:a16="http://schemas.microsoft.com/office/drawing/2014/main" id="{3C316504-D8FF-BF55-AC04-94722E33DFD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0FA84-F0B7-BAA1-8571-7A2B551F31A1}"/>
              </a:ext>
            </a:extLst>
          </p:cNvPr>
          <p:cNvSpPr txBox="1"/>
          <p:nvPr/>
        </p:nvSpPr>
        <p:spPr>
          <a:xfrm>
            <a:off x="5364320" y="3905856"/>
            <a:ext cx="1247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WinPython</a:t>
            </a:r>
            <a:endParaRPr lang="de-DE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879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51829D-81DD-E9F9-3E9E-78C1DB20BCF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F09F0FA-E101-1E69-B571-F254D8D20D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Newsletter by Slidesgo">
  <a:themeElements>
    <a:clrScheme name="Simple Light">
      <a:dk1>
        <a:srgbClr val="FFFFFF"/>
      </a:dk1>
      <a:lt1>
        <a:srgbClr val="0A3455"/>
      </a:lt1>
      <a:dk2>
        <a:srgbClr val="6EBDC4"/>
      </a:dk2>
      <a:lt2>
        <a:srgbClr val="416D90"/>
      </a:lt2>
      <a:accent1>
        <a:srgbClr val="B4EBF0"/>
      </a:accent1>
      <a:accent2>
        <a:srgbClr val="7CC5CC"/>
      </a:accent2>
      <a:accent3>
        <a:srgbClr val="61A6B5"/>
      </a:accent3>
      <a:accent4>
        <a:srgbClr val="548FA6"/>
      </a:accent4>
      <a:accent5>
        <a:srgbClr val="2E5F80"/>
      </a:accent5>
      <a:accent6>
        <a:srgbClr val="17436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On-screen Show (16:9)</PresentationFormat>
  <Paragraphs>86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Fira Sans Extra Condensed Medium</vt:lpstr>
      <vt:lpstr>Arial</vt:lpstr>
      <vt:lpstr>Exo 2</vt:lpstr>
      <vt:lpstr>Roboto Condensed</vt:lpstr>
      <vt:lpstr>Roboto Condensed Light</vt:lpstr>
      <vt:lpstr>Tech Newsletter by Slidesgo</vt:lpstr>
      <vt:lpstr>Intro to Course</vt:lpstr>
      <vt:lpstr>PowerPoint Presentation</vt:lpstr>
      <vt:lpstr>Table of Contents</vt:lpstr>
      <vt:lpstr>What is Machine Learning?</vt:lpstr>
      <vt:lpstr>Broad discussion of Machine Learning</vt:lpstr>
      <vt:lpstr>Why is ML Important?</vt:lpstr>
      <vt:lpstr>Goals of the course</vt:lpstr>
      <vt:lpstr>Course outcomes:</vt:lpstr>
      <vt:lpstr>Kaggle Overview</vt:lpstr>
      <vt:lpstr>What is Kaggle?</vt:lpstr>
      <vt:lpstr>Kaggle Competitions</vt:lpstr>
      <vt:lpstr>Course Overview</vt:lpstr>
      <vt:lpstr>Course Overview:</vt:lpstr>
      <vt:lpstr>Course Overview:</vt:lpstr>
      <vt:lpstr>Jupyter Notebook &amp; Google Colab Setup</vt:lpstr>
      <vt:lpstr>Installing Jupyter NB @ Local Win Machine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Course</dc:title>
  <cp:lastModifiedBy>Osama Hamed</cp:lastModifiedBy>
  <cp:revision>29</cp:revision>
  <cp:lastPrinted>2025-10-07T07:59:05Z</cp:lastPrinted>
  <dcterms:modified xsi:type="dcterms:W3CDTF">2025-10-10T11:39:58Z</dcterms:modified>
</cp:coreProperties>
</file>