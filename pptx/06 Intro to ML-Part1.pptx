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23"/>
  </p:notesMasterIdLst>
  <p:sldIdLst>
    <p:sldId id="256" r:id="rId2"/>
    <p:sldId id="31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5143500" type="screen16x9"/>
  <p:notesSz cx="9931400" cy="6794500"/>
  <p:embeddedFontLst>
    <p:embeddedFont>
      <p:font typeface="Exo 2" panose="020B0604020202020204" charset="0"/>
      <p:regular r:id="rId24"/>
      <p:bold r:id="rId25"/>
      <p:italic r:id="rId26"/>
      <p:boldItalic r:id="rId27"/>
    </p:embeddedFont>
    <p:embeddedFont>
      <p:font typeface="Fira Sans Extra Condensed Medium" panose="020B0604020202020204" charset="0"/>
      <p:regular r:id="rId28"/>
      <p:bold r:id="rId29"/>
      <p:italic r:id="rId30"/>
      <p:boldItalic r:id="rId31"/>
    </p:embeddedFont>
    <p:embeddedFont>
      <p:font typeface="Roboto Condensed" panose="02000000000000000000" pitchFamily="2" charset="0"/>
      <p:regular r:id="rId32"/>
      <p:bold r:id="rId33"/>
      <p:italic r:id="rId34"/>
      <p:boldItalic r:id="rId35"/>
    </p:embeddedFont>
    <p:embeddedFont>
      <p:font typeface="Roboto Condensed Light" panose="02000000000000000000" pitchFamily="2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403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5" tIns="95555" rIns="95555" bIns="9555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e2db3e8363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e2db3e8363_1_127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e2db3e8363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e2db3e8363_1_132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e2db3e8363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e2db3e8363_1_199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e2db3e8363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e2db3e8363_1_211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e2db3e8363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e2db3e8363_1_234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e2db3e8363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e2db3e8363_1_239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e2db3e8363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e2db3e8363_1_248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e2db3e8363_1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e2db3e8363_1_253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e2db3e8363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e2db3e8363_1_282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ced38b9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ced38b9_0_40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e2dced38b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e2dced38b9_0_50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e51b7b5d68_0_4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e51b7b5d68_0_416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e51b7b5d68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e51b7b5d68_0_549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e51b7b5d68_0_7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e51b7b5d68_0_719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e51b7b5d6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e51b7b5d68_1_0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e51b7b5d68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e51b7b5d68_1_17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e2dced38b9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e2dced38b9_0_55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e51b7b5d68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e51b7b5d68_1_28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e51b7b5d68_1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e51b7b5d68_1_36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e51b7b5d68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00338" y="509588"/>
            <a:ext cx="4530725" cy="254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e51b7b5d68_1_46:notes"/>
          <p:cNvSpPr txBox="1">
            <a:spLocks noGrp="1"/>
          </p:cNvSpPr>
          <p:nvPr>
            <p:ph type="body" idx="1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spcFirstLastPara="1" wrap="square" lIns="95555" tIns="95555" rIns="95555" bIns="9555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CUSTOM_1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2638350" y="376498"/>
            <a:ext cx="38673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2459550" y="2314225"/>
            <a:ext cx="42249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1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CUSTOM_2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1600733" y="985228"/>
            <a:ext cx="26736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179233" y="3058425"/>
            <a:ext cx="30951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1932090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CUSTOM_2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086651" y="14751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3481677" y="1666454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2298451" y="2475350"/>
            <a:ext cx="17637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4568051" y="2688425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3353176" y="35136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5671490" y="3709941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CUSTOM_2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5616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872450" y="3090475"/>
            <a:ext cx="2052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32352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3462900" y="2036750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59088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6136500" y="3090475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CUSTOM_2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464478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616128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077426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229076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3690375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3842025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3707117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3858772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5343519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5500261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6979921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7141750" y="3890201"/>
            <a:ext cx="14568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CUSTOM_2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1741950" y="2846700"/>
            <a:ext cx="12579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1741950" y="1650025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5633751" y="36353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5256958" y="2440056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CUSTOM_1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18000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CUSTOM_2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2285760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2285760" y="1946292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2285760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2285760" y="3864823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5047297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5047299" y="1946292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5047297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5047299" y="3864823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29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193529" y="1611150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CUSTOM_3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2260329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CUSTOM_15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CUSTOM_15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CUSTOM_3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1698072" y="21784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914472" y="18666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2668872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CUSTOM_15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>
            <a:spLocks noGrp="1"/>
          </p:cNvSpPr>
          <p:nvPr>
            <p:ph type="ctrTitle"/>
          </p:nvPr>
        </p:nvSpPr>
        <p:spPr>
          <a:xfrm flipH="1">
            <a:off x="1974150" y="1161000"/>
            <a:ext cx="5195700" cy="136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2152500" y="2494850"/>
            <a:ext cx="4839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/>
          <p:nvPr/>
        </p:nvSpPr>
        <p:spPr>
          <a:xfrm>
            <a:off x="625906" y="3722418"/>
            <a:ext cx="3830100" cy="17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0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9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1" name="Google Shape;13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>
            <a:spLocks noGrp="1"/>
          </p:cNvSpPr>
          <p:nvPr>
            <p:ph type="ctrTitle"/>
          </p:nvPr>
        </p:nvSpPr>
        <p:spPr>
          <a:xfrm>
            <a:off x="3167075" y="1393700"/>
            <a:ext cx="48561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 </a:t>
            </a:r>
            <a:r>
              <a:rPr lang="en" dirty="0"/>
              <a:t>- Intro to ML</a:t>
            </a:r>
            <a:endParaRPr dirty="0"/>
          </a:p>
        </p:txBody>
      </p:sp>
      <p:sp>
        <p:nvSpPr>
          <p:cNvPr id="137" name="Google Shape;137;p27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Machine Learning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</a:t>
            </a:r>
            <a:r>
              <a:rPr lang="en" sz="1200" strike="sngStrike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Ensembling Learning</a:t>
            </a:r>
            <a:endParaRPr sz="1200" strike="sngStrike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dirty="0">
                <a:solidFill>
                  <a:schemeClr val="accent1"/>
                </a:solidFill>
                <a:latin typeface="Exo 2"/>
              </a:rPr>
              <a:t>.* - </a:t>
            </a:r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Natural Language Processing (NLP)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2.5 - </a:t>
            </a: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KNN</a:t>
            </a:r>
            <a:endParaRPr sz="11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9840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8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43" name="Google Shape;143;p28"/>
          <p:cNvSpPr txBox="1">
            <a:spLocks noGrp="1"/>
          </p:cNvSpPr>
          <p:nvPr>
            <p:ph type="ctrTitle" idx="2"/>
          </p:nvPr>
        </p:nvSpPr>
        <p:spPr>
          <a:xfrm>
            <a:off x="390296" y="5064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Machine Learning</a:t>
            </a:r>
            <a:endParaRPr/>
          </a:p>
        </p:txBody>
      </p:sp>
      <p:sp>
        <p:nvSpPr>
          <p:cNvPr id="144" name="Google Shape;144;p28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45" name="Google Shape;145;p28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46" name="Google Shape;146;p28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47" name="Google Shape;147;p28"/>
          <p:cNvSpPr txBox="1">
            <a:spLocks noGrp="1"/>
          </p:cNvSpPr>
          <p:nvPr>
            <p:ph type="title" idx="6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48" name="Google Shape;148;p28"/>
          <p:cNvSpPr txBox="1">
            <a:spLocks noGrp="1"/>
          </p:cNvSpPr>
          <p:nvPr>
            <p:ph type="title" idx="7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49" name="Google Shape;149;p28"/>
          <p:cNvSpPr txBox="1">
            <a:spLocks noGrp="1"/>
          </p:cNvSpPr>
          <p:nvPr>
            <p:ph type="ctrTitle" idx="9"/>
          </p:nvPr>
        </p:nvSpPr>
        <p:spPr>
          <a:xfrm>
            <a:off x="390296" y="14726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vs. Regression</a:t>
            </a:r>
            <a:endParaRPr/>
          </a:p>
        </p:txBody>
      </p:sp>
      <p:sp>
        <p:nvSpPr>
          <p:cNvPr id="150" name="Google Shape;150;p28"/>
          <p:cNvSpPr txBox="1">
            <a:spLocks noGrp="1"/>
          </p:cNvSpPr>
          <p:nvPr>
            <p:ph type="ctrTitle" idx="14"/>
          </p:nvPr>
        </p:nvSpPr>
        <p:spPr>
          <a:xfrm>
            <a:off x="390296" y="24461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Terminology of Supervised Learning</a:t>
            </a:r>
            <a:endParaRPr/>
          </a:p>
        </p:txBody>
      </p:sp>
      <p:sp>
        <p:nvSpPr>
          <p:cNvPr id="151" name="Google Shape;151;p28"/>
          <p:cNvSpPr txBox="1">
            <a:spLocks noGrp="1"/>
          </p:cNvSpPr>
          <p:nvPr>
            <p:ph type="ctrTitle" idx="16"/>
          </p:nvPr>
        </p:nvSpPr>
        <p:spPr>
          <a:xfrm>
            <a:off x="6811558" y="208840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Models Pipeline</a:t>
            </a:r>
            <a:endParaRPr/>
          </a:p>
        </p:txBody>
      </p:sp>
      <p:sp>
        <p:nvSpPr>
          <p:cNvPr id="152" name="Google Shape;152;p28"/>
          <p:cNvSpPr txBox="1">
            <a:spLocks noGrp="1"/>
          </p:cNvSpPr>
          <p:nvPr>
            <p:ph type="ctrTitle" idx="18"/>
          </p:nvPr>
        </p:nvSpPr>
        <p:spPr>
          <a:xfrm>
            <a:off x="6811558" y="306497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Evaluating Models</a:t>
            </a:r>
            <a:endParaRPr/>
          </a:p>
        </p:txBody>
      </p:sp>
      <p:sp>
        <p:nvSpPr>
          <p:cNvPr id="153" name="Google Shape;153;p28"/>
          <p:cNvSpPr txBox="1">
            <a:spLocks noGrp="1"/>
          </p:cNvSpPr>
          <p:nvPr>
            <p:ph type="title" idx="7"/>
          </p:nvPr>
        </p:nvSpPr>
        <p:spPr>
          <a:xfrm>
            <a:off x="5922008" y="4136261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54" name="Google Shape;154;p28"/>
          <p:cNvSpPr txBox="1">
            <a:spLocks noGrp="1"/>
          </p:cNvSpPr>
          <p:nvPr>
            <p:ph type="ctrTitle" idx="18"/>
          </p:nvPr>
        </p:nvSpPr>
        <p:spPr>
          <a:xfrm>
            <a:off x="6811558" y="413624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Bias-Variance Tradeoff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ML</a:t>
            </a:r>
            <a:endParaRPr/>
          </a:p>
        </p:txBody>
      </p:sp>
      <p:sp>
        <p:nvSpPr>
          <p:cNvPr id="160" name="Google Shape;160;p29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Machine Learning</a:t>
            </a:r>
            <a:endParaRPr/>
          </a:p>
        </p:txBody>
      </p:sp>
      <p:sp>
        <p:nvSpPr>
          <p:cNvPr id="166" name="Google Shape;166;p30"/>
          <p:cNvSpPr/>
          <p:nvPr/>
        </p:nvSpPr>
        <p:spPr>
          <a:xfrm>
            <a:off x="976325" y="1251450"/>
            <a:ext cx="4531500" cy="7806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Data Sets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67" name="Google Shape;167;p30"/>
          <p:cNvSpPr/>
          <p:nvPr/>
        </p:nvSpPr>
        <p:spPr>
          <a:xfrm>
            <a:off x="976313" y="2616050"/>
            <a:ext cx="2159100" cy="7608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Supervised Learning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68" name="Google Shape;168;p30"/>
          <p:cNvSpPr/>
          <p:nvPr/>
        </p:nvSpPr>
        <p:spPr>
          <a:xfrm>
            <a:off x="3270300" y="2636600"/>
            <a:ext cx="2237400" cy="7197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Unsupervised Learning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169" name="Google Shape;169;p30"/>
          <p:cNvCxnSpPr>
            <a:stCxn id="166" idx="1"/>
            <a:endCxn id="167" idx="3"/>
          </p:cNvCxnSpPr>
          <p:nvPr/>
        </p:nvCxnSpPr>
        <p:spPr>
          <a:xfrm flipH="1">
            <a:off x="2055875" y="2032050"/>
            <a:ext cx="1186200" cy="584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0" name="Google Shape;170;p30"/>
          <p:cNvCxnSpPr>
            <a:stCxn id="166" idx="1"/>
            <a:endCxn id="168" idx="3"/>
          </p:cNvCxnSpPr>
          <p:nvPr/>
        </p:nvCxnSpPr>
        <p:spPr>
          <a:xfrm>
            <a:off x="3242075" y="2032050"/>
            <a:ext cx="1146900" cy="6045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1" name="Google Shape;171;p30"/>
          <p:cNvSpPr/>
          <p:nvPr/>
        </p:nvSpPr>
        <p:spPr>
          <a:xfrm>
            <a:off x="976363" y="3840025"/>
            <a:ext cx="2159100" cy="7608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Predictions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72" name="Google Shape;172;p30"/>
          <p:cNvSpPr/>
          <p:nvPr/>
        </p:nvSpPr>
        <p:spPr>
          <a:xfrm>
            <a:off x="3270352" y="3860575"/>
            <a:ext cx="2237400" cy="7197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Clusters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173" name="Google Shape;173;p30"/>
          <p:cNvCxnSpPr>
            <a:stCxn id="167" idx="1"/>
            <a:endCxn id="171" idx="3"/>
          </p:cNvCxnSpPr>
          <p:nvPr/>
        </p:nvCxnSpPr>
        <p:spPr>
          <a:xfrm>
            <a:off x="2055863" y="3376850"/>
            <a:ext cx="0" cy="4632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4" name="Google Shape;174;p30"/>
          <p:cNvCxnSpPr>
            <a:stCxn id="168" idx="1"/>
            <a:endCxn id="172" idx="3"/>
          </p:cNvCxnSpPr>
          <p:nvPr/>
        </p:nvCxnSpPr>
        <p:spPr>
          <a:xfrm>
            <a:off x="4389000" y="3356300"/>
            <a:ext cx="0" cy="5043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5" name="Google Shape;175;p30"/>
          <p:cNvSpPr/>
          <p:nvPr/>
        </p:nvSpPr>
        <p:spPr>
          <a:xfrm>
            <a:off x="5740388" y="1251450"/>
            <a:ext cx="2427300" cy="7806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Dynamic Scenarios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76" name="Google Shape;176;p30"/>
          <p:cNvSpPr/>
          <p:nvPr/>
        </p:nvSpPr>
        <p:spPr>
          <a:xfrm>
            <a:off x="5740325" y="2636600"/>
            <a:ext cx="2427300" cy="7197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Reinforcement Learning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77" name="Google Shape;177;p30"/>
          <p:cNvSpPr/>
          <p:nvPr/>
        </p:nvSpPr>
        <p:spPr>
          <a:xfrm>
            <a:off x="5740325" y="3860600"/>
            <a:ext cx="2427300" cy="7197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Actions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178" name="Google Shape;178;p30"/>
          <p:cNvCxnSpPr>
            <a:stCxn id="176" idx="1"/>
            <a:endCxn id="177" idx="3"/>
          </p:cNvCxnSpPr>
          <p:nvPr/>
        </p:nvCxnSpPr>
        <p:spPr>
          <a:xfrm>
            <a:off x="6953975" y="3356300"/>
            <a:ext cx="0" cy="5043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9" name="Google Shape;179;p30"/>
          <p:cNvCxnSpPr>
            <a:stCxn id="175" idx="1"/>
            <a:endCxn id="176" idx="3"/>
          </p:cNvCxnSpPr>
          <p:nvPr/>
        </p:nvCxnSpPr>
        <p:spPr>
          <a:xfrm>
            <a:off x="6954038" y="2032050"/>
            <a:ext cx="0" cy="6045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1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vs. Regression</a:t>
            </a:r>
            <a:endParaRPr/>
          </a:p>
        </p:txBody>
      </p:sp>
      <p:sp>
        <p:nvSpPr>
          <p:cNvPr id="185" name="Google Shape;185;p31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Supervised Tasks</a:t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1254325" y="1299050"/>
            <a:ext cx="2762100" cy="7806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Classification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2" name="Google Shape;192;p32"/>
          <p:cNvSpPr/>
          <p:nvPr/>
        </p:nvSpPr>
        <p:spPr>
          <a:xfrm>
            <a:off x="5127675" y="1308950"/>
            <a:ext cx="2762100" cy="7608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Regression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3" name="Google Shape;193;p32"/>
          <p:cNvSpPr/>
          <p:nvPr/>
        </p:nvSpPr>
        <p:spPr>
          <a:xfrm>
            <a:off x="1254325" y="2808775"/>
            <a:ext cx="2762100" cy="7806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accen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Categories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194" name="Google Shape;194;p32"/>
          <p:cNvSpPr/>
          <p:nvPr/>
        </p:nvSpPr>
        <p:spPr>
          <a:xfrm>
            <a:off x="5127675" y="2808775"/>
            <a:ext cx="2762100" cy="7806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accen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Numbers</a:t>
            </a:r>
            <a:endParaRPr>
              <a:solidFill>
                <a:schemeClr val="accent6"/>
              </a:solidFill>
            </a:endParaRPr>
          </a:p>
        </p:txBody>
      </p:sp>
      <p:cxnSp>
        <p:nvCxnSpPr>
          <p:cNvPr id="195" name="Google Shape;195;p32"/>
          <p:cNvCxnSpPr>
            <a:stCxn id="191" idx="1"/>
            <a:endCxn id="193" idx="3"/>
          </p:cNvCxnSpPr>
          <p:nvPr/>
        </p:nvCxnSpPr>
        <p:spPr>
          <a:xfrm>
            <a:off x="2635375" y="2079650"/>
            <a:ext cx="0" cy="729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6" name="Google Shape;196;p32"/>
          <p:cNvCxnSpPr/>
          <p:nvPr/>
        </p:nvCxnSpPr>
        <p:spPr>
          <a:xfrm>
            <a:off x="6508725" y="2079650"/>
            <a:ext cx="0" cy="729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3"/>
          <p:cNvSpPr txBox="1">
            <a:spLocks noGrp="1"/>
          </p:cNvSpPr>
          <p:nvPr>
            <p:ph type="ctrTitle"/>
          </p:nvPr>
        </p:nvSpPr>
        <p:spPr>
          <a:xfrm flipH="1">
            <a:off x="1147550" y="3402650"/>
            <a:ext cx="46389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Terminology of Supervised Learning</a:t>
            </a:r>
            <a:endParaRPr/>
          </a:p>
        </p:txBody>
      </p:sp>
      <p:sp>
        <p:nvSpPr>
          <p:cNvPr id="202" name="Google Shape;202;p33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4"/>
          <p:cNvSpPr txBox="1">
            <a:spLocks noGrp="1"/>
          </p:cNvSpPr>
          <p:nvPr>
            <p:ph type="body" idx="1"/>
          </p:nvPr>
        </p:nvSpPr>
        <p:spPr>
          <a:xfrm>
            <a:off x="273606" y="1704525"/>
            <a:ext cx="1536300" cy="5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Features - “X”</a:t>
            </a:r>
            <a:endParaRPr sz="1800"/>
          </a:p>
        </p:txBody>
      </p:sp>
      <p:sp>
        <p:nvSpPr>
          <p:cNvPr id="208" name="Google Shape;208;p3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Features and Targets</a:t>
            </a:r>
            <a:endParaRPr/>
          </a:p>
        </p:txBody>
      </p:sp>
      <p:pic>
        <p:nvPicPr>
          <p:cNvPr id="209" name="Google Shape;20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688" y="2746351"/>
            <a:ext cx="8495724" cy="16670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4"/>
          <p:cNvSpPr txBox="1"/>
          <p:nvPr/>
        </p:nvSpPr>
        <p:spPr>
          <a:xfrm>
            <a:off x="5048250" y="1754025"/>
            <a:ext cx="3790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Target Value / Label / Ground Truth - “Y”</a:t>
            </a:r>
            <a:endParaRPr/>
          </a:p>
        </p:txBody>
      </p:sp>
      <p:cxnSp>
        <p:nvCxnSpPr>
          <p:cNvPr id="211" name="Google Shape;211;p34"/>
          <p:cNvCxnSpPr/>
          <p:nvPr/>
        </p:nvCxnSpPr>
        <p:spPr>
          <a:xfrm>
            <a:off x="785850" y="2103450"/>
            <a:ext cx="7800" cy="651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2" name="Google Shape;212;p34"/>
          <p:cNvCxnSpPr/>
          <p:nvPr/>
        </p:nvCxnSpPr>
        <p:spPr>
          <a:xfrm>
            <a:off x="785850" y="2464613"/>
            <a:ext cx="7802400" cy="19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34"/>
          <p:cNvCxnSpPr/>
          <p:nvPr/>
        </p:nvCxnSpPr>
        <p:spPr>
          <a:xfrm>
            <a:off x="6913575" y="2468575"/>
            <a:ext cx="8100" cy="277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4" name="Google Shape;214;p34"/>
          <p:cNvCxnSpPr/>
          <p:nvPr/>
        </p:nvCxnSpPr>
        <p:spPr>
          <a:xfrm>
            <a:off x="6010300" y="2464625"/>
            <a:ext cx="8100" cy="277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" name="Google Shape;215;p34"/>
          <p:cNvCxnSpPr/>
          <p:nvPr/>
        </p:nvCxnSpPr>
        <p:spPr>
          <a:xfrm>
            <a:off x="5107025" y="2468575"/>
            <a:ext cx="8100" cy="277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6" name="Google Shape;216;p34"/>
          <p:cNvCxnSpPr/>
          <p:nvPr/>
        </p:nvCxnSpPr>
        <p:spPr>
          <a:xfrm>
            <a:off x="3783025" y="2464625"/>
            <a:ext cx="8100" cy="277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7" name="Google Shape;217;p34"/>
          <p:cNvCxnSpPr/>
          <p:nvPr/>
        </p:nvCxnSpPr>
        <p:spPr>
          <a:xfrm>
            <a:off x="3394025" y="2464625"/>
            <a:ext cx="8100" cy="277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8" name="Google Shape;218;p34"/>
          <p:cNvCxnSpPr/>
          <p:nvPr/>
        </p:nvCxnSpPr>
        <p:spPr>
          <a:xfrm>
            <a:off x="8588375" y="2464625"/>
            <a:ext cx="8100" cy="277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9" name="Google Shape;219;p34"/>
          <p:cNvCxnSpPr/>
          <p:nvPr/>
        </p:nvCxnSpPr>
        <p:spPr>
          <a:xfrm>
            <a:off x="7629550" y="2110025"/>
            <a:ext cx="6300" cy="644400"/>
          </a:xfrm>
          <a:prstGeom prst="straightConnector1">
            <a:avLst/>
          </a:prstGeom>
          <a:noFill/>
          <a:ln w="28575" cap="flat" cmpd="sng">
            <a:solidFill>
              <a:srgbClr val="E06666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Pipeline</a:t>
            </a:r>
            <a:endParaRPr/>
          </a:p>
        </p:txBody>
      </p:sp>
      <p:sp>
        <p:nvSpPr>
          <p:cNvPr id="225" name="Google Shape;225;p35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and Validating</a:t>
            </a:r>
            <a:endParaRPr/>
          </a:p>
        </p:txBody>
      </p:sp>
      <p:sp>
        <p:nvSpPr>
          <p:cNvPr id="231" name="Google Shape;231;p36"/>
          <p:cNvSpPr/>
          <p:nvPr/>
        </p:nvSpPr>
        <p:spPr>
          <a:xfrm>
            <a:off x="1254325" y="1299050"/>
            <a:ext cx="2762100" cy="7806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Training Set</a:t>
            </a:r>
            <a:endParaRPr sz="240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2" name="Google Shape;232;p36"/>
          <p:cNvSpPr/>
          <p:nvPr/>
        </p:nvSpPr>
        <p:spPr>
          <a:xfrm>
            <a:off x="5127675" y="1308950"/>
            <a:ext cx="2762100" cy="7608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Test Set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33" name="Google Shape;233;p36"/>
          <p:cNvSpPr/>
          <p:nvPr/>
        </p:nvSpPr>
        <p:spPr>
          <a:xfrm>
            <a:off x="1254325" y="2420950"/>
            <a:ext cx="2762100" cy="22701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accen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Train model for y with X values.</a:t>
            </a:r>
            <a:endParaRPr sz="24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Roughly 60-80% of entire data set</a:t>
            </a:r>
            <a:endParaRPr sz="24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4" name="Google Shape;234;p36"/>
          <p:cNvSpPr/>
          <p:nvPr/>
        </p:nvSpPr>
        <p:spPr>
          <a:xfrm>
            <a:off x="5127675" y="2420950"/>
            <a:ext cx="2762100" cy="22701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accen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Validate accuracy of model on test X values.</a:t>
            </a:r>
            <a:endParaRPr sz="24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Compare to y values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7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Evaluating Models</a:t>
            </a:r>
            <a:endParaRPr/>
          </a:p>
        </p:txBody>
      </p:sp>
      <p:sp>
        <p:nvSpPr>
          <p:cNvPr id="240" name="Google Shape;240;p37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8"/>
          <p:cNvSpPr txBox="1">
            <a:spLocks noGrp="1"/>
          </p:cNvSpPr>
          <p:nvPr>
            <p:ph type="body" idx="1"/>
          </p:nvPr>
        </p:nvSpPr>
        <p:spPr>
          <a:xfrm>
            <a:off x="966475" y="2190275"/>
            <a:ext cx="11859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Residuals</a:t>
            </a:r>
            <a:endParaRPr sz="200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2000"/>
          </a:p>
        </p:txBody>
      </p:sp>
      <p:sp>
        <p:nvSpPr>
          <p:cNvPr id="246" name="Google Shape;246;p3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Regression - Residuals</a:t>
            </a:r>
            <a:endParaRPr sz="3300"/>
          </a:p>
        </p:txBody>
      </p:sp>
      <p:pic>
        <p:nvPicPr>
          <p:cNvPr id="247" name="Google Shape;247;p38" descr="Introduction to residuals (article) | Khan Academ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1575" y="1741650"/>
            <a:ext cx="4116650" cy="23156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8" name="Google Shape;248;p38"/>
          <p:cNvCxnSpPr>
            <a:stCxn id="245" idx="3"/>
          </p:cNvCxnSpPr>
          <p:nvPr/>
        </p:nvCxnSpPr>
        <p:spPr>
          <a:xfrm>
            <a:off x="2152375" y="2440625"/>
            <a:ext cx="1535400" cy="25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9" name="Google Shape;249;p38"/>
          <p:cNvCxnSpPr>
            <a:stCxn id="245" idx="3"/>
          </p:cNvCxnSpPr>
          <p:nvPr/>
        </p:nvCxnSpPr>
        <p:spPr>
          <a:xfrm>
            <a:off x="2152375" y="2440625"/>
            <a:ext cx="2057400" cy="75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0" name="Google Shape;250;p38"/>
          <p:cNvSpPr txBox="1"/>
          <p:nvPr/>
        </p:nvSpPr>
        <p:spPr>
          <a:xfrm>
            <a:off x="5984475" y="4057275"/>
            <a:ext cx="7497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Khan Academy</a:t>
            </a:r>
            <a:endParaRPr sz="7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Regression - Common Metrics</a:t>
            </a:r>
            <a:endParaRPr/>
          </a:p>
        </p:txBody>
      </p:sp>
      <p:sp>
        <p:nvSpPr>
          <p:cNvPr id="256" name="Google Shape;256;p39"/>
          <p:cNvSpPr txBox="1">
            <a:spLocks noGrp="1"/>
          </p:cNvSpPr>
          <p:nvPr>
            <p:ph type="ctrTitle" idx="2"/>
          </p:nvPr>
        </p:nvSpPr>
        <p:spPr>
          <a:xfrm>
            <a:off x="561550" y="21330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MAE</a:t>
            </a:r>
            <a:endParaRPr/>
          </a:p>
        </p:txBody>
      </p:sp>
      <p:sp>
        <p:nvSpPr>
          <p:cNvPr id="257" name="Google Shape;257;p39"/>
          <p:cNvSpPr txBox="1">
            <a:spLocks noGrp="1"/>
          </p:cNvSpPr>
          <p:nvPr>
            <p:ph type="subTitle" idx="1"/>
          </p:nvPr>
        </p:nvSpPr>
        <p:spPr>
          <a:xfrm>
            <a:off x="872400" y="2418775"/>
            <a:ext cx="2052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Mean Absolute Error: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Take the sum of the absolute values of the residuals and divide by the number of points.</a:t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258" name="Google Shape;258;p39"/>
          <p:cNvCxnSpPr/>
          <p:nvPr/>
        </p:nvCxnSpPr>
        <p:spPr>
          <a:xfrm>
            <a:off x="3235150" y="1953700"/>
            <a:ext cx="0" cy="164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39"/>
          <p:cNvCxnSpPr/>
          <p:nvPr/>
        </p:nvCxnSpPr>
        <p:spPr>
          <a:xfrm>
            <a:off x="5908750" y="1953700"/>
            <a:ext cx="0" cy="164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0" name="Google Shape;260;p39"/>
          <p:cNvSpPr txBox="1">
            <a:spLocks noGrp="1"/>
          </p:cNvSpPr>
          <p:nvPr>
            <p:ph type="ctrTitle" idx="2"/>
          </p:nvPr>
        </p:nvSpPr>
        <p:spPr>
          <a:xfrm>
            <a:off x="3235150" y="21330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MSE</a:t>
            </a:r>
            <a:endParaRPr/>
          </a:p>
        </p:txBody>
      </p:sp>
      <p:sp>
        <p:nvSpPr>
          <p:cNvPr id="261" name="Google Shape;261;p39"/>
          <p:cNvSpPr txBox="1">
            <a:spLocks noGrp="1"/>
          </p:cNvSpPr>
          <p:nvPr>
            <p:ph type="subTitle" idx="1"/>
          </p:nvPr>
        </p:nvSpPr>
        <p:spPr>
          <a:xfrm>
            <a:off x="3546000" y="2418775"/>
            <a:ext cx="2052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Mean Squared Error: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Take the sum of the squared values of the residuals and divide by the number of points.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62" name="Google Shape;262;p39"/>
          <p:cNvSpPr txBox="1">
            <a:spLocks noGrp="1"/>
          </p:cNvSpPr>
          <p:nvPr>
            <p:ph type="ctrTitle" idx="2"/>
          </p:nvPr>
        </p:nvSpPr>
        <p:spPr>
          <a:xfrm>
            <a:off x="5908850" y="21330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RMSE</a:t>
            </a:r>
            <a:endParaRPr/>
          </a:p>
        </p:txBody>
      </p:sp>
      <p:sp>
        <p:nvSpPr>
          <p:cNvPr id="263" name="Google Shape;263;p39"/>
          <p:cNvSpPr txBox="1">
            <a:spLocks noGrp="1"/>
          </p:cNvSpPr>
          <p:nvPr>
            <p:ph type="subTitle" idx="1"/>
          </p:nvPr>
        </p:nvSpPr>
        <p:spPr>
          <a:xfrm>
            <a:off x="6219700" y="2418775"/>
            <a:ext cx="2052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Root Mean Squared Error: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Take the square root of the mean squared error value - oftentimes more interpretable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0"/>
          <p:cNvSpPr txBox="1">
            <a:spLocks noGrp="1"/>
          </p:cNvSpPr>
          <p:nvPr>
            <p:ph type="body" idx="1"/>
          </p:nvPr>
        </p:nvSpPr>
        <p:spPr>
          <a:xfrm>
            <a:off x="642050" y="1454275"/>
            <a:ext cx="5308200" cy="32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Accuracy</a:t>
            </a:r>
            <a:r>
              <a:rPr lang="en" sz="2000"/>
              <a:t> is a common metric for classification</a:t>
            </a: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160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Simple and easy to interpret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However, doesn’t tell the entire story</a:t>
            </a:r>
            <a:endParaRPr sz="2000"/>
          </a:p>
        </p:txBody>
      </p:sp>
      <p:sp>
        <p:nvSpPr>
          <p:cNvPr id="269" name="Google Shape;269;p4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Classification - Accuracy</a:t>
            </a:r>
            <a:endParaRPr sz="3300"/>
          </a:p>
        </p:txBody>
      </p:sp>
      <p:pic>
        <p:nvPicPr>
          <p:cNvPr id="270" name="Google Shape;270;p40" descr="&lt;math xmlns=&quot;http://www.w3.org/1998/Math/MathML&quot;&gt;&lt;mfrac mathcolor=&quot;#FFFFFF&quot;&gt;&lt;mrow&gt;&lt;mi&gt;N&lt;/mi&gt;&lt;mi&gt;u&lt;/mi&gt;&lt;mi&gt;m&lt;/mi&gt;&lt;mi&gt;b&lt;/mi&gt;&lt;mi&gt;e&lt;/mi&gt;&lt;mi&gt;r&lt;/mi&gt;&lt;mo&gt;&amp;#xA0;&lt;/mo&gt;&lt;mi&gt;o&lt;/mi&gt;&lt;mi&gt;f&lt;/mi&gt;&lt;mo&gt;&amp;#xA0;&lt;/mo&gt;&lt;mi&gt;T&lt;/mi&gt;&lt;mi&gt;r&lt;/mi&gt;&lt;mi&gt;u&lt;/mi&gt;&lt;mi&gt;e&lt;/mi&gt;&lt;mo&gt;&amp;#xA0;&lt;/mo&gt;&lt;mi&gt;P&lt;/mi&gt;&lt;mi&gt;r&lt;/mi&gt;&lt;mi&gt;e&lt;/mi&gt;&lt;mi&gt;d&lt;/mi&gt;&lt;mi&gt;i&lt;/mi&gt;&lt;mi&gt;c&lt;/mi&gt;&lt;mi&gt;t&lt;/mi&gt;&lt;mi&gt;i&lt;/mi&gt;&lt;mi&gt;o&lt;/mi&gt;&lt;mi&gt;n&lt;/mi&gt;&lt;mi&gt;s&lt;/mi&gt;&lt;/mrow&gt;&lt;mrow&gt;&lt;mi&gt;N&lt;/mi&gt;&lt;mi&gt;u&lt;/mi&gt;&lt;mi&gt;m&lt;/mi&gt;&lt;mi&gt;b&lt;/mi&gt;&lt;mi&gt;e&lt;/mi&gt;&lt;mi&gt;r&lt;/mi&gt;&lt;mo&gt;&amp;#xA0;&lt;/mo&gt;&lt;mi&gt;o&lt;/mi&gt;&lt;mi&gt;f&lt;/mi&gt;&lt;mo&gt;&amp;#xA0;&lt;/mo&gt;&lt;mi&gt;P&lt;/mi&gt;&lt;mi&gt;r&lt;/mi&gt;&lt;mi&gt;e&lt;/mi&gt;&lt;mi&gt;d&lt;/mi&gt;&lt;mi&gt;i&lt;/mi&gt;&lt;mi&gt;c&lt;/mi&gt;&lt;mi&gt;t&lt;/mi&gt;&lt;mi&gt;i&lt;/mi&gt;&lt;mi&gt;o&lt;/mi&gt;&lt;mi&gt;n&lt;/mi&gt;&lt;mi&gt;s&lt;/mi&gt;&lt;/mrow&gt;&lt;/mfrac&gt;&lt;/math&gt;" title="fraction numerator N u m b e r space o f space T r u e space P r e d i c t i o n s over denominator N u m b e r space o f space P r e d i c t i o n s end frac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2750" y="2133608"/>
            <a:ext cx="4343401" cy="8778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>
            <a:spLocks noGrp="1"/>
          </p:cNvSpPr>
          <p:nvPr>
            <p:ph type="body" idx="1"/>
          </p:nvPr>
        </p:nvSpPr>
        <p:spPr>
          <a:xfrm>
            <a:off x="642050" y="1454275"/>
            <a:ext cx="4786500" cy="32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Given a binary classification task: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False Negative: incorrectly predicts negative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False Positive: incorrectly predicts positive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Can be represented by a confusion matrix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Applies to more than binary classification</a:t>
            </a:r>
            <a:endParaRPr sz="2000"/>
          </a:p>
        </p:txBody>
      </p:sp>
      <p:sp>
        <p:nvSpPr>
          <p:cNvPr id="276" name="Google Shape;276;p41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Classification - Confusion Matrix</a:t>
            </a:r>
            <a:endParaRPr sz="3300"/>
          </a:p>
        </p:txBody>
      </p:sp>
      <p:pic>
        <p:nvPicPr>
          <p:cNvPr id="277" name="Google Shape;277;p41" descr="Simple guide to confusion matrix terminolog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7825" y="1685638"/>
            <a:ext cx="2943225" cy="15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41"/>
          <p:cNvSpPr txBox="1"/>
          <p:nvPr/>
        </p:nvSpPr>
        <p:spPr>
          <a:xfrm>
            <a:off x="7946900" y="3165363"/>
            <a:ext cx="6705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dataschool.io</a:t>
            </a:r>
            <a:endParaRPr sz="7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2"/>
          <p:cNvSpPr txBox="1">
            <a:spLocks noGrp="1"/>
          </p:cNvSpPr>
          <p:nvPr>
            <p:ph type="body" idx="1"/>
          </p:nvPr>
        </p:nvSpPr>
        <p:spPr>
          <a:xfrm>
            <a:off x="642050" y="1454275"/>
            <a:ext cx="5053800" cy="32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Recall: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Higher value means less FN’s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Precision: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Higher value means less FP’s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 Condensed"/>
              <a:buChar char="❖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F1 Score</a:t>
            </a:r>
            <a:r>
              <a:rPr lang="en" sz="2000"/>
              <a:t>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Harmonic mean of precision and recall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If either is low, F1 Score will be low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Useful for imbalance data sets</a:t>
            </a:r>
            <a:endParaRPr sz="2000"/>
          </a:p>
        </p:txBody>
      </p:sp>
      <p:sp>
        <p:nvSpPr>
          <p:cNvPr id="284" name="Google Shape;284;p4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Classification - F1 Score</a:t>
            </a:r>
            <a:endParaRPr sz="3300"/>
          </a:p>
        </p:txBody>
      </p:sp>
      <p:pic>
        <p:nvPicPr>
          <p:cNvPr id="285" name="Google Shape;285;p42" descr="&lt;math xmlns=&quot;http://www.w3.org/1998/Math/MathML&quot;&gt;&lt;mi mathcolor=&quot;#FFFFFF&quot;&gt;P&lt;/mi&gt;&lt;mi mathcolor=&quot;#FFFFFF&quot;&gt;r&lt;/mi&gt;&lt;mi mathcolor=&quot;#FFFFFF&quot;&gt;e&lt;/mi&gt;&lt;mi mathcolor=&quot;#FFFFFF&quot;&gt;c&lt;/mi&gt;&lt;mi mathcolor=&quot;#FFFFFF&quot;&gt;i&lt;/mi&gt;&lt;mi mathcolor=&quot;#FFFFFF&quot;&gt;s&lt;/mi&gt;&lt;mi mathcolor=&quot;#FFFFFF&quot;&gt;i&lt;/mi&gt;&lt;mi mathcolor=&quot;#FFFFFF&quot;&gt;o&lt;/mi&gt;&lt;mi mathcolor=&quot;#FFFFFF&quot;&gt;n&lt;/mi&gt;&lt;mo mathcolor=&quot;#FFFFFF&quot;&gt;&amp;#xA0;&lt;/mo&gt;&lt;mo mathcolor=&quot;#FFFFFF&quot;&gt;=&lt;/mo&gt;&lt;mo mathcolor=&quot;#FFFFFF&quot;&gt;&amp;#xA0;&lt;/mo&gt;&lt;mfrac mathcolor=&quot;#FFFFFF&quot;&gt;&lt;mrow&gt;&lt;munder&gt;&lt;mo&gt;&amp;#x2211;&lt;/mo&gt;&lt;mrow/&gt;&lt;/munder&gt;&lt;mi&gt;T&lt;/mi&gt;&lt;mi&gt;P&lt;/mi&gt;&lt;/mrow&gt;&lt;mrow&gt;&lt;munder&gt;&lt;mo&gt;&amp;#x2211;&lt;/mo&gt;&lt;mrow/&gt;&lt;/munder&gt;&lt;mfenced&gt;&lt;mrow&gt;&lt;mi&gt;T&lt;/mi&gt;&lt;mi&gt;P&lt;/mi&gt;&lt;mo&gt;&amp;#x2009;&lt;/mo&gt;&lt;mo&gt;+&lt;/mo&gt;&lt;mo&gt;&amp;#x2009;&lt;/mo&gt;&lt;mi&gt;F&lt;/mi&gt;&lt;mi&gt;P&lt;/mi&gt;&lt;/mrow&gt;&lt;/mfenced&gt;&lt;/mrow&gt;&lt;/mfrac&gt;&lt;/math&gt;" title="P r e c i s i o n space equals space fraction numerator sum for blank of T P over denominator sum for blank of open parentheses T P thin space plus thin space F P close parentheses end frac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95700" y="2856599"/>
            <a:ext cx="2435149" cy="72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42" descr="&lt;math xmlns=&quot;http://www.w3.org/1998/Math/MathML&quot;&gt;&lt;mi mathcolor=&quot;#FFFFFF&quot;&gt;R&lt;/mi&gt;&lt;mi mathcolor=&quot;#FFFFFF&quot;&gt;e&lt;/mi&gt;&lt;mi mathcolor=&quot;#FFFFFF&quot;&gt;c&lt;/mi&gt;&lt;mi mathcolor=&quot;#FFFFFF&quot;&gt;a&lt;/mi&gt;&lt;mi mathcolor=&quot;#FFFFFF&quot;&gt;l&lt;/mi&gt;&lt;mi mathcolor=&quot;#FFFFFF&quot;&gt;l&lt;/mi&gt;&lt;mo mathcolor=&quot;#FFFFFF&quot;&gt;&amp;#xA0;&lt;/mo&gt;&lt;mo mathcolor=&quot;#FFFFFF&quot;&gt;=&lt;/mo&gt;&lt;mo mathcolor=&quot;#FFFFFF&quot;&gt;&amp;#xA0;&lt;/mo&gt;&lt;mfrac mathcolor=&quot;#FFFFFF&quot;&gt;&lt;mrow&gt;&lt;munder&gt;&lt;mo&gt;&amp;#x2211;&lt;/mo&gt;&lt;mrow/&gt;&lt;/munder&gt;&lt;mi&gt;T&lt;/mi&gt;&lt;mi&gt;P&lt;/mi&gt;&lt;/mrow&gt;&lt;mrow&gt;&lt;munder&gt;&lt;mo&gt;&amp;#x2211;&lt;/mo&gt;&lt;mrow/&gt;&lt;/munder&gt;&lt;mfenced&gt;&lt;mrow&gt;&lt;mi&gt;T&lt;/mi&gt;&lt;mi&gt;P&lt;/mi&gt;&lt;mo&gt;&amp;#x2009;&lt;/mo&gt;&lt;mo&gt;+&lt;/mo&gt;&lt;mo&gt;&amp;#x2009;&lt;/mo&gt;&lt;mi&gt;F&lt;/mi&gt;&lt;mi&gt;N&lt;/mi&gt;&lt;/mrow&gt;&lt;/mfenced&gt;&lt;/mrow&gt;&lt;/mfrac&gt;&lt;/math&gt;" title="R e c a l l space equals space fraction numerator sum for blank of T P over denominator sum for blank of open parentheses T P thin space plus thin space F N close parentheses end fraction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95700" y="1583875"/>
            <a:ext cx="2435149" cy="7966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3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Overfitting and Underfitting</a:t>
            </a:r>
            <a:endParaRPr/>
          </a:p>
        </p:txBody>
      </p:sp>
      <p:sp>
        <p:nvSpPr>
          <p:cNvPr id="292" name="Google Shape;292;p43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4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Overfitting and Underfitting</a:t>
            </a:r>
            <a:endParaRPr/>
          </a:p>
        </p:txBody>
      </p:sp>
      <p:sp>
        <p:nvSpPr>
          <p:cNvPr id="298" name="Google Shape;298;p44"/>
          <p:cNvSpPr/>
          <p:nvPr/>
        </p:nvSpPr>
        <p:spPr>
          <a:xfrm>
            <a:off x="1254325" y="1299050"/>
            <a:ext cx="2762100" cy="7806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Overfitting</a:t>
            </a:r>
            <a:endParaRPr sz="240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99" name="Google Shape;299;p44"/>
          <p:cNvSpPr/>
          <p:nvPr/>
        </p:nvSpPr>
        <p:spPr>
          <a:xfrm>
            <a:off x="5127675" y="1308950"/>
            <a:ext cx="2762100" cy="7608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Underfitting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300" name="Google Shape;300;p44"/>
          <p:cNvSpPr/>
          <p:nvPr/>
        </p:nvSpPr>
        <p:spPr>
          <a:xfrm>
            <a:off x="1254325" y="2420950"/>
            <a:ext cx="2762100" cy="22701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accen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When model fits well to train set but badly to test data set.</a:t>
            </a:r>
            <a:endParaRPr sz="18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Doesn’t generalize enough</a:t>
            </a:r>
            <a:endParaRPr sz="18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301" name="Google Shape;301;p44"/>
          <p:cNvSpPr/>
          <p:nvPr/>
        </p:nvSpPr>
        <p:spPr>
          <a:xfrm>
            <a:off x="5127675" y="2420950"/>
            <a:ext cx="2762100" cy="2270100"/>
          </a:xfrm>
          <a:prstGeom prst="snip2DiagRect">
            <a:avLst>
              <a:gd name="adj1" fmla="val 0"/>
              <a:gd name="adj2" fmla="val 16667"/>
            </a:avLst>
          </a:prstGeom>
          <a:solidFill>
            <a:schemeClr val="accen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When model fits badly to the train set and the test set.</a:t>
            </a:r>
            <a:endParaRPr sz="18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6"/>
                </a:solidFill>
                <a:latin typeface="Exo 2"/>
                <a:ea typeface="Exo 2"/>
                <a:cs typeface="Exo 2"/>
                <a:sym typeface="Exo 2"/>
              </a:rPr>
              <a:t>Generalizes too much.</a:t>
            </a:r>
            <a:endParaRPr sz="1800">
              <a:solidFill>
                <a:schemeClr val="accent6"/>
              </a:solidFill>
              <a:latin typeface="Exo 2"/>
              <a:ea typeface="Exo 2"/>
              <a:cs typeface="Exo 2"/>
              <a:sym typeface="Exo 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5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  <p:pic>
        <p:nvPicPr>
          <p:cNvPr id="307" name="Google Shape;307;p45" descr="Techniques for handling underfitting and overfitting in Machine Learning |  by Manpreet Singh Minhas | Jun, 2021 | Towards Data Scienc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3000" y="1218650"/>
            <a:ext cx="4178000" cy="3308099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45"/>
          <p:cNvSpPr txBox="1"/>
          <p:nvPr/>
        </p:nvSpPr>
        <p:spPr>
          <a:xfrm>
            <a:off x="4502675" y="4526750"/>
            <a:ext cx="1883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https://towardsdatascience.com/techniques-for-handling-underfitting-and-overfitting-in-machine-learning-348daa2380b9</a:t>
            </a:r>
            <a:endParaRPr sz="7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6"/>
          <p:cNvSpPr txBox="1">
            <a:spLocks noGrp="1"/>
          </p:cNvSpPr>
          <p:nvPr>
            <p:ph type="body" idx="1"/>
          </p:nvPr>
        </p:nvSpPr>
        <p:spPr>
          <a:xfrm>
            <a:off x="642050" y="1454275"/>
            <a:ext cx="5053800" cy="32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Bias </a:t>
            </a:r>
            <a:r>
              <a:rPr lang="en" sz="2000"/>
              <a:t>(suggests underfitting if high):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How much predictions vary from the target value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Variance </a:t>
            </a:r>
            <a:r>
              <a:rPr lang="en" sz="2000"/>
              <a:t>(suggests overfitting if high):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how much predictions would change if different training values would use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 Condensed"/>
              <a:buChar char="❖"/>
            </a:pPr>
            <a:r>
              <a:rPr lang="en" sz="2000"/>
              <a:t>Ideal is low bias low variance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However, often need to make tradeoffs based off of domain knowledge</a:t>
            </a:r>
            <a:endParaRPr sz="2000"/>
          </a:p>
        </p:txBody>
      </p:sp>
      <p:sp>
        <p:nvSpPr>
          <p:cNvPr id="314" name="Google Shape;314;p4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Bias and Variance</a:t>
            </a:r>
            <a:endParaRPr sz="3300"/>
          </a:p>
        </p:txBody>
      </p:sp>
      <p:pic>
        <p:nvPicPr>
          <p:cNvPr id="315" name="Google Shape;315;p46" descr="Bias-variance Tradeoff in Reinforcement Learning | endtoend.ai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6856" y="1082375"/>
            <a:ext cx="3508619" cy="334155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46"/>
          <p:cNvSpPr txBox="1"/>
          <p:nvPr/>
        </p:nvSpPr>
        <p:spPr>
          <a:xfrm>
            <a:off x="6912375" y="4328975"/>
            <a:ext cx="18831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endtoend.ai</a:t>
            </a:r>
            <a:endParaRPr sz="7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Office PowerPoint</Application>
  <PresentationFormat>Bildschirmpräsentation (16:9)</PresentationFormat>
  <Paragraphs>121</Paragraphs>
  <Slides>21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Arial</vt:lpstr>
      <vt:lpstr>Fira Sans Extra Condensed Medium</vt:lpstr>
      <vt:lpstr>Roboto Condensed</vt:lpstr>
      <vt:lpstr>Exo 2</vt:lpstr>
      <vt:lpstr>Roboto Condensed Light</vt:lpstr>
      <vt:lpstr>Tech Newsletter by Slidesgo</vt:lpstr>
      <vt:lpstr>06 - Intro to ML</vt:lpstr>
      <vt:lpstr>Course Overview:</vt:lpstr>
      <vt:lpstr>Table of Contents</vt:lpstr>
      <vt:lpstr>Types of ML</vt:lpstr>
      <vt:lpstr>Types of Machine Learning</vt:lpstr>
      <vt:lpstr>Classification vs. Regression</vt:lpstr>
      <vt:lpstr>Types of Supervised Tasks</vt:lpstr>
      <vt:lpstr>Terminology of Supervised Learning</vt:lpstr>
      <vt:lpstr>Features and Targets</vt:lpstr>
      <vt:lpstr>Training Pipeline</vt:lpstr>
      <vt:lpstr>Training and Validating</vt:lpstr>
      <vt:lpstr>Evaluating Models</vt:lpstr>
      <vt:lpstr>Regression - Residuals</vt:lpstr>
      <vt:lpstr>Regression - Common Metrics</vt:lpstr>
      <vt:lpstr>Classification - Accuracy</vt:lpstr>
      <vt:lpstr>Classification - Confusion Matrix</vt:lpstr>
      <vt:lpstr>Classification - F1 Score</vt:lpstr>
      <vt:lpstr>Overfitting and Underfitting</vt:lpstr>
      <vt:lpstr>Overfitting and Underfitting</vt:lpstr>
      <vt:lpstr>Examples</vt:lpstr>
      <vt:lpstr>Bias and Variance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10 - Intro to ML</dc:title>
  <cp:lastModifiedBy>Hamed, Osama</cp:lastModifiedBy>
  <cp:revision>7</cp:revision>
  <cp:lastPrinted>2025-08-21T06:55:35Z</cp:lastPrinted>
  <dcterms:modified xsi:type="dcterms:W3CDTF">2025-11-14T09:06:54Z</dcterms:modified>
</cp:coreProperties>
</file>