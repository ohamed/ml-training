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</p:sldMasterIdLst>
  <p:notesMasterIdLst>
    <p:notesMasterId r:id="rId26"/>
  </p:notesMasterIdLst>
  <p:sldIdLst>
    <p:sldId id="256" r:id="rId2"/>
    <p:sldId id="31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10" r:id="rId25"/>
  </p:sldIdLst>
  <p:sldSz cx="9144000" cy="5143500" type="screen16x9"/>
  <p:notesSz cx="10021888" cy="6889750"/>
  <p:embeddedFontLst>
    <p:embeddedFont>
      <p:font typeface="Exo 2" panose="020B0604020202020204" charset="0"/>
      <p:regular r:id="rId27"/>
      <p:bold r:id="rId28"/>
      <p:italic r:id="rId29"/>
      <p:boldItalic r:id="rId30"/>
    </p:embeddedFont>
    <p:embeddedFont>
      <p:font typeface="Fira Sans Extra Condensed Medium" panose="020B0604020202020204" charset="0"/>
      <p:regular r:id="rId31"/>
      <p:bold r:id="rId32"/>
      <p:italic r:id="rId33"/>
      <p:boldItalic r:id="rId34"/>
    </p:embeddedFont>
    <p:embeddedFont>
      <p:font typeface="Nunito Light" panose="020F0502020204030204" pitchFamily="2" charset="0"/>
      <p:regular r:id="rId35"/>
    </p:embeddedFont>
    <p:embeddedFont>
      <p:font typeface="Roboto Condensed" panose="02000000000000000000" pitchFamily="2" charset="0"/>
      <p:regular r:id="rId36"/>
      <p:bold r:id="rId37"/>
      <p:italic r:id="rId38"/>
      <p:boldItalic r:id="rId39"/>
    </p:embeddedFont>
    <p:embeddedFont>
      <p:font typeface="Roboto Condensed Light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rjun Rajara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10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7-20T18:14:58.448" idx="1">
    <p:pos x="6000" y="0"/>
    <p:text>Good use of boxes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7-20T18:17:26.134" idx="2">
    <p:pos x="1973" y="2014"/>
    <p:text>Remember to add a textbox with a link to the image for citing it. There are other images where you need to do that as well, this is an example.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18" tIns="96618" rIns="96618" bIns="96618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9baafe93df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9baafe93df_0_323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Rundown of topics going to be covered:</a:t>
            </a:r>
            <a:endParaRPr>
              <a:solidFill>
                <a:schemeClr val="dk1"/>
              </a:solidFill>
            </a:endParaRPr>
          </a:p>
          <a:p>
            <a:pPr marL="966338" lvl="1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Introduction and terminology (this video)</a:t>
            </a:r>
            <a:endParaRPr>
              <a:solidFill>
                <a:schemeClr val="dk1"/>
              </a:solidFill>
            </a:endParaRPr>
          </a:p>
          <a:p>
            <a:pPr marL="966338" lvl="1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Algorithms for splitting → gini impurity, entropy, and more</a:t>
            </a:r>
            <a:endParaRPr>
              <a:solidFill>
                <a:schemeClr val="dk1"/>
              </a:solidFill>
            </a:endParaRPr>
          </a:p>
          <a:p>
            <a:pPr marL="966338" lvl="1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Random forests and ensemble learning</a:t>
            </a:r>
            <a:endParaRPr>
              <a:solidFill>
                <a:schemeClr val="dk1"/>
              </a:solidFill>
            </a:endParaRPr>
          </a:p>
          <a:p>
            <a:pPr marL="966338" lvl="1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Finally - implementation and visualization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Get ready for assignment - implementation with Titanic data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9baafe93df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9baafe93df_0_480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9baafe93df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9baafe93df_0_422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DT = tree-like model of decisions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Also a supervised learning algorithm that can solve classification and regression problems</a:t>
            </a:r>
            <a:endParaRPr>
              <a:solidFill>
                <a:srgbClr val="FF0000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Goal is to create a model that predicts a sample’s class or value based on rules derived from previous training data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e3707c76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e3707c7680_0_4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966338" lvl="1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Shows survival passengers on the Titanic and the various features the algorithm selects and how it reaches its final decisions</a:t>
            </a:r>
            <a:endParaRPr>
              <a:solidFill>
                <a:schemeClr val="dk1"/>
              </a:solidFill>
            </a:endParaRPr>
          </a:p>
          <a:p>
            <a:pPr marL="1449507" lvl="2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Sibsp = number of spouses or siblings on board</a:t>
            </a:r>
            <a:endParaRPr>
              <a:solidFill>
                <a:schemeClr val="dk1"/>
              </a:solidFill>
            </a:endParaRPr>
          </a:p>
          <a:p>
            <a:pPr marL="966338" lvl="1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We will dive into how the DT chooses what features to use and how it splits in the next video!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e3707c768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e3707c7680_0_16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Node: root node splits into sub-nodes → sub-nodes split into more sub-nodes → etc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Root node: the first node → represents the sample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Splitting: what creates nodes → node divided into two or more sub-nodes (beginning: root node)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Leaf/terminal node: end of a node when the node cannot be split anymore (shows the outcome)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Pruning: goal → reduce complexity and prevent overfitting</a:t>
            </a:r>
            <a:endParaRPr>
              <a:solidFill>
                <a:schemeClr val="dk1"/>
              </a:solidFill>
            </a:endParaRPr>
          </a:p>
          <a:p>
            <a:pPr marL="966338" lvl="1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Sounds complicated, but here’s what it means: sometimes new samples that are classified, for example, with a DT will rarely reach a terminal node, meaning that the algorithm has overfitted, or adapted solely to the training data. Pruning gets rid of those redundant and useless parts of a DT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Branch/sub-tree: subsection of a DT (point to example)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Parent and child node: a node that is divided into sub-nodes is the parent of those sub-nodes. Those sub-nodes are the child of the parent node. 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100% Pure node: all data in a node belongs to certain class when 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100% Impure node: a node is split evenly 50/50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9baafe93df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9baafe93df_0_634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e2e0366e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e2e0366e06_0_0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r>
              <a:rPr lang="en"/>
              <a:t>1: done until homogenous nodes are left, which is when the classes are perfectly split</a:t>
            </a:r>
            <a:endParaRPr/>
          </a:p>
          <a:p>
            <a:pPr marL="0" indent="0">
              <a:buNone/>
            </a:pPr>
            <a:r>
              <a:rPr lang="en"/>
              <a:t>3: </a:t>
            </a:r>
            <a:r>
              <a:rPr lang="en">
                <a:solidFill>
                  <a:schemeClr val="dk1"/>
                </a:solidFill>
              </a:rPr>
              <a:t>For example, if you are dealing with a regression problem, the target variable is continuous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e2e0366e0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e2e0366e06_0_7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r>
              <a:rPr lang="en"/>
              <a:t>2: </a:t>
            </a:r>
            <a:r>
              <a:rPr lang="en">
                <a:solidFill>
                  <a:schemeClr val="dk1"/>
                </a:solidFill>
              </a:rPr>
              <a:t>A set of values with completely different numbers will have high variance, while a set of values with the same numbers will have a variance of 0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>
                <a:solidFill>
                  <a:schemeClr val="dk1"/>
                </a:solidFill>
              </a:rPr>
              <a:t>From the picture: bias refers to the assumptions made by the model to make the target function easier to estimate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e5a469ae4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e5a469ae40_0_3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2e0366e0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2e0366e06_0_12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2e0366e0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2e0366e06_0_17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r>
              <a:rPr lang="en"/>
              <a:t>2: </a:t>
            </a:r>
            <a:endParaRPr/>
          </a:p>
          <a:p>
            <a:pPr marL="483169" indent="-315402">
              <a:buClr>
                <a:schemeClr val="dk1"/>
              </a:buClr>
              <a:buChar char="-"/>
            </a:pPr>
            <a:r>
              <a:rPr lang="en">
                <a:solidFill>
                  <a:schemeClr val="dk1"/>
                </a:solidFill>
              </a:rPr>
              <a:t>The lower the entropy, the higher the purity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buClr>
                <a:schemeClr val="dk1"/>
              </a:buClr>
              <a:buChar char="-"/>
            </a:pPr>
            <a:r>
              <a:rPr lang="en">
                <a:solidFill>
                  <a:schemeClr val="dk1"/>
                </a:solidFill>
              </a:rPr>
              <a:t>Entropy is 0 for a homogenous node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buClr>
                <a:schemeClr val="dk1"/>
              </a:buClr>
              <a:buChar char="-"/>
            </a:pPr>
            <a:r>
              <a:rPr lang="en">
                <a:solidFill>
                  <a:schemeClr val="dk1"/>
                </a:solidFill>
              </a:rPr>
              <a:t>As impurity increases, more information is required to describe a node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e30f1595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e30f1595e0_0_2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e30f1595e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e30f1595e0_0_8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r>
              <a:rPr lang="en"/>
              <a:t>0.5, 0.57, 0.33 comes from percent of each class (e.g. 10/20)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e2e0366e0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e2e0366e06_0_27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r>
              <a:rPr lang="en"/>
              <a:t>2:</a:t>
            </a:r>
            <a:endParaRPr/>
          </a:p>
          <a:p>
            <a:pPr marL="483169" indent="-315402">
              <a:buChar char="-"/>
            </a:pPr>
            <a:r>
              <a:rPr lang="en"/>
              <a:t>Doesn’t have logarithms like information gain (intensive for computers)</a:t>
            </a:r>
            <a:endParaRPr/>
          </a:p>
          <a:p>
            <a:pPr marL="0" indent="0">
              <a:buNone/>
            </a:pPr>
            <a:r>
              <a:rPr lang="en"/>
              <a:t>4: </a:t>
            </a:r>
            <a:endParaRPr/>
          </a:p>
          <a:p>
            <a:pPr marL="483169" indent="-315402">
              <a:buChar char="-"/>
            </a:pPr>
            <a:r>
              <a:rPr lang="en"/>
              <a:t>The lower the Gini impurity, the higher the purity and homogeneity of a node</a:t>
            </a:r>
            <a:endParaRPr/>
          </a:p>
          <a:p>
            <a:pPr marL="483169" indent="-315402">
              <a:buChar char="-"/>
            </a:pPr>
            <a:r>
              <a:rPr lang="en"/>
              <a:t>Gini impurity of pure node = 0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e30f1595e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e30f1595e0_0_31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e30f1595e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e30f1595e0_0_24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9baafe93df_0_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9baafe93df_0_759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e2e0366e0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e2e0366e06_0_43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r>
              <a:rPr lang="en"/>
              <a:t>1: </a:t>
            </a:r>
            <a:r>
              <a:rPr lang="en">
                <a:solidFill>
                  <a:schemeClr val="dk1"/>
                </a:solidFill>
              </a:rPr>
              <a:t>A random forest consists of a large number of decision trees that form an ensemble, or a combination of multiple machine learning methods to increase performance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>
                <a:solidFill>
                  <a:schemeClr val="dk1"/>
                </a:solidFill>
              </a:rPr>
              <a:t>2: 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buClr>
                <a:schemeClr val="dk1"/>
              </a:buClr>
              <a:buChar char="-"/>
            </a:pPr>
            <a:r>
              <a:rPr lang="en">
                <a:solidFill>
                  <a:schemeClr val="dk1"/>
                </a:solidFill>
              </a:rPr>
              <a:t>A random forest also uses a technique called bagging, which is used to combine the results of multiple models to get a final prediction</a:t>
            </a:r>
            <a:endParaRPr>
              <a:solidFill>
                <a:schemeClr val="dk1"/>
              </a:solidFill>
            </a:endParaRPr>
          </a:p>
          <a:p>
            <a:pPr marL="483169" indent="-315402">
              <a:buClr>
                <a:schemeClr val="dk1"/>
              </a:buClr>
              <a:buChar char="-"/>
            </a:pPr>
            <a:r>
              <a:rPr lang="en">
                <a:solidFill>
                  <a:schemeClr val="dk1"/>
                </a:solidFill>
              </a:rPr>
              <a:t>Bootstrapping is a component of bagging that is used to choose random samples from a dataset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>
                <a:solidFill>
                  <a:schemeClr val="dk1"/>
                </a:solidFill>
              </a:rPr>
              <a:t>3: The number of bootstrap subsets is equivalent to the number of decision trees that are going to be trained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>
                <a:solidFill>
                  <a:schemeClr val="dk1"/>
                </a:solidFill>
              </a:rPr>
              <a:t>4: The goal is that the decision trees are uncorrelated, meaning that they don’t make the same errors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>
                <a:solidFill>
                  <a:schemeClr val="dk1"/>
                </a:solidFill>
              </a:rPr>
              <a:t>5.2: To determine the final prediction, a system of voting is used - the class with the most votes from the decision trees becomes the model’s output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54d4e7c4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54d4e7c4d_0_5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9baafe93df_0_8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9baafe93df_0_802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e2e0366e0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13038" y="515938"/>
            <a:ext cx="45958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e2e0366e06_0_53:notes"/>
          <p:cNvSpPr txBox="1">
            <a:spLocks noGrp="1"/>
          </p:cNvSpPr>
          <p:nvPr>
            <p:ph type="body" idx="1"/>
          </p:nvPr>
        </p:nvSpPr>
        <p:spPr>
          <a:xfrm>
            <a:off x="1002189" y="3272631"/>
            <a:ext cx="8017510" cy="3100388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483169" indent="-315402">
              <a:buChar char="-"/>
            </a:pPr>
            <a:r>
              <a:rPr lang="en"/>
              <a:t>Iris dataset: contains biological characteristics of types of Iris flowers (length and width of petals and sepals, part of flower’s reproductive system)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 idx="2"/>
          </p:nvPr>
        </p:nvSpPr>
        <p:spPr>
          <a:xfrm>
            <a:off x="390296" y="2016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90446" y="656478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7" hasCustomPrompt="1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>
            <a:off x="390296" y="11678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3"/>
          </p:nvPr>
        </p:nvSpPr>
        <p:spPr>
          <a:xfrm>
            <a:off x="690446" y="162267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14"/>
          </p:nvPr>
        </p:nvSpPr>
        <p:spPr>
          <a:xfrm>
            <a:off x="390296" y="21413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5"/>
          </p:nvPr>
        </p:nvSpPr>
        <p:spPr>
          <a:xfrm>
            <a:off x="690446" y="2596156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811558" y="177518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6811558" y="2230005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811558" y="27990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9"/>
          </p:nvPr>
        </p:nvSpPr>
        <p:spPr>
          <a:xfrm>
            <a:off x="6811558" y="325391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811558" y="38113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21"/>
          </p:nvPr>
        </p:nvSpPr>
        <p:spPr>
          <a:xfrm>
            <a:off x="6811558" y="4266173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147575" y="402895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CUSTOM_1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ctrTitle"/>
          </p:nvPr>
        </p:nvSpPr>
        <p:spPr>
          <a:xfrm>
            <a:off x="263835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2459550" y="2314225"/>
            <a:ext cx="42249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CUSTOM_2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718579" y="4030481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photo">
  <p:cSld name="CUSTOM_2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ctrTitle"/>
          </p:nvPr>
        </p:nvSpPr>
        <p:spPr>
          <a:xfrm>
            <a:off x="1600733" y="985228"/>
            <a:ext cx="26736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1179233" y="3058425"/>
            <a:ext cx="30951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ctrTitle" idx="2"/>
          </p:nvPr>
        </p:nvSpPr>
        <p:spPr>
          <a:xfrm>
            <a:off x="1932090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CUSTOM_2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 idx="2" hasCustomPrompt="1"/>
          </p:nvPr>
        </p:nvSpPr>
        <p:spPr>
          <a:xfrm>
            <a:off x="1086651" y="1475125"/>
            <a:ext cx="17952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 flipH="1">
            <a:off x="3481677" y="1666454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3" hasCustomPrompt="1"/>
          </p:nvPr>
        </p:nvSpPr>
        <p:spPr>
          <a:xfrm>
            <a:off x="2298451" y="2475350"/>
            <a:ext cx="17637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4"/>
          </p:nvPr>
        </p:nvSpPr>
        <p:spPr>
          <a:xfrm flipH="1">
            <a:off x="4568051" y="2688425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title" idx="5" hasCustomPrompt="1"/>
          </p:nvPr>
        </p:nvSpPr>
        <p:spPr>
          <a:xfrm>
            <a:off x="3353176" y="3513625"/>
            <a:ext cx="17952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6"/>
          </p:nvPr>
        </p:nvSpPr>
        <p:spPr>
          <a:xfrm flipH="1">
            <a:off x="5671490" y="3709941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2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ctrTitle" idx="2"/>
          </p:nvPr>
        </p:nvSpPr>
        <p:spPr>
          <a:xfrm>
            <a:off x="5616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>
            <a:off x="872450" y="30904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ctrTitle" idx="3"/>
          </p:nvPr>
        </p:nvSpPr>
        <p:spPr>
          <a:xfrm>
            <a:off x="32352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ubTitle" idx="4"/>
          </p:nvPr>
        </p:nvSpPr>
        <p:spPr>
          <a:xfrm>
            <a:off x="3462900" y="2036750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ctrTitle" idx="5"/>
          </p:nvPr>
        </p:nvSpPr>
        <p:spPr>
          <a:xfrm>
            <a:off x="59088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6"/>
          </p:nvPr>
        </p:nvSpPr>
        <p:spPr>
          <a:xfrm>
            <a:off x="6136500" y="3090475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CUSTOM_2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2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ctrTitle" idx="2"/>
          </p:nvPr>
        </p:nvSpPr>
        <p:spPr>
          <a:xfrm>
            <a:off x="464478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ubTitle" idx="1"/>
          </p:nvPr>
        </p:nvSpPr>
        <p:spPr>
          <a:xfrm>
            <a:off x="616128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ctrTitle" idx="3"/>
          </p:nvPr>
        </p:nvSpPr>
        <p:spPr>
          <a:xfrm>
            <a:off x="2077426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ubTitle" idx="4"/>
          </p:nvPr>
        </p:nvSpPr>
        <p:spPr>
          <a:xfrm>
            <a:off x="2229076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ctrTitle" idx="5"/>
          </p:nvPr>
        </p:nvSpPr>
        <p:spPr>
          <a:xfrm>
            <a:off x="3690375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ubTitle" idx="6"/>
          </p:nvPr>
        </p:nvSpPr>
        <p:spPr>
          <a:xfrm>
            <a:off x="3842025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ctrTitle" idx="7"/>
          </p:nvPr>
        </p:nvSpPr>
        <p:spPr>
          <a:xfrm>
            <a:off x="3707117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ubTitle" idx="8"/>
          </p:nvPr>
        </p:nvSpPr>
        <p:spPr>
          <a:xfrm>
            <a:off x="3858772" y="3890201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ctrTitle" idx="9"/>
          </p:nvPr>
        </p:nvSpPr>
        <p:spPr>
          <a:xfrm>
            <a:off x="5343519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ubTitle" idx="13"/>
          </p:nvPr>
        </p:nvSpPr>
        <p:spPr>
          <a:xfrm>
            <a:off x="5500261" y="3890201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ctrTitle" idx="14"/>
          </p:nvPr>
        </p:nvSpPr>
        <p:spPr>
          <a:xfrm>
            <a:off x="6979921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15"/>
          </p:nvPr>
        </p:nvSpPr>
        <p:spPr>
          <a:xfrm>
            <a:off x="7141750" y="3890201"/>
            <a:ext cx="14568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CUSTOM_2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 idx="2"/>
          </p:nvPr>
        </p:nvSpPr>
        <p:spPr>
          <a:xfrm>
            <a:off x="1741950" y="2846700"/>
            <a:ext cx="12579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741950" y="1650025"/>
            <a:ext cx="21573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ctrTitle" idx="3"/>
          </p:nvPr>
        </p:nvSpPr>
        <p:spPr>
          <a:xfrm>
            <a:off x="5633751" y="36353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4"/>
          </p:nvPr>
        </p:nvSpPr>
        <p:spPr>
          <a:xfrm>
            <a:off x="5256958" y="2440056"/>
            <a:ext cx="21573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USTOM_1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4">
  <p:cSld name="CUSTOM_2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118000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2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ctrTitle" idx="2"/>
          </p:nvPr>
        </p:nvSpPr>
        <p:spPr>
          <a:xfrm>
            <a:off x="2285760" y="1652042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2285760" y="1946292"/>
            <a:ext cx="170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ctrTitle" idx="3"/>
          </p:nvPr>
        </p:nvSpPr>
        <p:spPr>
          <a:xfrm>
            <a:off x="2285760" y="3570573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ubTitle" idx="4"/>
          </p:nvPr>
        </p:nvSpPr>
        <p:spPr>
          <a:xfrm>
            <a:off x="2285760" y="3864823"/>
            <a:ext cx="170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ctrTitle" idx="5"/>
          </p:nvPr>
        </p:nvSpPr>
        <p:spPr>
          <a:xfrm>
            <a:off x="5047297" y="1652042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6"/>
          </p:nvPr>
        </p:nvSpPr>
        <p:spPr>
          <a:xfrm>
            <a:off x="5047299" y="1946292"/>
            <a:ext cx="17931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ctrTitle" idx="7"/>
          </p:nvPr>
        </p:nvSpPr>
        <p:spPr>
          <a:xfrm>
            <a:off x="5047297" y="3570573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8"/>
          </p:nvPr>
        </p:nvSpPr>
        <p:spPr>
          <a:xfrm>
            <a:off x="5047299" y="3864823"/>
            <a:ext cx="17931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29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ctrTitle"/>
          </p:nvPr>
        </p:nvSpPr>
        <p:spPr>
          <a:xfrm flipH="1">
            <a:off x="1193529" y="1611150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5">
  <p:cSld name="CUSTOM_3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2260329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USTOM_15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4">
  <p:cSld name="CUSTOM_15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6">
  <p:cSld name="CUSTOM_3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 flipH="1">
            <a:off x="1698072" y="21784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914472" y="18666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1"/>
          </p:nvPr>
        </p:nvSpPr>
        <p:spPr>
          <a:xfrm>
            <a:off x="2668872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5">
  <p:cSld name="CUSTOM_15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ctrTitle"/>
          </p:nvPr>
        </p:nvSpPr>
        <p:spPr>
          <a:xfrm flipH="1">
            <a:off x="1974150" y="1161000"/>
            <a:ext cx="5195700" cy="13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ubTitle" idx="1"/>
          </p:nvPr>
        </p:nvSpPr>
        <p:spPr>
          <a:xfrm>
            <a:off x="2152500" y="2494850"/>
            <a:ext cx="4839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625906" y="3722418"/>
            <a:ext cx="3830100" cy="17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1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33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4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7"/>
          <p:cNvSpPr txBox="1">
            <a:spLocks noGrp="1"/>
          </p:cNvSpPr>
          <p:nvPr>
            <p:ph type="subTitle" idx="1"/>
          </p:nvPr>
        </p:nvSpPr>
        <p:spPr>
          <a:xfrm>
            <a:off x="1147575" y="402895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3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ctrTitle" idx="2"/>
          </p:nvPr>
        </p:nvSpPr>
        <p:spPr>
          <a:xfrm>
            <a:off x="390296" y="2016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690446" y="580278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title" idx="3" hasCustomPrompt="1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8"/>
          <p:cNvSpPr txBox="1">
            <a:spLocks noGrp="1"/>
          </p:cNvSpPr>
          <p:nvPr>
            <p:ph type="title" idx="4" hasCustomPrompt="1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28"/>
          <p:cNvSpPr txBox="1">
            <a:spLocks noGrp="1"/>
          </p:cNvSpPr>
          <p:nvPr>
            <p:ph type="title" idx="5" hasCustomPrompt="1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28"/>
          <p:cNvSpPr txBox="1">
            <a:spLocks noGrp="1"/>
          </p:cNvSpPr>
          <p:nvPr>
            <p:ph type="title" idx="6" hasCustomPrompt="1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28"/>
          <p:cNvSpPr txBox="1">
            <a:spLocks noGrp="1"/>
          </p:cNvSpPr>
          <p:nvPr>
            <p:ph type="title" idx="7" hasCustomPrompt="1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28"/>
          <p:cNvSpPr txBox="1">
            <a:spLocks noGrp="1"/>
          </p:cNvSpPr>
          <p:nvPr>
            <p:ph type="title" idx="8" hasCustomPrompt="1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28"/>
          <p:cNvSpPr txBox="1">
            <a:spLocks noGrp="1"/>
          </p:cNvSpPr>
          <p:nvPr>
            <p:ph type="ctrTitle" idx="9"/>
          </p:nvPr>
        </p:nvSpPr>
        <p:spPr>
          <a:xfrm>
            <a:off x="390296" y="11678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ubTitle" idx="13"/>
          </p:nvPr>
        </p:nvSpPr>
        <p:spPr>
          <a:xfrm>
            <a:off x="690446" y="154647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ctrTitle" idx="14"/>
          </p:nvPr>
        </p:nvSpPr>
        <p:spPr>
          <a:xfrm>
            <a:off x="390296" y="21413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ubTitle" idx="15"/>
          </p:nvPr>
        </p:nvSpPr>
        <p:spPr>
          <a:xfrm>
            <a:off x="690446" y="2519956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ctrTitle" idx="16"/>
          </p:nvPr>
        </p:nvSpPr>
        <p:spPr>
          <a:xfrm>
            <a:off x="6811558" y="177518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subTitle" idx="17"/>
          </p:nvPr>
        </p:nvSpPr>
        <p:spPr>
          <a:xfrm>
            <a:off x="6811558" y="2153805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ctrTitle" idx="18"/>
          </p:nvPr>
        </p:nvSpPr>
        <p:spPr>
          <a:xfrm>
            <a:off x="6811558" y="27990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9"/>
          </p:nvPr>
        </p:nvSpPr>
        <p:spPr>
          <a:xfrm>
            <a:off x="6811558" y="317771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ctrTitle" idx="20"/>
          </p:nvPr>
        </p:nvSpPr>
        <p:spPr>
          <a:xfrm>
            <a:off x="6811558" y="38113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subTitle" idx="21"/>
          </p:nvPr>
        </p:nvSpPr>
        <p:spPr>
          <a:xfrm>
            <a:off x="6811558" y="4189973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8" name="Google Shape;158;p29"/>
          <p:cNvSpPr txBox="1">
            <a:spLocks noGrp="1"/>
          </p:cNvSpPr>
          <p:nvPr>
            <p:ph type="subTitle" idx="1"/>
          </p:nvPr>
        </p:nvSpPr>
        <p:spPr>
          <a:xfrm>
            <a:off x="3718579" y="4030481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body" idx="1"/>
          </p:nvPr>
        </p:nvSpPr>
        <p:spPr>
          <a:xfrm>
            <a:off x="870650" y="11442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Nunito Light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lphaLcPeriod"/>
              <a:defRPr>
                <a:solidFill>
                  <a:srgbClr val="000000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32"/>
          <p:cNvSpPr txBox="1">
            <a:spLocks noGrp="1"/>
          </p:cNvSpPr>
          <p:nvPr>
            <p:ph type="subTitle" idx="1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33"/>
          <p:cNvSpPr txBox="1">
            <a:spLocks noGrp="1"/>
          </p:cNvSpPr>
          <p:nvPr>
            <p:ph type="subTitle" idx="1"/>
          </p:nvPr>
        </p:nvSpPr>
        <p:spPr>
          <a:xfrm>
            <a:off x="118000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1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34"/>
          <p:cNvSpPr txBox="1">
            <a:spLocks noGrp="1"/>
          </p:cNvSpPr>
          <p:nvPr>
            <p:ph type="subTitle" idx="1"/>
          </p:nvPr>
        </p:nvSpPr>
        <p:spPr>
          <a:xfrm>
            <a:off x="2260329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ctrTitle"/>
          </p:nvPr>
        </p:nvSpPr>
        <p:spPr>
          <a:xfrm>
            <a:off x="263835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subTitle" idx="1"/>
          </p:nvPr>
        </p:nvSpPr>
        <p:spPr>
          <a:xfrm>
            <a:off x="2580225" y="2314225"/>
            <a:ext cx="3983400" cy="10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>
            <a:spLocks noGrp="1"/>
          </p:cNvSpPr>
          <p:nvPr>
            <p:ph type="ctrTitle"/>
          </p:nvPr>
        </p:nvSpPr>
        <p:spPr>
          <a:xfrm>
            <a:off x="1600733" y="985228"/>
            <a:ext cx="26736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36"/>
          <p:cNvSpPr txBox="1">
            <a:spLocks noGrp="1"/>
          </p:cNvSpPr>
          <p:nvPr>
            <p:ph type="subTitle" idx="1"/>
          </p:nvPr>
        </p:nvSpPr>
        <p:spPr>
          <a:xfrm>
            <a:off x="1665825" y="3058425"/>
            <a:ext cx="26085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ctrTitle" idx="2"/>
          </p:nvPr>
        </p:nvSpPr>
        <p:spPr>
          <a:xfrm>
            <a:off x="1964850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18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5" name="Google Shape;185;p37"/>
          <p:cNvSpPr txBox="1">
            <a:spLocks noGrp="1"/>
          </p:cNvSpPr>
          <p:nvPr>
            <p:ph type="title" idx="2" hasCustomPrompt="1"/>
          </p:nvPr>
        </p:nvSpPr>
        <p:spPr>
          <a:xfrm>
            <a:off x="1086651" y="1475125"/>
            <a:ext cx="17952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>
            <a:spLocks noGrp="1"/>
          </p:cNvSpPr>
          <p:nvPr>
            <p:ph type="subTitle" idx="1"/>
          </p:nvPr>
        </p:nvSpPr>
        <p:spPr>
          <a:xfrm flipH="1">
            <a:off x="3481677" y="1666454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title" idx="3" hasCustomPrompt="1"/>
          </p:nvPr>
        </p:nvSpPr>
        <p:spPr>
          <a:xfrm>
            <a:off x="2298451" y="2475350"/>
            <a:ext cx="17637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37"/>
          <p:cNvSpPr txBox="1">
            <a:spLocks noGrp="1"/>
          </p:cNvSpPr>
          <p:nvPr>
            <p:ph type="subTitle" idx="4"/>
          </p:nvPr>
        </p:nvSpPr>
        <p:spPr>
          <a:xfrm flipH="1">
            <a:off x="4568051" y="2688425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title" idx="5" hasCustomPrompt="1"/>
          </p:nvPr>
        </p:nvSpPr>
        <p:spPr>
          <a:xfrm>
            <a:off x="3353176" y="3513625"/>
            <a:ext cx="17952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37"/>
          <p:cNvSpPr txBox="1">
            <a:spLocks noGrp="1"/>
          </p:cNvSpPr>
          <p:nvPr>
            <p:ph type="subTitle" idx="6"/>
          </p:nvPr>
        </p:nvSpPr>
        <p:spPr>
          <a:xfrm flipH="1">
            <a:off x="5671490" y="3709941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>
            <a:spLocks noGrp="1"/>
          </p:cNvSpPr>
          <p:nvPr>
            <p:ph type="ctrTitle"/>
          </p:nvPr>
        </p:nvSpPr>
        <p:spPr>
          <a:xfrm>
            <a:off x="5616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1"/>
          </p:nvPr>
        </p:nvSpPr>
        <p:spPr>
          <a:xfrm>
            <a:off x="872450" y="30904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ctrTitle" idx="2"/>
          </p:nvPr>
        </p:nvSpPr>
        <p:spPr>
          <a:xfrm>
            <a:off x="32352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subTitle" idx="3"/>
          </p:nvPr>
        </p:nvSpPr>
        <p:spPr>
          <a:xfrm>
            <a:off x="3462900" y="2036750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96" name="Google Shape;196;p38"/>
          <p:cNvSpPr txBox="1">
            <a:spLocks noGrp="1"/>
          </p:cNvSpPr>
          <p:nvPr>
            <p:ph type="ctrTitle" idx="4"/>
          </p:nvPr>
        </p:nvSpPr>
        <p:spPr>
          <a:xfrm>
            <a:off x="59088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subTitle" idx="5"/>
          </p:nvPr>
        </p:nvSpPr>
        <p:spPr>
          <a:xfrm>
            <a:off x="6136500" y="3090475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ctrTitle" idx="6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1" name="Google Shape;201;p39"/>
          <p:cNvSpPr txBox="1">
            <a:spLocks noGrp="1"/>
          </p:cNvSpPr>
          <p:nvPr>
            <p:ph type="ctrTitle" idx="2"/>
          </p:nvPr>
        </p:nvSpPr>
        <p:spPr>
          <a:xfrm>
            <a:off x="464478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39"/>
          <p:cNvSpPr txBox="1">
            <a:spLocks noGrp="1"/>
          </p:cNvSpPr>
          <p:nvPr>
            <p:ph type="subTitle" idx="1"/>
          </p:nvPr>
        </p:nvSpPr>
        <p:spPr>
          <a:xfrm>
            <a:off x="616128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03" name="Google Shape;203;p39"/>
          <p:cNvSpPr txBox="1">
            <a:spLocks noGrp="1"/>
          </p:cNvSpPr>
          <p:nvPr>
            <p:ph type="ctrTitle" idx="3"/>
          </p:nvPr>
        </p:nvSpPr>
        <p:spPr>
          <a:xfrm>
            <a:off x="2077426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subTitle" idx="4"/>
          </p:nvPr>
        </p:nvSpPr>
        <p:spPr>
          <a:xfrm>
            <a:off x="2229076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ctrTitle" idx="5"/>
          </p:nvPr>
        </p:nvSpPr>
        <p:spPr>
          <a:xfrm>
            <a:off x="3690375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subTitle" idx="6"/>
          </p:nvPr>
        </p:nvSpPr>
        <p:spPr>
          <a:xfrm>
            <a:off x="3842025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ctrTitle" idx="7"/>
          </p:nvPr>
        </p:nvSpPr>
        <p:spPr>
          <a:xfrm>
            <a:off x="3707117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39"/>
          <p:cNvSpPr txBox="1">
            <a:spLocks noGrp="1"/>
          </p:cNvSpPr>
          <p:nvPr>
            <p:ph type="subTitle" idx="8"/>
          </p:nvPr>
        </p:nvSpPr>
        <p:spPr>
          <a:xfrm>
            <a:off x="3858772" y="3890201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09" name="Google Shape;209;p39"/>
          <p:cNvSpPr txBox="1">
            <a:spLocks noGrp="1"/>
          </p:cNvSpPr>
          <p:nvPr>
            <p:ph type="ctrTitle" idx="9"/>
          </p:nvPr>
        </p:nvSpPr>
        <p:spPr>
          <a:xfrm>
            <a:off x="5343519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39"/>
          <p:cNvSpPr txBox="1">
            <a:spLocks noGrp="1"/>
          </p:cNvSpPr>
          <p:nvPr>
            <p:ph type="subTitle" idx="13"/>
          </p:nvPr>
        </p:nvSpPr>
        <p:spPr>
          <a:xfrm>
            <a:off x="5500261" y="3890201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11" name="Google Shape;211;p39"/>
          <p:cNvSpPr txBox="1">
            <a:spLocks noGrp="1"/>
          </p:cNvSpPr>
          <p:nvPr>
            <p:ph type="ctrTitle" idx="14"/>
          </p:nvPr>
        </p:nvSpPr>
        <p:spPr>
          <a:xfrm>
            <a:off x="6979921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39"/>
          <p:cNvSpPr txBox="1">
            <a:spLocks noGrp="1"/>
          </p:cNvSpPr>
          <p:nvPr>
            <p:ph type="subTitle" idx="15"/>
          </p:nvPr>
        </p:nvSpPr>
        <p:spPr>
          <a:xfrm>
            <a:off x="7141750" y="3890201"/>
            <a:ext cx="14568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40"/>
          <p:cNvSpPr txBox="1">
            <a:spLocks noGrp="1"/>
          </p:cNvSpPr>
          <p:nvPr>
            <p:ph type="ctrTitle" idx="2"/>
          </p:nvPr>
        </p:nvSpPr>
        <p:spPr>
          <a:xfrm>
            <a:off x="1741950" y="2846700"/>
            <a:ext cx="12579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subTitle" idx="1"/>
          </p:nvPr>
        </p:nvSpPr>
        <p:spPr>
          <a:xfrm>
            <a:off x="1741950" y="1650025"/>
            <a:ext cx="21573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17" name="Google Shape;217;p40"/>
          <p:cNvSpPr txBox="1">
            <a:spLocks noGrp="1"/>
          </p:cNvSpPr>
          <p:nvPr>
            <p:ph type="ctrTitle" idx="3"/>
          </p:nvPr>
        </p:nvSpPr>
        <p:spPr>
          <a:xfrm>
            <a:off x="5633751" y="36353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subTitle" idx="4"/>
          </p:nvPr>
        </p:nvSpPr>
        <p:spPr>
          <a:xfrm>
            <a:off x="5256958" y="2440056"/>
            <a:ext cx="21573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3" name="Google Shape;223;p42"/>
          <p:cNvSpPr txBox="1">
            <a:spLocks noGrp="1"/>
          </p:cNvSpPr>
          <p:nvPr>
            <p:ph type="ctrTitle" idx="2"/>
          </p:nvPr>
        </p:nvSpPr>
        <p:spPr>
          <a:xfrm>
            <a:off x="2285760" y="1652042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42"/>
          <p:cNvSpPr txBox="1">
            <a:spLocks noGrp="1"/>
          </p:cNvSpPr>
          <p:nvPr>
            <p:ph type="subTitle" idx="1"/>
          </p:nvPr>
        </p:nvSpPr>
        <p:spPr>
          <a:xfrm>
            <a:off x="2285760" y="1946292"/>
            <a:ext cx="170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25" name="Google Shape;225;p42"/>
          <p:cNvSpPr txBox="1">
            <a:spLocks noGrp="1"/>
          </p:cNvSpPr>
          <p:nvPr>
            <p:ph type="ctrTitle" idx="3"/>
          </p:nvPr>
        </p:nvSpPr>
        <p:spPr>
          <a:xfrm>
            <a:off x="2285760" y="3570573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42"/>
          <p:cNvSpPr txBox="1">
            <a:spLocks noGrp="1"/>
          </p:cNvSpPr>
          <p:nvPr>
            <p:ph type="subTitle" idx="4"/>
          </p:nvPr>
        </p:nvSpPr>
        <p:spPr>
          <a:xfrm>
            <a:off x="2285760" y="3864823"/>
            <a:ext cx="170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27" name="Google Shape;227;p42"/>
          <p:cNvSpPr txBox="1">
            <a:spLocks noGrp="1"/>
          </p:cNvSpPr>
          <p:nvPr>
            <p:ph type="ctrTitle" idx="5"/>
          </p:nvPr>
        </p:nvSpPr>
        <p:spPr>
          <a:xfrm>
            <a:off x="5047297" y="1652042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42"/>
          <p:cNvSpPr txBox="1">
            <a:spLocks noGrp="1"/>
          </p:cNvSpPr>
          <p:nvPr>
            <p:ph type="subTitle" idx="6"/>
          </p:nvPr>
        </p:nvSpPr>
        <p:spPr>
          <a:xfrm>
            <a:off x="5047299" y="1946292"/>
            <a:ext cx="17931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29" name="Google Shape;229;p42"/>
          <p:cNvSpPr txBox="1">
            <a:spLocks noGrp="1"/>
          </p:cNvSpPr>
          <p:nvPr>
            <p:ph type="ctrTitle" idx="7"/>
          </p:nvPr>
        </p:nvSpPr>
        <p:spPr>
          <a:xfrm>
            <a:off x="5047297" y="3570573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42"/>
          <p:cNvSpPr txBox="1">
            <a:spLocks noGrp="1"/>
          </p:cNvSpPr>
          <p:nvPr>
            <p:ph type="subTitle" idx="8"/>
          </p:nvPr>
        </p:nvSpPr>
        <p:spPr>
          <a:xfrm>
            <a:off x="5047299" y="3864823"/>
            <a:ext cx="17931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>
            <a:spLocks noGrp="1"/>
          </p:cNvSpPr>
          <p:nvPr>
            <p:ph type="ctrTitle"/>
          </p:nvPr>
        </p:nvSpPr>
        <p:spPr>
          <a:xfrm flipH="1">
            <a:off x="1193529" y="1611150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17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6"/>
          <p:cNvSpPr txBox="1">
            <a:spLocks noGrp="1"/>
          </p:cNvSpPr>
          <p:nvPr>
            <p:ph type="ctrTitle"/>
          </p:nvPr>
        </p:nvSpPr>
        <p:spPr>
          <a:xfrm flipH="1">
            <a:off x="1698072" y="21784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None/>
              <a:defRPr sz="65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4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914472" y="18666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46"/>
          <p:cNvSpPr txBox="1">
            <a:spLocks noGrp="1"/>
          </p:cNvSpPr>
          <p:nvPr>
            <p:ph type="subTitle" idx="1"/>
          </p:nvPr>
        </p:nvSpPr>
        <p:spPr>
          <a:xfrm>
            <a:off x="2668872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7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1">
  <p:cSld name="CUSTOM_1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 txBox="1">
            <a:spLocks noGrp="1"/>
          </p:cNvSpPr>
          <p:nvPr>
            <p:ph type="ctrTitle"/>
          </p:nvPr>
        </p:nvSpPr>
        <p:spPr>
          <a:xfrm flipH="1">
            <a:off x="1974150" y="1161000"/>
            <a:ext cx="5195700" cy="13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48"/>
          <p:cNvSpPr txBox="1">
            <a:spLocks noGrp="1"/>
          </p:cNvSpPr>
          <p:nvPr>
            <p:ph type="subTitle" idx="1"/>
          </p:nvPr>
        </p:nvSpPr>
        <p:spPr>
          <a:xfrm>
            <a:off x="2152500" y="2494850"/>
            <a:ext cx="4839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8"/>
          <p:cNvSpPr txBox="1"/>
          <p:nvPr/>
        </p:nvSpPr>
        <p:spPr>
          <a:xfrm>
            <a:off x="625906" y="3722418"/>
            <a:ext cx="3830100" cy="17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lang="en" sz="1000" b="1">
                <a:solidFill>
                  <a:srgbClr val="434343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000" b="1">
                <a:solidFill>
                  <a:srgbClr val="434343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lang="en" sz="1000" b="1">
                <a:solidFill>
                  <a:srgbClr val="434343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1000">
              <a:solidFill>
                <a:srgbClr val="434343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43434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sz="900" b="1">
              <a:solidFill>
                <a:srgbClr val="43434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 txBox="1">
            <a:spLocks noGrp="1"/>
          </p:cNvSpPr>
          <p:nvPr>
            <p:ph type="body" idx="1"/>
          </p:nvPr>
        </p:nvSpPr>
        <p:spPr>
          <a:xfrm>
            <a:off x="722375" y="1447800"/>
            <a:ext cx="3589200" cy="31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9" name="Google Shape;249;p49"/>
          <p:cNvSpPr txBox="1">
            <a:spLocks noGrp="1"/>
          </p:cNvSpPr>
          <p:nvPr>
            <p:ph type="body" idx="2"/>
          </p:nvPr>
        </p:nvSpPr>
        <p:spPr>
          <a:xfrm>
            <a:off x="4832400" y="1447800"/>
            <a:ext cx="3589200" cy="31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0" name="Google Shape;250;p49"/>
          <p:cNvSpPr txBox="1">
            <a:spLocks noGrp="1"/>
          </p:cNvSpPr>
          <p:nvPr>
            <p:ph type="subTitle" idx="3"/>
          </p:nvPr>
        </p:nvSpPr>
        <p:spPr>
          <a:xfrm>
            <a:off x="723900" y="952500"/>
            <a:ext cx="76992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chemeClr val="hlink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1" type="blank">
  <p:cSld name="BLANK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comments" Target="../comments/commen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1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 </a:t>
            </a:r>
            <a:r>
              <a:rPr lang="en" dirty="0"/>
              <a:t>- Decision Tree Classifiers</a:t>
            </a:r>
            <a:endParaRPr dirty="0"/>
          </a:p>
        </p:txBody>
      </p:sp>
      <p:sp>
        <p:nvSpPr>
          <p:cNvPr id="258" name="Google Shape;258;p51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</a:t>
            </a:r>
            <a:r>
              <a:rPr lang="en" dirty="0"/>
              <a:t>Learning</a:t>
            </a:r>
            <a:endParaRPr dirty="0"/>
          </a:p>
        </p:txBody>
      </p:sp>
      <p:cxnSp>
        <p:nvCxnSpPr>
          <p:cNvPr id="259" name="Google Shape;259;p51"/>
          <p:cNvCxnSpPr/>
          <p:nvPr/>
        </p:nvCxnSpPr>
        <p:spPr>
          <a:xfrm>
            <a:off x="6677025" y="3176000"/>
            <a:ext cx="24600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662850" y="12990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1.1 - Python Review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2684776" y="13091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dirty="0">
                <a:solidFill>
                  <a:schemeClr val="accent1"/>
                </a:solidFill>
                <a:latin typeface="Exo 2"/>
              </a:rPr>
              <a:t>1.2 - Numpy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224650" y="1697300"/>
            <a:ext cx="460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4681975" y="12989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1.3 - Pandas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679176" y="13092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1.4 - Seaborn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6243775" y="16972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4234250" y="16973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662850" y="23880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2.1 - ML Intro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1985500" y="23981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</a:rPr>
              <a:t>2.2 - Linear Regression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1684350" y="2786325"/>
            <a:ext cx="30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3287163" y="23879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1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593637" y="23982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100" dirty="0">
                <a:solidFill>
                  <a:schemeClr val="accent1"/>
                </a:solidFill>
                <a:latin typeface="Exo 2"/>
              </a:rPr>
              <a:t>2.4 -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Naïve</a:t>
            </a:r>
            <a:r>
              <a:rPr lang="de-DE" sz="1100" dirty="0">
                <a:solidFill>
                  <a:schemeClr val="accent1"/>
                </a:solidFill>
                <a:latin typeface="Exo 2"/>
              </a:rPr>
              <a:t> Bayes 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Classifier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4308663" y="2786225"/>
            <a:ext cx="284974" cy="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2999078" y="27863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7211180" y="2367574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sym typeface="Exo 2"/>
              </a:rPr>
              <a:t>2.6 - Decision Trees</a:t>
            </a:r>
            <a:endParaRPr sz="11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6926180" y="2770549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5619980" y="27966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662875" y="3487200"/>
            <a:ext cx="1462746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Ensembling Learning</a:t>
            </a:r>
            <a:endParaRPr sz="1200" strike="sngStrike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125621" y="3883468"/>
            <a:ext cx="329129" cy="19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3889561" y="3495418"/>
            <a:ext cx="194468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4</a:t>
            </a:r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.* - Natural Language Processing (NLP)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3512022" y="3885450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4576588" y="302261"/>
            <a:ext cx="302525" cy="6004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5899893" y="2387974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Font typeface="Arial"/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2.5 - KNN</a:t>
            </a:r>
            <a:endParaRPr sz="11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2484398" y="3497801"/>
            <a:ext cx="1021500" cy="77133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3.2 - Neural Networks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6215053" y="3487163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5.* Competition Tips &amp; Final Thoughts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5847310" y="3908621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2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65" name="Google Shape;265;p52"/>
          <p:cNvSpPr txBox="1">
            <a:spLocks noGrp="1"/>
          </p:cNvSpPr>
          <p:nvPr>
            <p:ph type="ctrTitle" idx="2"/>
          </p:nvPr>
        </p:nvSpPr>
        <p:spPr>
          <a:xfrm>
            <a:off x="546571" y="435028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266" name="Google Shape;266;p52">
            <a:hlinkClick r:id="" action="ppaction://noaction"/>
          </p:cNvPr>
          <p:cNvSpPr txBox="1">
            <a:spLocks noGrp="1"/>
          </p:cNvSpPr>
          <p:nvPr>
            <p:ph type="title" idx="3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67" name="Google Shape;267;p52">
            <a:hlinkClick r:id="rId3" action="ppaction://hlinksldjump"/>
          </p:cNvPr>
          <p:cNvSpPr txBox="1">
            <a:spLocks noGrp="1"/>
          </p:cNvSpPr>
          <p:nvPr>
            <p:ph type="title" idx="4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8" name="Google Shape;268;p52">
            <a:hlinkClick r:id="rId4" action="ppaction://hlinksldjump"/>
          </p:cNvPr>
          <p:cNvSpPr txBox="1">
            <a:spLocks noGrp="1"/>
          </p:cNvSpPr>
          <p:nvPr>
            <p:ph type="title" idx="6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9" name="Google Shape;269;p52"/>
          <p:cNvSpPr txBox="1">
            <a:spLocks noGrp="1"/>
          </p:cNvSpPr>
          <p:nvPr>
            <p:ph type="ctrTitle" idx="4294967295"/>
          </p:nvPr>
        </p:nvSpPr>
        <p:spPr>
          <a:xfrm>
            <a:off x="1251275" y="1515800"/>
            <a:ext cx="12696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Algorithms for splitting</a:t>
            </a:r>
            <a:endParaRPr sz="1400"/>
          </a:p>
        </p:txBody>
      </p:sp>
      <p:sp>
        <p:nvSpPr>
          <p:cNvPr id="270" name="Google Shape;270;p52"/>
          <p:cNvSpPr txBox="1">
            <a:spLocks noGrp="1"/>
          </p:cNvSpPr>
          <p:nvPr>
            <p:ph type="ctrTitle" idx="4294967295"/>
          </p:nvPr>
        </p:nvSpPr>
        <p:spPr>
          <a:xfrm>
            <a:off x="6688358" y="311233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Implementation and visualization</a:t>
            </a:r>
            <a:endParaRPr sz="1400"/>
          </a:p>
        </p:txBody>
      </p:sp>
      <p:cxnSp>
        <p:nvCxnSpPr>
          <p:cNvPr id="271" name="Google Shape;271;p52"/>
          <p:cNvCxnSpPr/>
          <p:nvPr/>
        </p:nvCxnSpPr>
        <p:spPr>
          <a:xfrm>
            <a:off x="3297225" y="0"/>
            <a:ext cx="0" cy="2393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52"/>
          <p:cNvCxnSpPr/>
          <p:nvPr/>
        </p:nvCxnSpPr>
        <p:spPr>
          <a:xfrm>
            <a:off x="5861950" y="3131400"/>
            <a:ext cx="0" cy="203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52"/>
          <p:cNvSpPr txBox="1">
            <a:spLocks noGrp="1"/>
          </p:cNvSpPr>
          <p:nvPr>
            <p:ph type="ctrTitle" idx="4294967295"/>
          </p:nvPr>
        </p:nvSpPr>
        <p:spPr>
          <a:xfrm>
            <a:off x="6688358" y="209265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Random forests and ensemble learning</a:t>
            </a:r>
            <a:endParaRPr sz="1400"/>
          </a:p>
        </p:txBody>
      </p:sp>
      <p:sp>
        <p:nvSpPr>
          <p:cNvPr id="274" name="Google Shape;274;p52"/>
          <p:cNvSpPr txBox="1">
            <a:spLocks noGrp="1"/>
          </p:cNvSpPr>
          <p:nvPr>
            <p:ph type="title" idx="7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3"/>
          <p:cNvSpPr txBox="1">
            <a:spLocks noGrp="1"/>
          </p:cNvSpPr>
          <p:nvPr>
            <p:ph type="ctrTitle"/>
          </p:nvPr>
        </p:nvSpPr>
        <p:spPr>
          <a:xfrm flipH="1">
            <a:off x="1121775" y="2635675"/>
            <a:ext cx="6821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and Definitions</a:t>
            </a:r>
            <a:endParaRPr/>
          </a:p>
        </p:txBody>
      </p:sp>
      <p:sp>
        <p:nvSpPr>
          <p:cNvPr id="280" name="Google Shape;280;p53"/>
          <p:cNvSpPr txBox="1">
            <a:spLocks noGrp="1"/>
          </p:cNvSpPr>
          <p:nvPr>
            <p:ph type="title" idx="2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81" name="Google Shape;281;p53"/>
          <p:cNvCxnSpPr/>
          <p:nvPr/>
        </p:nvCxnSpPr>
        <p:spPr>
          <a:xfrm>
            <a:off x="7578325" y="4028400"/>
            <a:ext cx="156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4"/>
          <p:cNvSpPr/>
          <p:nvPr/>
        </p:nvSpPr>
        <p:spPr>
          <a:xfrm>
            <a:off x="6021875" y="3379875"/>
            <a:ext cx="1486200" cy="94620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B4EB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54"/>
          <p:cNvSpPr/>
          <p:nvPr/>
        </p:nvSpPr>
        <p:spPr>
          <a:xfrm>
            <a:off x="1635925" y="3379875"/>
            <a:ext cx="1486200" cy="94620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B4EB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54"/>
          <p:cNvSpPr/>
          <p:nvPr/>
        </p:nvSpPr>
        <p:spPr>
          <a:xfrm>
            <a:off x="3804325" y="817425"/>
            <a:ext cx="1486200" cy="94620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B4EB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54"/>
          <p:cNvSpPr txBox="1"/>
          <p:nvPr/>
        </p:nvSpPr>
        <p:spPr>
          <a:xfrm>
            <a:off x="1635915" y="3806638"/>
            <a:ext cx="14307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Tree-like model of decisions</a:t>
            </a:r>
            <a:endParaRPr b="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90" name="Google Shape;290;p54"/>
          <p:cNvSpPr txBox="1"/>
          <p:nvPr/>
        </p:nvSpPr>
        <p:spPr>
          <a:xfrm>
            <a:off x="6049636" y="3806638"/>
            <a:ext cx="14307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Allows for simple visualization</a:t>
            </a:r>
            <a:endParaRPr b="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91" name="Google Shape;291;p54"/>
          <p:cNvCxnSpPr/>
          <p:nvPr/>
        </p:nvCxnSpPr>
        <p:spPr>
          <a:xfrm rot="-5400000" flipH="1">
            <a:off x="4372355" y="2020825"/>
            <a:ext cx="3609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" name="Google Shape;292;p54"/>
          <p:cNvSpPr/>
          <p:nvPr/>
        </p:nvSpPr>
        <p:spPr>
          <a:xfrm>
            <a:off x="3054975" y="2278650"/>
            <a:ext cx="3055500" cy="8337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3" name="Google Shape;293;p54"/>
          <p:cNvCxnSpPr/>
          <p:nvPr/>
        </p:nvCxnSpPr>
        <p:spPr>
          <a:xfrm rot="5400000">
            <a:off x="2383825" y="2708775"/>
            <a:ext cx="611100" cy="584700"/>
          </a:xfrm>
          <a:prstGeom prst="bentConnector3">
            <a:avLst>
              <a:gd name="adj1" fmla="val -6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54"/>
          <p:cNvCxnSpPr/>
          <p:nvPr/>
        </p:nvCxnSpPr>
        <p:spPr>
          <a:xfrm>
            <a:off x="6187175" y="2746575"/>
            <a:ext cx="577800" cy="560100"/>
          </a:xfrm>
          <a:prstGeom prst="bentConnector3">
            <a:avLst>
              <a:gd name="adj1" fmla="val 9974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54"/>
          <p:cNvSpPr txBox="1"/>
          <p:nvPr/>
        </p:nvSpPr>
        <p:spPr>
          <a:xfrm>
            <a:off x="3566578" y="2278625"/>
            <a:ext cx="19617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DECISION TREES</a:t>
            </a:r>
            <a:endParaRPr b="1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96" name="Google Shape;296;p54"/>
          <p:cNvSpPr txBox="1"/>
          <p:nvPr/>
        </p:nvSpPr>
        <p:spPr>
          <a:xfrm>
            <a:off x="3163821" y="2518613"/>
            <a:ext cx="27672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Goal - arrive at a model that correctly predicts a sample’s class or value based on rules derived from previous training data</a:t>
            </a:r>
            <a:endParaRPr sz="1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97" name="Google Shape;297;p54"/>
          <p:cNvSpPr txBox="1"/>
          <p:nvPr/>
        </p:nvSpPr>
        <p:spPr>
          <a:xfrm>
            <a:off x="3837529" y="1226665"/>
            <a:ext cx="14307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Supervised learning algorithm </a:t>
            </a:r>
            <a:endParaRPr b="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5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example</a:t>
            </a:r>
            <a:endParaRPr/>
          </a:p>
        </p:txBody>
      </p:sp>
      <p:pic>
        <p:nvPicPr>
          <p:cNvPr id="303" name="Google Shape;30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850" y="933450"/>
            <a:ext cx="359830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5"/>
          <p:cNvSpPr txBox="1">
            <a:spLocks noGrp="1"/>
          </p:cNvSpPr>
          <p:nvPr>
            <p:ph type="subTitle" idx="4294967295"/>
          </p:nvPr>
        </p:nvSpPr>
        <p:spPr>
          <a:xfrm>
            <a:off x="2580300" y="4657725"/>
            <a:ext cx="3983400" cy="4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https://en.wikipedia.org/wiki/Decision_tree_learning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6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 b="1">
                <a:latin typeface="Roboto Condensed"/>
                <a:ea typeface="Roboto Condensed"/>
                <a:cs typeface="Roboto Condensed"/>
                <a:sym typeface="Roboto Condensed"/>
              </a:rPr>
              <a:t>Node </a:t>
            </a:r>
            <a:r>
              <a:rPr lang="en" sz="1700"/>
              <a:t>- root node splits into sub-nodes (all are nodes)</a:t>
            </a:r>
            <a:endParaRPr sz="1700"/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❖"/>
            </a:pPr>
            <a:r>
              <a:rPr lang="en" sz="1700" b="1">
                <a:solidFill>
                  <a:schemeClr val="hlink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Root node</a:t>
            </a:r>
            <a:r>
              <a:rPr lang="en" sz="1700">
                <a:solidFill>
                  <a:schemeClr val="hlink"/>
                </a:solidFill>
              </a:rPr>
              <a:t> - the first node</a:t>
            </a:r>
            <a:endParaRPr sz="1700">
              <a:solidFill>
                <a:schemeClr val="hlink"/>
              </a:solidFill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❖"/>
            </a:pPr>
            <a:r>
              <a:rPr lang="en" sz="1700" b="1">
                <a:solidFill>
                  <a:schemeClr val="hlink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Splitting</a:t>
            </a:r>
            <a:r>
              <a:rPr lang="en" sz="1700">
                <a:solidFill>
                  <a:schemeClr val="hlink"/>
                </a:solidFill>
              </a:rPr>
              <a:t> - what creates nodes</a:t>
            </a:r>
            <a:endParaRPr sz="1700">
              <a:solidFill>
                <a:schemeClr val="hlink"/>
              </a:solidFill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❖"/>
            </a:pPr>
            <a:r>
              <a:rPr lang="en" sz="1700" b="1">
                <a:solidFill>
                  <a:schemeClr val="hlink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Leaf/terminal node</a:t>
            </a:r>
            <a:r>
              <a:rPr lang="en" sz="1700">
                <a:solidFill>
                  <a:schemeClr val="hlink"/>
                </a:solidFill>
              </a:rPr>
              <a:t> - end of a node when the node cannot be split anymore</a:t>
            </a:r>
            <a:endParaRPr sz="1700">
              <a:solidFill>
                <a:schemeClr val="hlink"/>
              </a:solidFill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❖"/>
            </a:pPr>
            <a:r>
              <a:rPr lang="en" sz="1700">
                <a:solidFill>
                  <a:schemeClr val="hlink"/>
                </a:solidFill>
              </a:rPr>
              <a:t>Pruning - method to reduce complexity and prevent overfitting</a:t>
            </a:r>
            <a:endParaRPr sz="1700">
              <a:solidFill>
                <a:schemeClr val="hlink"/>
              </a:solidFill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❖"/>
            </a:pPr>
            <a:r>
              <a:rPr lang="en" sz="1700">
                <a:solidFill>
                  <a:schemeClr val="hlink"/>
                </a:solidFill>
              </a:rPr>
              <a:t>Branch/subtree - subsection of a decision tree</a:t>
            </a:r>
            <a:endParaRPr sz="1700">
              <a:solidFill>
                <a:schemeClr val="hlink"/>
              </a:solidFill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❖"/>
            </a:pPr>
            <a:r>
              <a:rPr lang="en" sz="1700">
                <a:solidFill>
                  <a:schemeClr val="hlink"/>
                </a:solidFill>
              </a:rPr>
              <a:t>Parent and child node - a node that is divided into sub-nodes is the parent of those sub-nodes</a:t>
            </a:r>
            <a:endParaRPr sz="1700">
              <a:solidFill>
                <a:schemeClr val="hlink"/>
              </a:solidFill>
            </a:endParaRPr>
          </a:p>
          <a:p>
            <a:pPr marL="13716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➢"/>
            </a:pPr>
            <a:r>
              <a:rPr lang="en" sz="1700">
                <a:solidFill>
                  <a:schemeClr val="hlink"/>
                </a:solidFill>
              </a:rPr>
              <a:t>Those sub-nodes are the child of the parent node </a:t>
            </a:r>
            <a:endParaRPr sz="1700">
              <a:solidFill>
                <a:schemeClr val="hlink"/>
              </a:solidFill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❖"/>
            </a:pPr>
            <a:r>
              <a:rPr lang="en" sz="1700">
                <a:solidFill>
                  <a:schemeClr val="hlink"/>
                </a:solidFill>
              </a:rPr>
              <a:t>100% </a:t>
            </a:r>
            <a:r>
              <a:rPr lang="en" sz="1700" b="1">
                <a:solidFill>
                  <a:schemeClr val="hlink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pure </a:t>
            </a:r>
            <a:r>
              <a:rPr lang="en" sz="1700">
                <a:solidFill>
                  <a:schemeClr val="hlink"/>
                </a:solidFill>
              </a:rPr>
              <a:t>node - all data in a node belongs to certain class</a:t>
            </a:r>
            <a:endParaRPr sz="1700">
              <a:solidFill>
                <a:schemeClr val="hlink"/>
              </a:solidFill>
            </a:endParaRPr>
          </a:p>
          <a:p>
            <a:pPr marL="9144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❖"/>
            </a:pPr>
            <a:r>
              <a:rPr lang="en" sz="1700">
                <a:solidFill>
                  <a:schemeClr val="hlink"/>
                </a:solidFill>
              </a:rPr>
              <a:t>100% </a:t>
            </a:r>
            <a:r>
              <a:rPr lang="en" sz="1700" b="1">
                <a:solidFill>
                  <a:schemeClr val="hlink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impure </a:t>
            </a:r>
            <a:r>
              <a:rPr lang="en" sz="1700">
                <a:solidFill>
                  <a:schemeClr val="hlink"/>
                </a:solidFill>
              </a:rPr>
              <a:t>node - a node is split evenly 50/50</a:t>
            </a:r>
            <a:endParaRPr sz="1700">
              <a:solidFill>
                <a:srgbClr val="434343"/>
              </a:solidFill>
            </a:endParaRPr>
          </a:p>
        </p:txBody>
      </p:sp>
      <p:sp>
        <p:nvSpPr>
          <p:cNvPr id="310" name="Google Shape;310;p5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3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7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Splitting Algorithms</a:t>
            </a:r>
            <a:endParaRPr/>
          </a:p>
        </p:txBody>
      </p:sp>
      <p:sp>
        <p:nvSpPr>
          <p:cNvPr id="316" name="Google Shape;316;p57"/>
          <p:cNvSpPr txBox="1">
            <a:spLocks noGrp="1"/>
          </p:cNvSpPr>
          <p:nvPr>
            <p:ph type="title" idx="2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317" name="Google Shape;317;p57"/>
          <p:cNvCxnSpPr/>
          <p:nvPr/>
        </p:nvCxnSpPr>
        <p:spPr>
          <a:xfrm>
            <a:off x="7626825" y="2744700"/>
            <a:ext cx="156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8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Decisions are made through splitting nodes into sub-nodes</a:t>
            </a:r>
            <a:endParaRPr sz="1700"/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Process of dividing a node into sub-nodes until the highest purity is achieved</a:t>
            </a:r>
            <a:endParaRPr sz="1700"/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Methods classified based on whether the target variable is continuous or categorical</a:t>
            </a:r>
            <a:endParaRPr sz="1700"/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Continuous: Reduction in Variance</a:t>
            </a:r>
            <a:endParaRPr sz="1700"/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Categorical: Gini Impurity, Information Gain, and Chi-Square</a:t>
            </a:r>
            <a:endParaRPr sz="1700"/>
          </a:p>
        </p:txBody>
      </p:sp>
      <p:sp>
        <p:nvSpPr>
          <p:cNvPr id="323" name="Google Shape;323;p58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splitting?</a:t>
            </a:r>
            <a:endParaRPr/>
          </a:p>
        </p:txBody>
      </p:sp>
      <p:pic>
        <p:nvPicPr>
          <p:cNvPr id="324" name="Google Shape;32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625" y="3197925"/>
            <a:ext cx="2878749" cy="161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8"/>
          <p:cNvSpPr txBox="1">
            <a:spLocks noGrp="1"/>
          </p:cNvSpPr>
          <p:nvPr>
            <p:ph type="subTitle" idx="4294967295"/>
          </p:nvPr>
        </p:nvSpPr>
        <p:spPr>
          <a:xfrm>
            <a:off x="2580300" y="4763850"/>
            <a:ext cx="3983400" cy="4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https://www.displayr.com/how-is-splitting-decided-for-decision-trees/</a:t>
            </a:r>
            <a:endParaRPr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9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Target variable is continuous</a:t>
            </a:r>
            <a:endParaRPr sz="1700"/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Uses variance to decide which features to split on</a:t>
            </a:r>
            <a:endParaRPr sz="1700"/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Steps</a:t>
            </a:r>
            <a:endParaRPr sz="1700"/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Calculate the variance of each child node</a:t>
            </a:r>
            <a:endParaRPr sz="1700"/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Take weighted average variance of child nodes to find overall variance</a:t>
            </a:r>
            <a:endParaRPr sz="1700"/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Repeat steps to find the best split with lowest variance</a:t>
            </a:r>
            <a:endParaRPr sz="1700"/>
          </a:p>
        </p:txBody>
      </p:sp>
      <p:sp>
        <p:nvSpPr>
          <p:cNvPr id="331" name="Google Shape;331;p5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 in Variance</a:t>
            </a:r>
            <a:endParaRPr/>
          </a:p>
        </p:txBody>
      </p:sp>
      <p:sp>
        <p:nvSpPr>
          <p:cNvPr id="332" name="Google Shape;332;p59"/>
          <p:cNvSpPr txBox="1"/>
          <p:nvPr/>
        </p:nvSpPr>
        <p:spPr>
          <a:xfrm>
            <a:off x="2062950" y="4743300"/>
            <a:ext cx="50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https://www.listendata.com/2017/02/bias-variance-tradeoff.html</a:t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333" name="Google Shape;33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488" y="3112900"/>
            <a:ext cx="1717025" cy="16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</a:t>
            </a:r>
            <a:endParaRPr/>
          </a:p>
        </p:txBody>
      </p:sp>
      <p:sp>
        <p:nvSpPr>
          <p:cNvPr id="339" name="Google Shape;339;p60"/>
          <p:cNvSpPr txBox="1"/>
          <p:nvPr/>
        </p:nvSpPr>
        <p:spPr>
          <a:xfrm>
            <a:off x="2220750" y="3102425"/>
            <a:ext cx="4702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X = sample</a:t>
            </a:r>
            <a:endParaRPr sz="18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µ = mean</a:t>
            </a:r>
            <a:endParaRPr sz="18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N = number of samples</a:t>
            </a:r>
            <a:endParaRPr sz="18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340" name="Google Shape;340;p60" descr="&lt;math xmlns=&quot;http://www.w3.org/1998/Math/MathML&quot;&gt;&lt;mfrac&gt;&lt;mrow&gt;&lt;munder&gt;&lt;mo&gt;&amp;#x2211;&lt;/mo&gt;&lt;mrow/&gt;&lt;/munder&gt;&lt;msup&gt;&lt;mfenced&gt;&lt;mrow&gt;&lt;mi&gt;X&lt;/mi&gt;&lt;mo&gt;-&lt;/mo&gt;&lt;mi&gt;&amp;#x3BC;&lt;/mi&gt;&lt;/mrow&gt;&lt;/mfenced&gt;&lt;mn&gt;2&lt;/mn&gt;&lt;/msup&gt;&lt;/mrow&gt;&lt;mi&gt;N&lt;/mi&gt;&lt;/mfrac&gt;&lt;/math&gt;" title="fraction numerator sum for blank of open parentheses X minus mu close parentheses squared over denominator N end frac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050" y="1490413"/>
            <a:ext cx="2949893" cy="1420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1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28491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Above average node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Mean = (8 × 1 + 6 × 0) / 14 = 0.57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Variance = [8 × (1-0.57)</a:t>
            </a:r>
            <a:r>
              <a:rPr lang="en" sz="1300" baseline="30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 + 6 × (0-0.57)</a:t>
            </a:r>
            <a:r>
              <a:rPr lang="en" sz="1300" baseline="30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] / 14 = 0.245</a:t>
            </a:r>
            <a:endParaRPr sz="1300">
              <a:solidFill>
                <a:schemeClr val="hlink"/>
              </a:solidFill>
            </a:endParaRPr>
          </a:p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Below average node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Mean = (2 × 1 + 4 × 0) / 6 = 0.33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Variance = [2 × (1-0.33)</a:t>
            </a:r>
            <a:r>
              <a:rPr lang="en" sz="1300" baseline="30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 + 4 × (0-0.33)</a:t>
            </a:r>
            <a:r>
              <a:rPr lang="en" sz="1300" baseline="30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] / 6 = 0.222</a:t>
            </a:r>
            <a:endParaRPr sz="1300">
              <a:solidFill>
                <a:schemeClr val="hlink"/>
              </a:solidFill>
            </a:endParaRPr>
          </a:p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Variance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(14/20) × 0.245 + (6/20) × 0.222 = 0.238 </a:t>
            </a:r>
            <a:endParaRPr sz="1300">
              <a:solidFill>
                <a:schemeClr val="hlink"/>
              </a:solidFill>
            </a:endParaRPr>
          </a:p>
        </p:txBody>
      </p:sp>
      <p:sp>
        <p:nvSpPr>
          <p:cNvPr id="346" name="Google Shape;346;p61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 in Variance: Example</a:t>
            </a:r>
            <a:endParaRPr/>
          </a:p>
        </p:txBody>
      </p:sp>
      <p:pic>
        <p:nvPicPr>
          <p:cNvPr id="347" name="Google Shape;34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698" y="1164600"/>
            <a:ext cx="4070250" cy="346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61"/>
          <p:cNvSpPr txBox="1"/>
          <p:nvPr/>
        </p:nvSpPr>
        <p:spPr>
          <a:xfrm>
            <a:off x="3864025" y="4584500"/>
            <a:ext cx="428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https://www.analyticsvidhya.com/blog/2020/06/4-ways-split-decision-tree/</a:t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3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3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2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Target variable is categorical 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Works with entropy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Information gain is entropy subtracted from 1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Entropy is used to find the purity of a node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Information gain is inversely proportional to entropy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Steps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Calculate entropy of child nodes for each split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Entropy of split = weighted average of entropy of child nodes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Repeat steps to find the best split with lowest entropy and highest information gain</a:t>
            </a:r>
            <a:endParaRPr sz="170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hlink"/>
                </a:solidFill>
              </a:rPr>
              <a:t> </a:t>
            </a:r>
            <a:endParaRPr sz="1700">
              <a:solidFill>
                <a:schemeClr val="hlink"/>
              </a:solidFill>
            </a:endParaRPr>
          </a:p>
        </p:txBody>
      </p:sp>
      <p:sp>
        <p:nvSpPr>
          <p:cNvPr id="354" name="Google Shape;354;p6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Gain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3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3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3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3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3"/>
          <p:cNvSpPr txBox="1">
            <a:spLocks noGrp="1"/>
          </p:cNvSpPr>
          <p:nvPr>
            <p:ph type="body" idx="4294967295"/>
          </p:nvPr>
        </p:nvSpPr>
        <p:spPr>
          <a:xfrm>
            <a:off x="1112400" y="16329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Information gain = 1 - Entropy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4800"/>
              <a:t> </a:t>
            </a:r>
            <a:r>
              <a:rPr lang="en" sz="2400"/>
              <a:t>                       Entropy =</a:t>
            </a:r>
            <a:r>
              <a:rPr lang="en" sz="4800"/>
              <a:t> </a:t>
            </a:r>
            <a:endParaRPr sz="4800"/>
          </a:p>
        </p:txBody>
      </p:sp>
      <p:sp>
        <p:nvSpPr>
          <p:cNvPr id="360" name="Google Shape;360;p63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Gain</a:t>
            </a:r>
            <a:endParaRPr/>
          </a:p>
        </p:txBody>
      </p:sp>
      <p:pic>
        <p:nvPicPr>
          <p:cNvPr id="361" name="Google Shape;361;p63" descr="&lt;math xmlns=&quot;http://www.w3.org/1998/Math/MathML&quot;&gt;&lt;mo&gt;-&lt;/mo&gt;&lt;munderover&gt;&lt;mrow&gt;&lt;munderover&gt;&lt;mo&gt;&amp;#x2211;&lt;/mo&gt;&lt;mrow&gt;&lt;mi&gt;i&lt;/mi&gt;&lt;mo&gt;=&lt;/mo&gt;&lt;mn&gt;1&lt;/mn&gt;&lt;/mrow&gt;&lt;mi&gt;n&lt;/mi&gt;&lt;/munderover&gt;&lt;msub&gt;&lt;mi&gt;p&lt;/mi&gt;&lt;mi&gt;i&lt;/mi&gt;&lt;/msub&gt;&lt;msub&gt;&lt;mi&gt;log&lt;/mi&gt;&lt;mn&gt;2&lt;/mn&gt;&lt;/msub&gt;&lt;msub&gt;&lt;mi&gt;p&lt;/mi&gt;&lt;mi&gt;i&lt;/mi&gt;&lt;/msub&gt;&lt;/mrow&gt;&lt;mrow/&gt;&lt;mrow/&gt;&lt;/munderover&gt;&lt;/math&gt;" title="negative stack sum from i equals 1 to n of p subscript i log subscript 2 p subscript i with blank below and blank on top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275" y="2305650"/>
            <a:ext cx="2277100" cy="10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63"/>
          <p:cNvSpPr txBox="1"/>
          <p:nvPr/>
        </p:nvSpPr>
        <p:spPr>
          <a:xfrm>
            <a:off x="2220750" y="3320200"/>
            <a:ext cx="470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</a:t>
            </a: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= percentage of each class</a:t>
            </a:r>
            <a:endParaRPr sz="18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4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28491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Entropy for parent node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-0.5 × log</a:t>
            </a:r>
            <a:r>
              <a:rPr lang="en" sz="1300" baseline="-25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0.5 - 0.5 × log</a:t>
            </a:r>
            <a:r>
              <a:rPr lang="en" sz="1300" baseline="-25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0.5 = 1</a:t>
            </a:r>
            <a:endParaRPr sz="1300">
              <a:solidFill>
                <a:schemeClr val="hlink"/>
              </a:solidFill>
            </a:endParaRPr>
          </a:p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Entropy for above average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-0.57 × log</a:t>
            </a:r>
            <a:r>
              <a:rPr lang="en" sz="1300" baseline="-25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0.57 - 0.43 × log</a:t>
            </a:r>
            <a:r>
              <a:rPr lang="en" sz="1300" baseline="-25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0.43 = 0.98</a:t>
            </a:r>
            <a:endParaRPr sz="1300">
              <a:solidFill>
                <a:schemeClr val="hlink"/>
              </a:solidFill>
            </a:endParaRPr>
          </a:p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Entropy for below average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0.33 × log</a:t>
            </a:r>
            <a:r>
              <a:rPr lang="en" sz="1300" baseline="-25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0.33 - 0.67 × log</a:t>
            </a:r>
            <a:r>
              <a:rPr lang="en" sz="1300" baseline="-25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0.67 = 0.91</a:t>
            </a:r>
            <a:endParaRPr sz="1300">
              <a:solidFill>
                <a:schemeClr val="hlink"/>
              </a:solidFill>
            </a:endParaRPr>
          </a:p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Weighted entropy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(14/20) × 0.98 + (6/20) × 0.91 = 0.959</a:t>
            </a:r>
            <a:endParaRPr sz="1300">
              <a:solidFill>
                <a:schemeClr val="hlink"/>
              </a:solidFill>
            </a:endParaRPr>
          </a:p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Information gain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1 - 0.959 = 0.041</a:t>
            </a:r>
            <a:endParaRPr sz="1300">
              <a:solidFill>
                <a:schemeClr val="hlink"/>
              </a:solidFill>
            </a:endParaRPr>
          </a:p>
        </p:txBody>
      </p:sp>
      <p:sp>
        <p:nvSpPr>
          <p:cNvPr id="368" name="Google Shape;368;p6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Gain: Example</a:t>
            </a:r>
            <a:endParaRPr/>
          </a:p>
        </p:txBody>
      </p:sp>
      <p:pic>
        <p:nvPicPr>
          <p:cNvPr id="369" name="Google Shape;36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013" y="1179075"/>
            <a:ext cx="3769624" cy="344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64"/>
          <p:cNvSpPr txBox="1"/>
          <p:nvPr/>
        </p:nvSpPr>
        <p:spPr>
          <a:xfrm>
            <a:off x="3864025" y="4584500"/>
            <a:ext cx="428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https://www.analyticsvidhya.com/blog/2020/06/4-ways-split-decision-tree/</a:t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3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3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5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Target variable is categorical 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Popular and simple method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Gini impurity is 1 minus the Gini value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Gini is the probability that a randomly selected sample would be correctly labeled if it was randomly labeled based on the distribution of classes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Gini impurity is inversely proportional to homogeneity 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Steps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Calculate Gini Impurity of each child node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Find Gini Impurity of the split by taking the weighted average of Gini Impurities of the child nodes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Repeat steps to find the best split with lowest Gini Impurity</a:t>
            </a:r>
            <a:endParaRPr/>
          </a:p>
        </p:txBody>
      </p:sp>
      <p:sp>
        <p:nvSpPr>
          <p:cNvPr id="376" name="Google Shape;376;p65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Gini Impurity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3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3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3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6"/>
          <p:cNvSpPr txBox="1">
            <a:spLocks noGrp="1"/>
          </p:cNvSpPr>
          <p:nvPr>
            <p:ph type="body" idx="4294967295"/>
          </p:nvPr>
        </p:nvSpPr>
        <p:spPr>
          <a:xfrm>
            <a:off x="1153225" y="1923000"/>
            <a:ext cx="6919200" cy="12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Gini impurity = 1 - Gini</a:t>
            </a:r>
            <a:endParaRPr sz="300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000"/>
              <a:t>Gini = (p</a:t>
            </a:r>
            <a:r>
              <a:rPr lang="en" sz="3000" baseline="-25000"/>
              <a:t>1</a:t>
            </a:r>
            <a:r>
              <a:rPr lang="en" sz="3000" baseline="30000"/>
              <a:t>2</a:t>
            </a:r>
            <a:r>
              <a:rPr lang="en" sz="3000"/>
              <a:t> + p</a:t>
            </a:r>
            <a:r>
              <a:rPr lang="en" sz="3000" baseline="-25000"/>
              <a:t>2</a:t>
            </a:r>
            <a:r>
              <a:rPr lang="en" sz="3000" baseline="30000"/>
              <a:t>2 </a:t>
            </a:r>
            <a:r>
              <a:rPr lang="en" sz="3000"/>
              <a:t>+ p</a:t>
            </a:r>
            <a:r>
              <a:rPr lang="en" sz="3000" baseline="-25000"/>
              <a:t>3</a:t>
            </a:r>
            <a:r>
              <a:rPr lang="en" sz="3000" baseline="30000"/>
              <a:t>2 </a:t>
            </a:r>
            <a:r>
              <a:rPr lang="en" sz="3000"/>
              <a:t>+ . . . + </a:t>
            </a:r>
            <a:r>
              <a:rPr lang="en"/>
              <a:t> </a:t>
            </a:r>
            <a:r>
              <a:rPr lang="en" sz="3000"/>
              <a:t>p</a:t>
            </a:r>
            <a:r>
              <a:rPr lang="en" sz="3000" baseline="-25000"/>
              <a:t>n</a:t>
            </a:r>
            <a:r>
              <a:rPr lang="en" sz="3000" baseline="30000"/>
              <a:t>2</a:t>
            </a:r>
            <a:r>
              <a:rPr lang="en" sz="3000"/>
              <a:t>)</a:t>
            </a:r>
            <a:r>
              <a:rPr lang="en" sz="3000" baseline="30000"/>
              <a:t> </a:t>
            </a:r>
            <a:endParaRPr sz="3000" baseline="-25000"/>
          </a:p>
        </p:txBody>
      </p:sp>
      <p:sp>
        <p:nvSpPr>
          <p:cNvPr id="382" name="Google Shape;382;p6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Gini Impurity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7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28491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Gini Impurity for above average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Gini = 0.57</a:t>
            </a:r>
            <a:r>
              <a:rPr lang="en" sz="1300" baseline="30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 + 0.43</a:t>
            </a:r>
            <a:r>
              <a:rPr lang="en" sz="1300" baseline="30000">
                <a:solidFill>
                  <a:schemeClr val="hlink"/>
                </a:solidFill>
              </a:rPr>
              <a:t>2 </a:t>
            </a:r>
            <a:r>
              <a:rPr lang="en" sz="1300">
                <a:solidFill>
                  <a:schemeClr val="hlink"/>
                </a:solidFill>
              </a:rPr>
              <a:t>= 0.51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Gini Impurity = 1 - 0.51 = 0.49</a:t>
            </a:r>
            <a:endParaRPr sz="1300">
              <a:solidFill>
                <a:schemeClr val="hlink"/>
              </a:solidFill>
            </a:endParaRPr>
          </a:p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Gini Impurity for below average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Gini = 0.33</a:t>
            </a:r>
            <a:r>
              <a:rPr lang="en" sz="1300" baseline="30000">
                <a:solidFill>
                  <a:schemeClr val="hlink"/>
                </a:solidFill>
              </a:rPr>
              <a:t>2</a:t>
            </a:r>
            <a:r>
              <a:rPr lang="en" sz="1300">
                <a:solidFill>
                  <a:schemeClr val="hlink"/>
                </a:solidFill>
              </a:rPr>
              <a:t> + 0.67</a:t>
            </a:r>
            <a:r>
              <a:rPr lang="en" sz="1300" baseline="30000">
                <a:solidFill>
                  <a:schemeClr val="hlink"/>
                </a:solidFill>
              </a:rPr>
              <a:t>2 </a:t>
            </a:r>
            <a:r>
              <a:rPr lang="en" sz="1300">
                <a:solidFill>
                  <a:schemeClr val="hlink"/>
                </a:solidFill>
              </a:rPr>
              <a:t>= 0.56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Gini Impurity = 1 - 0.56 = 0.44</a:t>
            </a:r>
            <a:endParaRPr sz="1300">
              <a:solidFill>
                <a:schemeClr val="hlink"/>
              </a:solidFill>
            </a:endParaRPr>
          </a:p>
          <a:p>
            <a:pPr marL="9144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❖"/>
            </a:pPr>
            <a:r>
              <a:rPr lang="en" sz="1300">
                <a:solidFill>
                  <a:schemeClr val="hlink"/>
                </a:solidFill>
              </a:rPr>
              <a:t>Weighted Gini Impurity</a:t>
            </a:r>
            <a:endParaRPr sz="1300">
              <a:solidFill>
                <a:schemeClr val="hlink"/>
              </a:solidFill>
            </a:endParaRPr>
          </a:p>
          <a:p>
            <a:pPr marL="13716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➢"/>
            </a:pPr>
            <a:r>
              <a:rPr lang="en" sz="1300">
                <a:solidFill>
                  <a:schemeClr val="hlink"/>
                </a:solidFill>
              </a:rPr>
              <a:t>(14/20) × 0.49 + (6/20) × 0.44 = 0.475</a:t>
            </a:r>
            <a:endParaRPr sz="1300">
              <a:solidFill>
                <a:schemeClr val="hlink"/>
              </a:solidFill>
            </a:endParaRPr>
          </a:p>
        </p:txBody>
      </p:sp>
      <p:sp>
        <p:nvSpPr>
          <p:cNvPr id="388" name="Google Shape;388;p67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Gini Impurity: Example</a:t>
            </a:r>
            <a:endParaRPr/>
          </a:p>
        </p:txBody>
      </p:sp>
      <p:pic>
        <p:nvPicPr>
          <p:cNvPr id="389" name="Google Shape;38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013" y="1179075"/>
            <a:ext cx="3769624" cy="344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7"/>
          <p:cNvSpPr txBox="1"/>
          <p:nvPr/>
        </p:nvSpPr>
        <p:spPr>
          <a:xfrm>
            <a:off x="3864025" y="4584500"/>
            <a:ext cx="428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https://www.analyticsvidhya.com/blog/2020/06/4-ways-split-decision-tree/</a:t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8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Forests</a:t>
            </a:r>
            <a:endParaRPr/>
          </a:p>
        </p:txBody>
      </p:sp>
      <p:sp>
        <p:nvSpPr>
          <p:cNvPr id="396" name="Google Shape;396;p68"/>
          <p:cNvSpPr txBox="1">
            <a:spLocks noGrp="1"/>
          </p:cNvSpPr>
          <p:nvPr>
            <p:ph type="title" idx="2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397" name="Google Shape;397;p68"/>
          <p:cNvCxnSpPr/>
          <p:nvPr/>
        </p:nvCxnSpPr>
        <p:spPr>
          <a:xfrm>
            <a:off x="0" y="2737950"/>
            <a:ext cx="1676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9"/>
          <p:cNvSpPr txBox="1">
            <a:spLocks noGrp="1"/>
          </p:cNvSpPr>
          <p:nvPr>
            <p:ph type="body" idx="4294967295"/>
          </p:nvPr>
        </p:nvSpPr>
        <p:spPr>
          <a:xfrm>
            <a:off x="870650" y="13585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Consists of decision trees that form an ensemble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Uses bagging and bootstrapping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The number of bootstrap subsets is equivalent to the number of decision trees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Considered “random” because a subset of features is used for each node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Process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Each decision tree will generate an output</a:t>
            </a:r>
            <a:endParaRPr sz="1700">
              <a:solidFill>
                <a:schemeClr val="hlink"/>
              </a:solidFill>
            </a:endParaRPr>
          </a:p>
          <a:p>
            <a:pPr marL="13716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➢"/>
            </a:pPr>
            <a:r>
              <a:rPr lang="en" sz="1700">
                <a:solidFill>
                  <a:schemeClr val="hlink"/>
                </a:solidFill>
              </a:rPr>
              <a:t>Voting is used for the final prediction</a:t>
            </a:r>
            <a:endParaRPr/>
          </a:p>
        </p:txBody>
      </p:sp>
      <p:sp>
        <p:nvSpPr>
          <p:cNvPr id="403" name="Google Shape;403;p6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random forest classifier?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Simple Example</a:t>
            </a:r>
            <a:endParaRPr/>
          </a:p>
        </p:txBody>
      </p:sp>
      <p:pic>
        <p:nvPicPr>
          <p:cNvPr id="409" name="Google Shape;40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900" y="1055250"/>
            <a:ext cx="6742191" cy="3539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70"/>
          <p:cNvSpPr txBox="1"/>
          <p:nvPr/>
        </p:nvSpPr>
        <p:spPr>
          <a:xfrm>
            <a:off x="2428200" y="4662325"/>
            <a:ext cx="42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https://victorzhou.com/blog/intro-to-random-forests/</a:t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1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Implementation and Visualization</a:t>
            </a:r>
            <a:endParaRPr sz="2700"/>
          </a:p>
        </p:txBody>
      </p:sp>
      <p:sp>
        <p:nvSpPr>
          <p:cNvPr id="416" name="Google Shape;416;p71"/>
          <p:cNvSpPr txBox="1">
            <a:spLocks noGrp="1"/>
          </p:cNvSpPr>
          <p:nvPr>
            <p:ph type="title" idx="2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417" name="Google Shape;417;p71"/>
          <p:cNvCxnSpPr/>
          <p:nvPr/>
        </p:nvCxnSpPr>
        <p:spPr>
          <a:xfrm>
            <a:off x="2162075" y="-35700"/>
            <a:ext cx="0" cy="238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2"/>
          <p:cNvSpPr txBox="1">
            <a:spLocks noGrp="1"/>
          </p:cNvSpPr>
          <p:nvPr>
            <p:ph type="body" idx="4294967295"/>
          </p:nvPr>
        </p:nvSpPr>
        <p:spPr>
          <a:xfrm>
            <a:off x="870650" y="11442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Using the well-known Iris flower dataset, let’s walk through the implementation of decision trees and random forests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The data can be found using the link on the SMLC website</a:t>
            </a:r>
            <a:endParaRPr sz="1700">
              <a:solidFill>
                <a:schemeClr val="hlink"/>
              </a:solidFill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700"/>
              <a:buChar char="❖"/>
            </a:pPr>
            <a:r>
              <a:rPr lang="en" sz="1700">
                <a:solidFill>
                  <a:schemeClr val="hlink"/>
                </a:solidFill>
              </a:rPr>
              <a:t>Follow along using your editor of choice</a:t>
            </a:r>
            <a:endParaRPr sz="1700">
              <a:solidFill>
                <a:schemeClr val="hlink"/>
              </a:solidFill>
            </a:endParaRPr>
          </a:p>
        </p:txBody>
      </p:sp>
      <p:sp>
        <p:nvSpPr>
          <p:cNvPr id="423" name="Google Shape;423;p7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Visualization</a:t>
            </a:r>
            <a:endParaRPr/>
          </a:p>
        </p:txBody>
      </p:sp>
      <p:pic>
        <p:nvPicPr>
          <p:cNvPr id="424" name="Google Shape;42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075" y="2348900"/>
            <a:ext cx="2807849" cy="217907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72"/>
          <p:cNvSpPr txBox="1"/>
          <p:nvPr/>
        </p:nvSpPr>
        <p:spPr>
          <a:xfrm>
            <a:off x="1625400" y="4485525"/>
            <a:ext cx="589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https://chrisalbon.com/code/machine_learning/trees_and_forests/visualize_a_decision_tree/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FA3B-F4E5-8396-6462-F7E5CD7C8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dirty="0"/>
              <a:t>THANKS</a:t>
            </a: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A850D4-1163-D5C8-29C0-B3D1B5CCEBF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F4FCFF1-220C-D65B-3064-B73FD6FCD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5023433"/>
      </p:ext>
    </p:extLst>
  </p:cSld>
  <p:clrMapOvr>
    <a:masterClrMapping/>
  </p:clrMapOvr>
</p:sld>
</file>

<file path=ppt/theme/theme1.xml><?xml version="1.0" encoding="utf-8"?>
<a:theme xmlns:a="http://schemas.openxmlformats.org/drawingml/2006/main" name="Tech Newsletter by Slidesgo">
  <a:themeElements>
    <a:clrScheme name="Simple Light">
      <a:dk1>
        <a:srgbClr val="FFFFFF"/>
      </a:dk1>
      <a:lt1>
        <a:srgbClr val="0A3455"/>
      </a:lt1>
      <a:dk2>
        <a:srgbClr val="6EBEC5"/>
      </a:dk2>
      <a:lt2>
        <a:srgbClr val="416D90"/>
      </a:lt2>
      <a:accent1>
        <a:srgbClr val="B4EBF0"/>
      </a:accent1>
      <a:accent2>
        <a:srgbClr val="7CC5CC"/>
      </a:accent2>
      <a:accent3>
        <a:srgbClr val="61A6B5"/>
      </a:accent3>
      <a:accent4>
        <a:srgbClr val="548FA6"/>
      </a:accent4>
      <a:accent5>
        <a:srgbClr val="2E5F80"/>
      </a:accent5>
      <a:accent6>
        <a:srgbClr val="17436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1659</Words>
  <Application>Microsoft Office PowerPoint</Application>
  <PresentationFormat>On-screen Show (16:9)</PresentationFormat>
  <Paragraphs>192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Roboto Condensed Light</vt:lpstr>
      <vt:lpstr>Exo 2</vt:lpstr>
      <vt:lpstr>Nunito Light</vt:lpstr>
      <vt:lpstr>Roboto Condensed</vt:lpstr>
      <vt:lpstr>Arial</vt:lpstr>
      <vt:lpstr>Fira Sans Extra Condensed Medium</vt:lpstr>
      <vt:lpstr>Tech Newsletter by Slidesgo</vt:lpstr>
      <vt:lpstr>10 - Decision Tree Classifiers</vt:lpstr>
      <vt:lpstr>Course Overview:</vt:lpstr>
      <vt:lpstr>TABLE OF CONTENTS</vt:lpstr>
      <vt:lpstr>Terminology and Definitions</vt:lpstr>
      <vt:lpstr>PowerPoint Presentation</vt:lpstr>
      <vt:lpstr>Basic example</vt:lpstr>
      <vt:lpstr>Terminology</vt:lpstr>
      <vt:lpstr>Splitting Algorithms</vt:lpstr>
      <vt:lpstr>What is splitting?</vt:lpstr>
      <vt:lpstr>Reduction in Variance</vt:lpstr>
      <vt:lpstr>Variance</vt:lpstr>
      <vt:lpstr>Reduction in Variance: Example</vt:lpstr>
      <vt:lpstr>Information Gain</vt:lpstr>
      <vt:lpstr>Information Gain</vt:lpstr>
      <vt:lpstr>Information Gain: Example</vt:lpstr>
      <vt:lpstr>Gini Impurity</vt:lpstr>
      <vt:lpstr>Gini Impurity</vt:lpstr>
      <vt:lpstr>Gini Impurity: Example</vt:lpstr>
      <vt:lpstr>Random Forests</vt:lpstr>
      <vt:lpstr>What is the random forest classifier?</vt:lpstr>
      <vt:lpstr>Random Forest: Simple Example</vt:lpstr>
      <vt:lpstr>Implementation and Visualization</vt:lpstr>
      <vt:lpstr>Implementation and Visualization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09 - Decision Tree Classifiers</dc:title>
  <cp:lastModifiedBy>Hamed, Osama</cp:lastModifiedBy>
  <cp:revision>7</cp:revision>
  <dcterms:modified xsi:type="dcterms:W3CDTF">2026-01-06T10:34:43Z</dcterms:modified>
</cp:coreProperties>
</file>