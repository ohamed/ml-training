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5"/>
  </p:notesMasterIdLst>
  <p:sldIdLst>
    <p:sldId id="256" r:id="rId2"/>
    <p:sldId id="303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7" r:id="rId12"/>
    <p:sldId id="268" r:id="rId13"/>
    <p:sldId id="269" r:id="rId14"/>
    <p:sldId id="270" r:id="rId15"/>
    <p:sldId id="271" r:id="rId16"/>
    <p:sldId id="272" r:id="rId17"/>
    <p:sldId id="274" r:id="rId18"/>
    <p:sldId id="275" r:id="rId19"/>
    <p:sldId id="276" r:id="rId20"/>
    <p:sldId id="277" r:id="rId21"/>
    <p:sldId id="278" r:id="rId22"/>
    <p:sldId id="279" r:id="rId23"/>
    <p:sldId id="280" r:id="rId24"/>
    <p:sldId id="281" r:id="rId25"/>
    <p:sldId id="282" r:id="rId26"/>
    <p:sldId id="286" r:id="rId27"/>
    <p:sldId id="283" r:id="rId28"/>
    <p:sldId id="284" r:id="rId29"/>
    <p:sldId id="285" r:id="rId30"/>
    <p:sldId id="287" r:id="rId31"/>
    <p:sldId id="288" r:id="rId32"/>
    <p:sldId id="289" r:id="rId33"/>
    <p:sldId id="290" r:id="rId34"/>
    <p:sldId id="291" r:id="rId35"/>
    <p:sldId id="292" r:id="rId36"/>
    <p:sldId id="293" r:id="rId37"/>
    <p:sldId id="294" r:id="rId38"/>
    <p:sldId id="295" r:id="rId39"/>
    <p:sldId id="297" r:id="rId40"/>
    <p:sldId id="296" r:id="rId41"/>
    <p:sldId id="298" r:id="rId42"/>
    <p:sldId id="299" r:id="rId43"/>
    <p:sldId id="302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 autoAdjust="0"/>
    <p:restoredTop sz="94660"/>
  </p:normalViewPr>
  <p:slideViewPr>
    <p:cSldViewPr snapToGrid="0">
      <p:cViewPr varScale="1">
        <p:scale>
          <a:sx n="73" d="100"/>
          <a:sy n="73" d="100"/>
        </p:scale>
        <p:origin x="3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1BC9B43-6C86-4105-AE8A-26C6AC82A911}" type="datetimeFigureOut">
              <a:rPr lang="en-US" smtClean="0"/>
              <a:t>11/5/2025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C35B555-7100-4285-9AD5-4C99DEA7EC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377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0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http://rcs.bu.edu/examples/python/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C35B555-7100-4285-9AD5-4C99DEA7EC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8367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E461F-61FE-4D81-8611-0097AAEF7B68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329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946075-E8DF-4742-8C24-79E95A67D237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687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B2289-7CF1-4619-A455-B0B4017B374E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4398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4FDEA8-FDD0-47AB-9B1E-6412E7EC60D7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9650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57D6ED-9C9A-4467-8EC7-039C0829B3DE}" type="datetime1">
              <a:rPr lang="en-US" smtClean="0"/>
              <a:t>11/5/2025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3139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9C30DE-6A64-4BEE-8EF3-DF084BEA05C1}" type="datetime1">
              <a:rPr lang="en-US" smtClean="0"/>
              <a:t>11/5/2025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3532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B4CAAF-2F01-498F-89B0-DB7EA8EC2343}" type="datetime1">
              <a:rPr lang="en-US" smtClean="0"/>
              <a:t>11/5/2025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801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10F7E6-27E1-42EF-8BDB-5661503F4C2D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35577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F16676-04F5-493E-A02A-6B73A4AE7951}" type="datetime1">
              <a:rPr lang="en-US" smtClean="0"/>
              <a:t>11/5/2025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0794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93E650-B1F9-41B7-A814-30DF5D824348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184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66AA3-ECFC-423D-9D1F-F2B307D4D685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875922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Title + text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856067" y="2846400"/>
            <a:ext cx="7077600" cy="196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1219170" lvl="1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spcBef>
                <a:spcPts val="2133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spcBef>
                <a:spcPts val="2133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spcBef>
                <a:spcPts val="2133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2619801" y="470467"/>
            <a:ext cx="6952400" cy="126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85520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69F45-234F-4D98-8AAE-7ED1F80960E9}" type="datetime1">
              <a:rPr lang="en-US" smtClean="0"/>
              <a:t>11/5/2025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41CA95-E0BC-48B5-948A-ECC494EB4D8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03948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://www.numpy.org/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cipy.org/scipylib/" TargetMode="External"/><Relationship Id="rId2" Type="http://schemas.openxmlformats.org/officeDocument/2006/relationships/image" Target="../media/image4.gif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://pandas.pydata.org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://scikit-learn.org/stable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matplotlib.org/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eaborn.pydata.org/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hyperlink" Target="http://doc.python.org/2/library/datetime.html" TargetMode="Externa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for Data Science &amp;ML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More on Pandas</a:t>
            </a:r>
          </a:p>
        </p:txBody>
      </p:sp>
      <p:pic>
        <p:nvPicPr>
          <p:cNvPr id="1026" name="Picture 2" descr="http://www.bu.edu/brand/files/2012/10/master-logo-small.gif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1545" y="4806058"/>
            <a:ext cx="790575" cy="3619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151555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2193600" y="470467"/>
            <a:ext cx="7804800" cy="12616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t" anchorCtr="0">
            <a:noAutofit/>
          </a:bodyPr>
          <a:lstStyle/>
          <a:p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883800" y="1732067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3579701" y="1745533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1.2 - Numpy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966200" y="2263067"/>
            <a:ext cx="613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6242633" y="1731933"/>
            <a:ext cx="20824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>
                <a:solidFill>
                  <a:schemeClr val="accent1"/>
                </a:solidFill>
                <a:latin typeface="Exo 2"/>
                <a:sym typeface="Exo 2"/>
              </a:rPr>
              <a:t>1.3 – Pandas*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8905568" y="1745667"/>
            <a:ext cx="20824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1.4 - Seaborn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8325033" y="2262933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5645667" y="2263067"/>
            <a:ext cx="580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883800" y="3184100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6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2647333" y="3197567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467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2245800" y="3715100"/>
            <a:ext cx="401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4382884" y="3183967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467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6124849" y="3197700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lvl="0" algn="ctr"/>
            <a:r>
              <a:rPr lang="en" sz="1467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467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467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467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467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5744884" y="3714967"/>
            <a:ext cx="379965" cy="13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3998771" y="3715100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9614907" y="3156765"/>
            <a:ext cx="1362000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467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9234907" y="3694065"/>
            <a:ext cx="380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7493307" y="3728833"/>
            <a:ext cx="3796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883833" y="4649600"/>
            <a:ext cx="1950328" cy="10620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strike="sngStrike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600" strike="sngStrike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834162" y="5177957"/>
            <a:ext cx="438839" cy="2643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5186081" y="4660557"/>
            <a:ext cx="2592907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6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6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4682696" y="5180601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6102118" y="403015"/>
            <a:ext cx="403367" cy="8005936"/>
          </a:xfrm>
          <a:prstGeom prst="bentConnector3">
            <a:avLst>
              <a:gd name="adj1" fmla="val 50000"/>
            </a:avLst>
          </a:prstGeom>
          <a:ln w="28575">
            <a:solidFill>
              <a:schemeClr val="tx2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7866524" y="3183965"/>
            <a:ext cx="1362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467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467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3312531" y="4663735"/>
            <a:ext cx="1362000" cy="1028447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6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8286737" y="4649551"/>
            <a:ext cx="2834000" cy="10348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algn="ctr"/>
            <a:r>
              <a:rPr lang="en" sz="16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6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7796414" y="5211495"/>
            <a:ext cx="494125" cy="135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16200000">
            <a:off x="-1970201" y="1945315"/>
            <a:ext cx="5566841" cy="1325563"/>
          </a:xfrm>
        </p:spPr>
        <p:txBody>
          <a:bodyPr/>
          <a:lstStyle/>
          <a:p>
            <a:r>
              <a:rPr lang="en-US" dirty="0"/>
              <a:t>Tutorial Content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</a:t>
            </a:fld>
            <a:endParaRPr lang="en-US"/>
          </a:p>
        </p:txBody>
      </p:sp>
      <p:sp>
        <p:nvSpPr>
          <p:cNvPr id="19" name="Oval 18"/>
          <p:cNvSpPr/>
          <p:nvPr/>
        </p:nvSpPr>
        <p:spPr>
          <a:xfrm>
            <a:off x="-17720144" y="-6849586"/>
            <a:ext cx="20726400" cy="20726400"/>
          </a:xfrm>
          <a:prstGeom prst="ellipse">
            <a:avLst/>
          </a:prstGeom>
          <a:noFill/>
          <a:ln w="1524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/>
          <p:cNvSpPr/>
          <p:nvPr/>
        </p:nvSpPr>
        <p:spPr>
          <a:xfrm>
            <a:off x="2196100" y="467916"/>
            <a:ext cx="908462" cy="865295"/>
          </a:xfrm>
          <a:prstGeom prst="ellipse">
            <a:avLst/>
          </a:prstGeom>
          <a:ln w="22225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3161546" y="536694"/>
            <a:ext cx="41985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Overview of Python Libraries for Data Scientists/ML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60600" y="1759635"/>
            <a:ext cx="703478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Reading Data; Selecting and Filtering the Data; Data manipulation, sorting, grouping, rearranging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09368" y="3163230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Plotting the 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60600" y="4386171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Descriptive statistics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49168" y="5696876"/>
            <a:ext cx="5279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Inferential statistics</a:t>
            </a:r>
          </a:p>
        </p:txBody>
      </p:sp>
      <p:sp>
        <p:nvSpPr>
          <p:cNvPr id="31" name="Oval 30"/>
          <p:cNvSpPr/>
          <p:nvPr/>
        </p:nvSpPr>
        <p:spPr>
          <a:xfrm>
            <a:off x="2457843" y="1679170"/>
            <a:ext cx="908462" cy="865295"/>
          </a:xfrm>
          <a:prstGeom prst="ellipse">
            <a:avLst/>
          </a:prstGeom>
          <a:solidFill>
            <a:schemeClr val="accent4"/>
          </a:solidFill>
          <a:ln w="22225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/>
          <p:cNvSpPr/>
          <p:nvPr/>
        </p:nvSpPr>
        <p:spPr>
          <a:xfrm>
            <a:off x="2514906" y="2920904"/>
            <a:ext cx="908462" cy="865295"/>
          </a:xfrm>
          <a:prstGeom prst="ellipse">
            <a:avLst/>
          </a:prstGeom>
          <a:solidFill>
            <a:schemeClr val="accent3"/>
          </a:solidFill>
          <a:ln w="222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/>
          <p:cNvSpPr/>
          <p:nvPr/>
        </p:nvSpPr>
        <p:spPr>
          <a:xfrm>
            <a:off x="2514906" y="4162638"/>
            <a:ext cx="908462" cy="865295"/>
          </a:xfrm>
          <a:prstGeom prst="ellipse">
            <a:avLst/>
          </a:prstGeom>
          <a:solidFill>
            <a:schemeClr val="accent6"/>
          </a:solidFill>
          <a:ln w="2222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/>
          <p:cNvSpPr/>
          <p:nvPr/>
        </p:nvSpPr>
        <p:spPr>
          <a:xfrm>
            <a:off x="2277819" y="5410468"/>
            <a:ext cx="908462" cy="865295"/>
          </a:xfrm>
          <a:prstGeom prst="ellipse">
            <a:avLst/>
          </a:prstGeom>
          <a:solidFill>
            <a:schemeClr val="accent2"/>
          </a:solidFill>
          <a:ln w="22225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114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Science/ML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Many popular Python toolboxes/libraries:</a:t>
            </a:r>
          </a:p>
          <a:p>
            <a:pPr lvl="1"/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SciPy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r>
              <a:rPr lang="en-US" dirty="0"/>
              <a:t>Pandas</a:t>
            </a: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SciKit</a:t>
            </a:r>
            <a:r>
              <a:rPr lang="en-US" dirty="0">
                <a:highlight>
                  <a:srgbClr val="FFFF00"/>
                </a:highlight>
              </a:rPr>
              <a:t>-Learn</a:t>
            </a:r>
          </a:p>
          <a:p>
            <a:pPr marL="457200" lvl="1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Visualization libraries</a:t>
            </a: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matplotlib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r>
              <a:rPr lang="en-US" dirty="0" err="1">
                <a:highlight>
                  <a:srgbClr val="FFFF00"/>
                </a:highlight>
              </a:rPr>
              <a:t>Seaborn</a:t>
            </a:r>
            <a:endParaRPr lang="en-US" dirty="0">
              <a:highlight>
                <a:srgbClr val="FFFF00"/>
              </a:highlight>
            </a:endParaRPr>
          </a:p>
          <a:p>
            <a:pPr lvl="1"/>
            <a:endParaRPr lang="en-US" dirty="0"/>
          </a:p>
          <a:p>
            <a:pPr marL="457200" lvl="1" indent="0">
              <a:buNone/>
            </a:pPr>
            <a:r>
              <a:rPr lang="en-US" dirty="0"/>
              <a:t>                                                      and many more 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4538472" y="2846832"/>
            <a:ext cx="22372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All these libraries </a:t>
            </a:r>
            <a:r>
              <a:rPr lang="en-US" i="1" dirty="0">
                <a:highlight>
                  <a:srgbClr val="00FFFF"/>
                </a:highlight>
              </a:rPr>
              <a:t>might</a:t>
            </a:r>
            <a:r>
              <a:rPr lang="en-US" i="1" dirty="0"/>
              <a:t> need to be installed on your notebook!</a:t>
            </a:r>
          </a:p>
        </p:txBody>
      </p:sp>
    </p:spTree>
    <p:extLst>
      <p:ext uri="{BB962C8B-B14F-4D97-AF65-F5344CB8AC3E}">
        <p14:creationId xmlns:p14="http://schemas.microsoft.com/office/powerpoint/2010/main" val="39734788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NumPy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introduces objects for multidimensional arrays and matrices, as well as functions that allow to easily perform advanced mathematical and statistical operations on those objects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vectorization of mathematical operations on arrays and matrices which significantly improves the performance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many other python libraries are built on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5</a:t>
            </a:fld>
            <a:endParaRPr lang="en-US"/>
          </a:p>
        </p:txBody>
      </p:sp>
      <p:pic>
        <p:nvPicPr>
          <p:cNvPr id="2050" name="Picture 2" descr="NumPy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40823" y="127698"/>
            <a:ext cx="1714500" cy="5810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/>
          <p:cNvSpPr txBox="1"/>
          <p:nvPr/>
        </p:nvSpPr>
        <p:spPr>
          <a:xfrm>
            <a:off x="838200" y="5807631"/>
            <a:ext cx="4456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http://www.numpy.org/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406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SciPy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collection of algorithms for linear algebra, differential equations, numerical integration, optimization, statistics and more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part of </a:t>
            </a:r>
            <a:r>
              <a:rPr lang="en-US" dirty="0" err="1"/>
              <a:t>SciPy</a:t>
            </a:r>
            <a:r>
              <a:rPr lang="en-US" dirty="0"/>
              <a:t> Stack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built on </a:t>
            </a:r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6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38" r="41257"/>
          <a:stretch/>
        </p:blipFill>
        <p:spPr>
          <a:xfrm>
            <a:off x="10137648" y="130874"/>
            <a:ext cx="1789176" cy="525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38200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3"/>
              </a:rPr>
              <a:t>https://www.scipy.org/scipylib/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1344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/>
              <a:t>Pandas: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adds data structures and tools designed to work with table-like data (similar to Series and Data Frames in R)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tools for data manipulation: reshaping, merging, sorting, slicing, aggregation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allows handling missing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838200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http://pandas.pydata.org/</a:t>
            </a:r>
            <a:endParaRPr lang="en-US" dirty="0"/>
          </a:p>
        </p:txBody>
      </p:sp>
      <p:pic>
        <p:nvPicPr>
          <p:cNvPr id="3074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0218" y="80519"/>
            <a:ext cx="3318046" cy="6912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332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http://scikit-learn.org/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SciKit</a:t>
            </a:r>
            <a:r>
              <a:rPr lang="en-US" i="1" dirty="0"/>
              <a:t>-Learn: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machine learning algorithms: classification, regression, clustering, model validation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built on </a:t>
            </a:r>
            <a:r>
              <a:rPr lang="en-US" dirty="0" err="1"/>
              <a:t>NumPy</a:t>
            </a:r>
            <a:r>
              <a:rPr lang="en-US" dirty="0"/>
              <a:t>, </a:t>
            </a:r>
            <a:r>
              <a:rPr lang="en-US" dirty="0" err="1"/>
              <a:t>SciPy</a:t>
            </a:r>
            <a:r>
              <a:rPr lang="en-US" dirty="0"/>
              <a:t> and </a:t>
            </a:r>
            <a:r>
              <a:rPr lang="en-US" dirty="0" err="1"/>
              <a:t>matplotlib</a:t>
            </a: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8</a:t>
            </a:fld>
            <a:endParaRPr lang="en-US"/>
          </a:p>
        </p:txBody>
      </p:sp>
      <p:pic>
        <p:nvPicPr>
          <p:cNvPr id="5122" name="Picture 2" descr="Log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39527" y="149923"/>
            <a:ext cx="1524000" cy="5524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9197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matplotlib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python 2D plotting library which produces publication quality figures in a variety of hardcopy formats 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a set of functionalities similar to those of MATLAB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line plots, scatter plots, </a:t>
            </a:r>
            <a:r>
              <a:rPr lang="en-US" dirty="0" err="1"/>
              <a:t>barcharts</a:t>
            </a:r>
            <a:r>
              <a:rPr lang="en-US" dirty="0"/>
              <a:t>, histograms, pie charts etc.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relatively low-level; some effort needed to create advanced visualization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https://matplotlib.org/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9</a:t>
            </a:fld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5023" y="119373"/>
            <a:ext cx="2183346" cy="49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5346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 err="1"/>
              <a:t>Seaborn</a:t>
            </a:r>
            <a:r>
              <a:rPr lang="en-US" i="1" dirty="0"/>
              <a:t>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based on </a:t>
            </a:r>
            <a:r>
              <a:rPr lang="en-US" dirty="0" err="1"/>
              <a:t>matplotlib</a:t>
            </a:r>
            <a:r>
              <a:rPr lang="en-US" dirty="0"/>
              <a:t> </a:t>
            </a:r>
          </a:p>
          <a:p>
            <a:pPr marL="457200" lvl="1" indent="0">
              <a:buNone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provides high level interface for drawing attractive statistical graphics</a:t>
            </a:r>
          </a:p>
          <a:p>
            <a:pPr lvl="1">
              <a:buFont typeface="Wingdings" panose="05000000000000000000" pitchFamily="2" charset="2"/>
              <a:buChar char="§"/>
            </a:pP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Similar (in style) to the popular ggplot2 library in R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832104" y="5807631"/>
            <a:ext cx="56540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Link:</a:t>
            </a:r>
            <a:r>
              <a:rPr lang="en-US" dirty="0"/>
              <a:t> </a:t>
            </a:r>
            <a:r>
              <a:rPr lang="en-US" dirty="0">
                <a:hlinkClick r:id="rId2"/>
              </a:rPr>
              <a:t>https://seaborn.pydata.org/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Libraries for Data Science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736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92576" y="1865480"/>
            <a:ext cx="1540822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Loading Python Libraries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2423276" y="1865480"/>
            <a:ext cx="8491513" cy="175432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#Import Python Libraries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</a:t>
            </a: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pandas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mpl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import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seaborn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as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sns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92516" y="1773836"/>
            <a:ext cx="10160166" cy="1918741"/>
          </a:xfrm>
          <a:prstGeom prst="rect">
            <a:avLst/>
          </a:prstGeom>
          <a:noFill/>
          <a:ln w="9525"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992516" y="1773836"/>
            <a:ext cx="0" cy="1918741"/>
          </a:xfrm>
          <a:prstGeom prst="line">
            <a:avLst/>
          </a:prstGeom>
          <a:ln w="5080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92516" y="4947793"/>
            <a:ext cx="8539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Press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Shift+Enter</a:t>
            </a:r>
            <a:r>
              <a:rPr lang="en-US" dirty="0"/>
              <a:t> to execute the </a:t>
            </a:r>
            <a:r>
              <a:rPr lang="en-US" i="1" dirty="0" err="1"/>
              <a:t>jupyter</a:t>
            </a:r>
            <a:r>
              <a:rPr lang="en-US" dirty="0"/>
              <a:t> cell</a:t>
            </a:r>
          </a:p>
        </p:txBody>
      </p:sp>
    </p:spTree>
    <p:extLst>
      <p:ext uri="{BB962C8B-B14F-4D97-AF65-F5344CB8AC3E}">
        <p14:creationId xmlns:p14="http://schemas.microsoft.com/office/powerpoint/2010/main" val="14389782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data using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12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123110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#Read csv file</a:t>
            </a:r>
          </a:p>
          <a:p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400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data_analysis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/Salaries.csv"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)#was</a:t>
            </a:r>
          </a:p>
          <a:p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4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400" dirty="0" err="1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DataAnalysis</a:t>
            </a:r>
            <a:r>
              <a:rPr lang="en-US" sz="1400" dirty="0">
                <a:solidFill>
                  <a:schemeClr val="accent2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/Salaries.csv"</a:t>
            </a:r>
            <a:r>
              <a:rPr lang="en-US" sz="14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)#now</a:t>
            </a:r>
          </a:p>
          <a:p>
            <a:endParaRPr lang="en-US" sz="14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sz="14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69560" y="3538091"/>
            <a:ext cx="11412511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There is a number of pandas commands to read other data formats:</a:t>
            </a:r>
          </a:p>
          <a:p>
            <a:endParaRPr lang="en-US" dirty="0"/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pd.read_excel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xlsx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',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sheet_name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='Sheet1',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index_col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=None,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na_values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=['NA'])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pd.read_stata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myfile.dta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')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pd.read_sas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('myfile.sas7bdat')</a:t>
            </a:r>
          </a:p>
          <a:p>
            <a:pPr>
              <a:lnSpc>
                <a:spcPct val="150000"/>
              </a:lnSpc>
            </a:pP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pd.read_hdf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('myfile.h5','df')</a:t>
            </a: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543986" y="2574376"/>
            <a:ext cx="954373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b="1" i="1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</a:rPr>
              <a:t>Note: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The above command has many optional arguments to fine-tune the data import process.</a:t>
            </a:r>
          </a:p>
        </p:txBody>
      </p:sp>
    </p:spTree>
    <p:extLst>
      <p:ext uri="{BB962C8B-B14F-4D97-AF65-F5344CB8AC3E}">
        <p14:creationId xmlns:p14="http://schemas.microsoft.com/office/powerpoint/2010/main" val="25652701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[3]: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Exploring data frames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#List first 5 records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df.head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520" y="2797367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Out[3]: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091" y="2797367"/>
            <a:ext cx="3261643" cy="176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9722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14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Try to read the first 10, 20, 50 records;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Can you guess how to view the last few records;              </a:t>
            </a:r>
            <a:r>
              <a:rPr lang="en-US" sz="2400" i="1" dirty="0">
                <a:solidFill>
                  <a:schemeClr val="bg1">
                    <a:lumMod val="50000"/>
                  </a:schemeClr>
                </a:solidFill>
              </a:rPr>
              <a:t>Hint: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9659" y="3212891"/>
            <a:ext cx="971733" cy="687049"/>
          </a:xfrm>
          <a:prstGeom prst="rect">
            <a:avLst/>
          </a:prstGeom>
        </p:spPr>
      </p:pic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96271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 data types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60045177"/>
              </p:ext>
            </p:extLst>
          </p:nvPr>
        </p:nvGraphicFramePr>
        <p:xfrm>
          <a:off x="838200" y="1690688"/>
          <a:ext cx="9153729" cy="4432090"/>
        </p:xfrm>
        <a:graphic>
          <a:graphicData uri="http://schemas.openxmlformats.org/drawingml/2006/table">
            <a:tbl>
              <a:tblPr/>
              <a:tblGrid>
                <a:gridCol w="30512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51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05124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4923"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dirty="0">
                          <a:effectLst/>
                        </a:rPr>
                        <a:t>Pandas Type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>
                          <a:effectLst/>
                        </a:rPr>
                        <a:t>Native Python Type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600" b="1" dirty="0">
                          <a:effectLst/>
                        </a:rPr>
                        <a:t>Description</a:t>
                      </a:r>
                    </a:p>
                  </a:txBody>
                  <a:tcPr marL="53065" marR="53065" marT="53065" marB="53065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61302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object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string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The most general dtype. Will be assigned to your column if column has mixed types (numbers and strings).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22509"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int64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int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Numeric characters. 64 refers to the memory allocated to hold this character.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00095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float64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float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Numeric characters with decimals. If a column contains numbers and NaNs(see below), pandas will default to float64, in case your missing value has a decimal.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22509">
                <a:tc>
                  <a:txBody>
                    <a:bodyPr/>
                    <a:lstStyle/>
                    <a:p>
                      <a:pPr fontAlgn="t"/>
                      <a:r>
                        <a:rPr lang="en-US" sz="1600">
                          <a:effectLst/>
                        </a:rPr>
                        <a:t>datetime64, timedelta[ns]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N/A (but see the </a:t>
                      </a:r>
                      <a:r>
                        <a:rPr lang="en-US" sz="1600" u="none" strike="noStrike" dirty="0" err="1">
                          <a:solidFill>
                            <a:srgbClr val="337AB7"/>
                          </a:solidFill>
                          <a:effectLst/>
                          <a:hlinkClick r:id="rId2"/>
                        </a:rPr>
                        <a:t>datetime</a:t>
                      </a:r>
                      <a:r>
                        <a:rPr lang="en-US" sz="1600" dirty="0">
                          <a:effectLst/>
                        </a:rPr>
                        <a:t> module in Python’s standard library)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/>
                      <a:r>
                        <a:rPr lang="en-US" sz="1600" dirty="0">
                          <a:effectLst/>
                        </a:rPr>
                        <a:t>Values meant to hold time data. Look into these for time series experiments.</a:t>
                      </a:r>
                    </a:p>
                  </a:txBody>
                  <a:tcPr marL="53065" marR="53065" marT="53065" marB="53065">
                    <a:lnL>
                      <a:noFill/>
                    </a:lnL>
                    <a:lnR>
                      <a:noFill/>
                    </a:lnR>
                    <a:lnT w="762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0484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203023" y="186548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[4]: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 data types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1648913" y="1865480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#Check a particular column type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00520" y="2607492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Out[4]: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dtype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('int64')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0527" y="3386978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[5]: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6417" y="3386978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#Check types for all the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df.dtypes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98024" y="4318865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Out[4]:</a:t>
            </a:r>
            <a:endParaRPr lang="en-US" sz="1600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1648913" y="4360681"/>
            <a:ext cx="3227887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rank             </a:t>
            </a:r>
          </a:p>
          <a:p>
            <a:r>
              <a:rPr lang="en-US" dirty="0"/>
              <a:t>discipline  </a:t>
            </a:r>
          </a:p>
          <a:p>
            <a:r>
              <a:rPr lang="en-US" dirty="0" err="1"/>
              <a:t>phd</a:t>
            </a:r>
            <a:r>
              <a:rPr lang="en-US" dirty="0"/>
              <a:t> </a:t>
            </a:r>
          </a:p>
          <a:p>
            <a:r>
              <a:rPr lang="en-US" dirty="0"/>
              <a:t>service      </a:t>
            </a:r>
          </a:p>
          <a:p>
            <a:r>
              <a:rPr lang="en-US" dirty="0"/>
              <a:t>sex              </a:t>
            </a:r>
          </a:p>
          <a:p>
            <a:r>
              <a:rPr lang="en-US" dirty="0"/>
              <a:t>salary         </a:t>
            </a:r>
          </a:p>
          <a:p>
            <a:r>
              <a:rPr lang="en-US" dirty="0" err="1"/>
              <a:t>dtype</a:t>
            </a:r>
            <a:r>
              <a:rPr lang="en-US" dirty="0"/>
              <a:t>: object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20380" y="4358185"/>
            <a:ext cx="3227887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object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int64</a:t>
            </a:r>
          </a:p>
          <a:p>
            <a:r>
              <a:rPr lang="en-US" dirty="0"/>
              <a:t>int64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int64</a:t>
            </a:r>
          </a:p>
        </p:txBody>
      </p:sp>
    </p:spTree>
    <p:extLst>
      <p:ext uri="{BB962C8B-B14F-4D97-AF65-F5344CB8AC3E}">
        <p14:creationId xmlns:p14="http://schemas.microsoft.com/office/powerpoint/2010/main" val="23185033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attributes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17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838200" y="1690688"/>
            <a:ext cx="74850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Python objects have </a:t>
            </a:r>
            <a:r>
              <a:rPr lang="en-US" i="1" dirty="0"/>
              <a:t>attributes</a:t>
            </a:r>
            <a:r>
              <a:rPr lang="en-US" dirty="0"/>
              <a:t> and </a:t>
            </a:r>
            <a:r>
              <a:rPr lang="en-US" i="1" dirty="0"/>
              <a:t>methods</a:t>
            </a:r>
            <a:r>
              <a:rPr lang="en-US" dirty="0"/>
              <a:t>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0775"/>
              </p:ext>
            </p:extLst>
          </p:nvPr>
        </p:nvGraphicFramePr>
        <p:xfrm>
          <a:off x="927725" y="2363450"/>
          <a:ext cx="7930298" cy="3492709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69938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3091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8967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df.attribute</a:t>
                      </a: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9731">
                <a:tc>
                  <a:txBody>
                    <a:bodyPr/>
                    <a:lstStyle/>
                    <a:p>
                      <a:r>
                        <a:rPr lang="en-US" dirty="0" err="1"/>
                        <a:t>dtypes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types of the columns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9731">
                <a:tc>
                  <a:txBody>
                    <a:bodyPr/>
                    <a:lstStyle/>
                    <a:p>
                      <a:r>
                        <a:rPr lang="en-US" dirty="0"/>
                        <a:t>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column names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9705">
                <a:tc>
                  <a:txBody>
                    <a:bodyPr/>
                    <a:lstStyle/>
                    <a:p>
                      <a:r>
                        <a:rPr lang="en-US" dirty="0"/>
                        <a:t>axes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list the row labels</a:t>
                      </a:r>
                      <a:r>
                        <a:rPr lang="en-US" baseline="0" dirty="0"/>
                        <a:t> and column names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9698">
                <a:tc>
                  <a:txBody>
                    <a:bodyPr/>
                    <a:lstStyle/>
                    <a:p>
                      <a:r>
                        <a:rPr lang="en-US" dirty="0" err="1"/>
                        <a:t>ndim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of dimensions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number of elements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shape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a tuple</a:t>
                      </a:r>
                      <a:r>
                        <a:rPr lang="en-US" baseline="0" dirty="0"/>
                        <a:t> representing the dimensionality 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4722">
                <a:tc>
                  <a:txBody>
                    <a:bodyPr/>
                    <a:lstStyle/>
                    <a:p>
                      <a:r>
                        <a:rPr lang="en-US" dirty="0"/>
                        <a:t>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numpy</a:t>
                      </a:r>
                      <a:r>
                        <a:rPr lang="en-US" baseline="0" dirty="0"/>
                        <a:t> representation of the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68498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Find how many records this data frame has;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How many elements are there?     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are the column names?</a:t>
            </a:r>
          </a:p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types of columns we have in this data frame?</a:t>
            </a: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04853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methods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19</a:t>
            </a:fld>
            <a:endParaRPr lang="en-US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3127113"/>
              </p:ext>
            </p:extLst>
          </p:nvPr>
        </p:nvGraphicFramePr>
        <p:xfrm>
          <a:off x="927725" y="2418414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head( [n] ), tail( [n] 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first/last</a:t>
                      </a:r>
                      <a:r>
                        <a:rPr lang="en-US" baseline="0" dirty="0"/>
                        <a:t> n rows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describe()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generate descriptive statistics (for numeric columns only)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/>
                        <a:t>max(), min()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max/min</a:t>
                      </a:r>
                      <a:r>
                        <a:rPr lang="en-US" baseline="0" dirty="0"/>
                        <a:t> values for all numeric columns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/>
                        <a:t>mean(), median()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 mean/median</a:t>
                      </a:r>
                      <a:r>
                        <a:rPr lang="en-US" baseline="0" dirty="0"/>
                        <a:t> values for all numeric columns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std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standard deviation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/>
                        <a:t>sample([n])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a random sample of the</a:t>
                      </a:r>
                      <a:r>
                        <a:rPr lang="en-US" baseline="0" dirty="0"/>
                        <a:t> data frame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all the records with 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38200" y="1610741"/>
            <a:ext cx="74850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Unlike attributes, python methods have </a:t>
            </a:r>
            <a:r>
              <a:rPr lang="en-US" i="1" dirty="0"/>
              <a:t>parenthesis.</a:t>
            </a:r>
          </a:p>
          <a:p>
            <a:r>
              <a:rPr lang="en-US" dirty="0"/>
              <a:t>All attributes and methods can be listed with a </a:t>
            </a:r>
            <a:r>
              <a:rPr lang="en-US" i="1" dirty="0" err="1"/>
              <a:t>dir</a:t>
            </a:r>
            <a:r>
              <a:rPr lang="en-US" i="1" dirty="0"/>
              <a:t>() </a:t>
            </a:r>
            <a:r>
              <a:rPr lang="en-US" dirty="0"/>
              <a:t>function: 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b="1" dirty="0" err="1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b="1" dirty="0">
                <a:solidFill>
                  <a:schemeClr val="accent1">
                    <a:lumMod val="50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49865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20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32316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Give the summary for the numeric columns in the dataset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standard deviation for all numeric columns;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What are the mean values of the first 50 records in the dataset?   </a:t>
            </a:r>
            <a:r>
              <a:rPr lang="en-US" sz="2400" b="1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Hint:</a:t>
            </a:r>
            <a:r>
              <a:rPr lang="en-US" sz="2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use head() method to subset the first 50 records and then calculate the mean</a:t>
            </a: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56851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Selecting a column in a Data Frame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i="1" dirty="0">
                <a:highlight>
                  <a:srgbClr val="FFFF00"/>
                </a:highlight>
              </a:rPr>
              <a:t>Method 1</a:t>
            </a:r>
            <a:r>
              <a:rPr lang="en-US" i="1" dirty="0"/>
              <a:t>:   </a:t>
            </a:r>
            <a:r>
              <a:rPr lang="en-US" dirty="0"/>
              <a:t>Subset the data frame using column name:</a:t>
            </a:r>
          </a:p>
          <a:p>
            <a:pPr marL="0" indent="0">
              <a:buNone/>
            </a:pPr>
            <a:r>
              <a:rPr lang="en-US" dirty="0"/>
              <a:t>                      </a:t>
            </a:r>
            <a:r>
              <a:rPr lang="en-US" dirty="0" err="1"/>
              <a:t>df</a:t>
            </a:r>
            <a:r>
              <a:rPr lang="en-US" dirty="0"/>
              <a:t>['sex']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i="1" dirty="0"/>
              <a:t>Method 2</a:t>
            </a:r>
            <a:r>
              <a:rPr lang="en-US" dirty="0"/>
              <a:t>:   Use the column name as an attribute:</a:t>
            </a:r>
          </a:p>
          <a:p>
            <a:pPr marL="0" indent="0">
              <a:buNone/>
            </a:pPr>
            <a:r>
              <a:rPr lang="en-US" dirty="0"/>
              <a:t>                      </a:t>
            </a:r>
            <a:r>
              <a:rPr lang="en-US" dirty="0" err="1"/>
              <a:t>df.sex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Note: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there is an 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attribute </a:t>
            </a:r>
            <a:r>
              <a:rPr lang="en-US" sz="2000" i="1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rank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  <a:highlight>
                  <a:srgbClr val="FFFF00"/>
                </a:highlight>
              </a:rPr>
              <a:t> for pandas data frames</a:t>
            </a:r>
            <a:r>
              <a:rPr lang="en-US" sz="20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, so to select a column with a name "rank" we should use method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58679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75000"/>
                  </a:schemeClr>
                </a:solidFill>
              </a:rPr>
              <a:t>      Hands-on exercises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22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004341" y="2013679"/>
            <a:ext cx="10418164" cy="249299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5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the basic statistics for the </a:t>
            </a:r>
            <a:r>
              <a:rPr lang="en-US" sz="2400" i="1" dirty="0"/>
              <a:t>salary</a:t>
            </a:r>
            <a:r>
              <a:rPr lang="en-US" sz="2400" dirty="0"/>
              <a:t> column;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Find how many values in the </a:t>
            </a:r>
            <a:r>
              <a:rPr lang="en-US" sz="2400" i="1" dirty="0"/>
              <a:t>salary</a:t>
            </a:r>
            <a:r>
              <a:rPr lang="en-US" sz="2400" dirty="0"/>
              <a:t> column (use </a:t>
            </a:r>
            <a:r>
              <a:rPr lang="en-US" sz="2400" i="1" dirty="0"/>
              <a:t>count</a:t>
            </a:r>
            <a:r>
              <a:rPr lang="en-US" sz="2400" dirty="0"/>
              <a:t> method);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ü"/>
            </a:pPr>
            <a:r>
              <a:rPr lang="en-US" sz="2400" dirty="0"/>
              <a:t>Calculate the average salary;</a:t>
            </a:r>
            <a:endParaRPr lang="en-US" sz="2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grpSp>
        <p:nvGrpSpPr>
          <p:cNvPr id="24" name="Group 23"/>
          <p:cNvGrpSpPr/>
          <p:nvPr/>
        </p:nvGrpSpPr>
        <p:grpSpPr>
          <a:xfrm rot="-8100000">
            <a:off x="1184980" y="754334"/>
            <a:ext cx="87443" cy="547143"/>
            <a:chOff x="2136098" y="5086662"/>
            <a:chExt cx="87443" cy="547143"/>
          </a:xfrm>
        </p:grpSpPr>
        <p:cxnSp>
          <p:nvCxnSpPr>
            <p:cNvPr id="11" name="Straight Connector 10"/>
            <p:cNvCxnSpPr/>
            <p:nvPr/>
          </p:nvCxnSpPr>
          <p:spPr>
            <a:xfrm flipH="1">
              <a:off x="2181067" y="5206584"/>
              <a:ext cx="2502" cy="354767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Isosceles Triangle 11"/>
            <p:cNvSpPr/>
            <p:nvPr/>
          </p:nvSpPr>
          <p:spPr>
            <a:xfrm>
              <a:off x="2136098" y="5086662"/>
              <a:ext cx="87443" cy="87836"/>
            </a:xfrm>
            <a:prstGeom prst="triangl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2" name="Straight Connector 21"/>
            <p:cNvCxnSpPr/>
            <p:nvPr/>
          </p:nvCxnSpPr>
          <p:spPr>
            <a:xfrm flipH="1">
              <a:off x="2178566" y="5581339"/>
              <a:ext cx="2" cy="52466"/>
            </a:xfrm>
            <a:prstGeom prst="line">
              <a:avLst/>
            </a:prstGeom>
            <a:ln w="793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510184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highlight>
                  <a:srgbClr val="FFFF00"/>
                </a:highlight>
                <a:latin typeface="Algerian" panose="04020705040A02060702" pitchFamily="82" charset="0"/>
              </a:rPr>
              <a:t>Data Frames </a:t>
            </a:r>
            <a:r>
              <a:rPr lang="en-US" b="1" i="1" dirty="0" err="1">
                <a:highlight>
                  <a:srgbClr val="FFFF00"/>
                </a:highlight>
                <a:latin typeface="Algerian" panose="04020705040A02060702" pitchFamily="82" charset="0"/>
              </a:rPr>
              <a:t>groupby</a:t>
            </a:r>
            <a:r>
              <a:rPr lang="en-US" b="1" dirty="0">
                <a:highlight>
                  <a:srgbClr val="FFFF00"/>
                </a:highlight>
                <a:latin typeface="Algerian" panose="04020705040A02060702" pitchFamily="82" charset="0"/>
              </a:rPr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23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1361272"/>
            <a:ext cx="104181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dirty="0"/>
              <a:t>Using "group by" method we can: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Split the data into groups based on some criteria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Calculate statistics (or apply a function) to each group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Similar to </a:t>
            </a:r>
            <a:r>
              <a:rPr lang="en-US" sz="2400" dirty="0" err="1"/>
              <a:t>dplyr</a:t>
            </a:r>
            <a:r>
              <a:rPr lang="en-US" sz="2400" dirty="0"/>
              <a:t>() function in 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2201" y="3562583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091" y="3562583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#Group data using rank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df_rank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354" y="4403350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1244" y="4403350"/>
            <a:ext cx="10268267" cy="1200329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value for each numeric column per each group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df_rank.mean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()#was old version &lt; 2.0.0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_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rank.mean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(True)#now</a:t>
            </a:r>
          </a:p>
          <a:p>
            <a:endParaRPr lang="en-US" dirty="0">
              <a:solidFill>
                <a:schemeClr val="bg2">
                  <a:lumMod val="2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1244" y="5244117"/>
            <a:ext cx="3185436" cy="15241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94178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</a:t>
            </a:r>
            <a:r>
              <a:rPr lang="en-US" i="1" dirty="0" err="1"/>
              <a:t>groupby</a:t>
            </a:r>
            <a:r>
              <a:rPr lang="en-US" dirty="0"/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24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8660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dirty="0"/>
              <a:t>Once </a:t>
            </a:r>
            <a:r>
              <a:rPr lang="en-US" sz="2400" dirty="0" err="1"/>
              <a:t>groupby</a:t>
            </a:r>
            <a:r>
              <a:rPr lang="en-US" sz="2400" dirty="0"/>
              <a:t> object is create we can calculate various statistics for each group: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3244085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3244085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]].mean()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8913" y="5935512"/>
            <a:ext cx="1021773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Note:</a:t>
            </a:r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 If single brackets are used to specify the column (e.g. salary), then the output is Pandas Series object. When double brackets are used the output is a Data Frame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4058122"/>
            <a:ext cx="1928027" cy="14326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13806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 </a:t>
            </a:r>
            <a:r>
              <a:rPr lang="en-US" i="1" dirty="0" err="1"/>
              <a:t>groupby</a:t>
            </a:r>
            <a:r>
              <a:rPr lang="en-US" dirty="0"/>
              <a:t> method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25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250000"/>
              </a:lnSpc>
            </a:pPr>
            <a:r>
              <a:rPr lang="en-US" sz="2400" i="1" dirty="0" err="1"/>
              <a:t>groupby</a:t>
            </a:r>
            <a:r>
              <a:rPr lang="en-US" sz="2400" dirty="0"/>
              <a:t> performance notes:</a:t>
            </a:r>
          </a:p>
          <a:p>
            <a:pPr lvl="1"/>
            <a:r>
              <a:rPr lang="en-US" sz="2400" dirty="0"/>
              <a:t>- no grouping/splitting occurs until it's needed. Creating the </a:t>
            </a:r>
            <a:r>
              <a:rPr lang="en-US" sz="2400" i="1" dirty="0" err="1"/>
              <a:t>groupby</a:t>
            </a:r>
            <a:r>
              <a:rPr lang="en-US" sz="2400" dirty="0"/>
              <a:t> object only verifies that you have passed a valid mapping</a:t>
            </a:r>
          </a:p>
          <a:p>
            <a:pPr lvl="1"/>
            <a:r>
              <a:rPr lang="en-US" sz="2400" dirty="0"/>
              <a:t>- by default the group keys are sorted during the </a:t>
            </a:r>
            <a:r>
              <a:rPr lang="en-US" sz="2400" i="1" dirty="0" err="1"/>
              <a:t>groupby</a:t>
            </a:r>
            <a:r>
              <a:rPr lang="en-US" sz="2400" dirty="0"/>
              <a:t> operation. You may want to pass sort=False for potential speedup:</a:t>
            </a:r>
          </a:p>
          <a:p>
            <a:pPr>
              <a:lnSpc>
                <a:spcPct val="250000"/>
              </a:lnSpc>
            </a:pP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203023" y="4867404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4867404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df.groupby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'rank']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sort=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]].mean()</a:t>
            </a:r>
          </a:p>
        </p:txBody>
      </p:sp>
    </p:spTree>
    <p:extLst>
      <p:ext uri="{BB962C8B-B14F-4D97-AF65-F5344CB8AC3E}">
        <p14:creationId xmlns:p14="http://schemas.microsoft.com/office/powerpoint/2010/main" val="25252103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Frame: filtering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26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1004341" y="2013679"/>
            <a:ext cx="1041816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subset the data we can apply Boolean indexing. This indexing is commonly known as a filter.  For example if we want to subset the rows in which the salary value is greater than $120K: </a:t>
            </a:r>
          </a:p>
          <a:p>
            <a:pPr>
              <a:lnSpc>
                <a:spcPct val="250000"/>
              </a:lnSpc>
            </a:pPr>
            <a:endParaRPr lang="en-US" sz="2400" dirty="0"/>
          </a:p>
        </p:txBody>
      </p:sp>
      <p:sp>
        <p:nvSpPr>
          <p:cNvPr id="13" name="TextBox 12"/>
          <p:cNvSpPr txBox="1"/>
          <p:nvPr/>
        </p:nvSpPr>
        <p:spPr>
          <a:xfrm>
            <a:off x="203023" y="3423063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3423063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#Calculate mean salary for each professor rank: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&gt; 120000 ]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731" y="5882251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76621" y="5882251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only those rows that contain female professors: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'sex']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== 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'Female'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11267" y="4296216"/>
            <a:ext cx="1041816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Any Boolean operator can be used to subset the data: </a:t>
            </a:r>
          </a:p>
          <a:p>
            <a:r>
              <a:rPr lang="en-US" sz="2400" dirty="0"/>
              <a:t>&gt;   greater;     &gt;= greater or equal;</a:t>
            </a:r>
          </a:p>
          <a:p>
            <a:r>
              <a:rPr lang="en-US" sz="2400" dirty="0"/>
              <a:t>&lt;   less;           &lt;= less or equal;</a:t>
            </a:r>
          </a:p>
          <a:p>
            <a:r>
              <a:rPr lang="en-US" sz="2400" dirty="0"/>
              <a:t>== equal;        != not equal;  </a:t>
            </a:r>
          </a:p>
        </p:txBody>
      </p:sp>
    </p:spTree>
    <p:extLst>
      <p:ext uri="{BB962C8B-B14F-4D97-AF65-F5344CB8AC3E}">
        <p14:creationId xmlns:p14="http://schemas.microsoft.com/office/powerpoint/2010/main" val="2706167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Slicing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27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are a number of ways to subset the Data Frame: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one or more columns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one or more rows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a subset of rows and columns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marL="800100" lvl="1" indent="-342900">
              <a:buFont typeface="Arial" panose="020B0604020202020204" pitchFamily="34" charset="0"/>
              <a:buChar char="•"/>
            </a:pPr>
            <a:endParaRPr lang="en-US" sz="2400" dirty="0"/>
          </a:p>
          <a:p>
            <a:pPr lvl="1"/>
            <a:r>
              <a:rPr lang="en-US" sz="2400" dirty="0"/>
              <a:t>Rows and columns can be selected by their position or label </a:t>
            </a:r>
          </a:p>
        </p:txBody>
      </p:sp>
    </p:spTree>
    <p:extLst>
      <p:ext uri="{BB962C8B-B14F-4D97-AF65-F5344CB8AC3E}">
        <p14:creationId xmlns:p14="http://schemas.microsoft.com/office/powerpoint/2010/main" val="39252036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Slicing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28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selecting one column, it is possible to use single set of brackets, but the resulting object will be  a Series (</a:t>
            </a:r>
            <a:r>
              <a:rPr lang="en-US" sz="2400" dirty="0">
                <a:highlight>
                  <a:srgbClr val="FFFF00"/>
                </a:highlight>
              </a:rPr>
              <a:t>not a </a:t>
            </a:r>
            <a:r>
              <a:rPr lang="en-US" sz="2400" dirty="0" err="1">
                <a:highlight>
                  <a:srgbClr val="FFFF00"/>
                </a:highlight>
              </a:rPr>
              <a:t>DataFrame</a:t>
            </a:r>
            <a:r>
              <a:rPr lang="en-US" sz="2400" dirty="0"/>
              <a:t>):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column salary: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466" y="4078807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When we need to select more than one column and/or make the output to be a </a:t>
            </a:r>
            <a:r>
              <a:rPr lang="en-US" sz="2400" dirty="0" err="1"/>
              <a:t>DataFrame</a:t>
            </a:r>
            <a:r>
              <a:rPr lang="en-US" sz="2400" dirty="0"/>
              <a:t>, we should use double brackets: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400" y="4988881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2290" y="4988881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column salary: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rank'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'salary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</p:spTree>
    <p:extLst>
      <p:ext uri="{BB962C8B-B14F-4D97-AF65-F5344CB8AC3E}">
        <p14:creationId xmlns:p14="http://schemas.microsoft.com/office/powerpoint/2010/main" val="190869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Selecting rows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29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rows, we can specify the range using ":"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position: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4466" y="4078807"/>
            <a:ext cx="104181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Notice that the first row has a position 0, and the last value in the range is omitted:</a:t>
            </a:r>
          </a:p>
          <a:p>
            <a:r>
              <a:rPr lang="en-US" sz="2400" dirty="0"/>
              <a:t>So for 0:10 range the first 10 rows are returned with the positions starting with 0 and ending with 9</a:t>
            </a:r>
          </a:p>
        </p:txBody>
      </p:sp>
    </p:spTree>
    <p:extLst>
      <p:ext uri="{BB962C8B-B14F-4D97-AF65-F5344CB8AC3E}">
        <p14:creationId xmlns:p14="http://schemas.microsoft.com/office/powerpoint/2010/main" val="11100547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loc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30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rows, using their labels we can use method </a:t>
            </a:r>
            <a:r>
              <a:rPr lang="en-US" sz="2400" dirty="0" err="1"/>
              <a:t>loc</a:t>
            </a:r>
            <a:r>
              <a:rPr lang="en-US" sz="2400" dirty="0"/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labels: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df_sub.loc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rank','sex','salary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1693" y="40442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39476" y="3565667"/>
            <a:ext cx="2286319" cy="2553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346635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iloc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31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If we need to select a range of rows and/or columns, using their positions we can use method </a:t>
            </a:r>
            <a:r>
              <a:rPr lang="en-US" sz="2400" dirty="0" err="1"/>
              <a:t>iloc</a:t>
            </a:r>
            <a:r>
              <a:rPr lang="en-US" sz="2400" dirty="0"/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3023" y="29193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8913" y="2919336"/>
            <a:ext cx="10268267" cy="646331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#Select rows by their labels: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df_sub.iloc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10:20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0, 3, 4, 5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9738" y="40442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3612849"/>
            <a:ext cx="2400508" cy="31397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996557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method </a:t>
            </a:r>
            <a:r>
              <a:rPr lang="en-US" dirty="0" err="1"/>
              <a:t>iloc</a:t>
            </a:r>
            <a:r>
              <a:rPr lang="en-US" dirty="0"/>
              <a:t> (summary)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32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38200" y="1797118"/>
            <a:ext cx="10268267" cy="1200329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First row of a data frame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#(i+1)</a:t>
            </a:r>
            <a:r>
              <a:rPr lang="en-US" i="1" dirty="0" err="1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row 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Last row 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34735" y="3269170"/>
            <a:ext cx="10268267" cy="92333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First column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[:,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-1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Last column </a:t>
            </a: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34735" y="4588817"/>
            <a:ext cx="10268267" cy="1754326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0:7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   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#First 7 rows 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:, 0:2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#First 2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1:3, 0:2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#Second through third rows and first 2 columns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df.iloc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0,5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en-US" i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1,3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]]  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#1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st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6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rows and 2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nd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and 4</a:t>
            </a:r>
            <a:r>
              <a:rPr lang="en-US" i="1" baseline="30000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</a:t>
            </a:r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columns</a:t>
            </a:r>
          </a:p>
          <a:p>
            <a:endParaRPr lang="en-US" i="1" dirty="0">
              <a:solidFill>
                <a:schemeClr val="accent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8644499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Sorting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33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2009262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sort the data by a value in the column. By default the sorting will occur in ascending order and a new data frame is return.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3023" y="314793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8913" y="3147936"/>
            <a:ext cx="10268267" cy="923330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accent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Create a new data frame from the original sorted by the column Salary</a:t>
            </a:r>
          </a:p>
          <a:p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df_sorted</a:t>
            </a:r>
            <a:r>
              <a:rPr lang="en-US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.sort_values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 by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</a:t>
            </a:r>
            <a:r>
              <a:rPr lang="en-US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'service'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df_sorted.head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1693" y="4272876"/>
            <a:ext cx="10453566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913" y="4378943"/>
            <a:ext cx="3566469" cy="16613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60497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Frames: Sorting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34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2009262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We can sort the data using 2 or more columns: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-77533" y="256604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357" y="2566042"/>
            <a:ext cx="10653925" cy="615553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df_sorted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df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.sort_values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( by</a:t>
            </a:r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=[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'service'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'salary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'], ascending = [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True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US" sz="1600" b="1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False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df_sorted.head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10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-48863" y="369098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8357" y="3578891"/>
            <a:ext cx="3642676" cy="31016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8247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35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Missing values are marked as </a:t>
            </a:r>
            <a:r>
              <a:rPr lang="en-US" sz="2400" dirty="0" err="1"/>
              <a:t>NaN</a:t>
            </a:r>
            <a:endParaRPr lang="en-US" sz="2400" dirty="0"/>
          </a:p>
        </p:txBody>
      </p:sp>
      <p:sp>
        <p:nvSpPr>
          <p:cNvPr id="8" name="TextBox 7"/>
          <p:cNvSpPr txBox="1"/>
          <p:nvPr/>
        </p:nvSpPr>
        <p:spPr>
          <a:xfrm>
            <a:off x="-77533" y="2327049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68357" y="2327049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Read a dataset with missing values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 = 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pd.read_csv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"http://rcs.bu.edu/examples/python/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data_analysis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/flights.csv"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-91389" y="3237992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54501" y="3237992"/>
            <a:ext cx="10653925" cy="584775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accent6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Select the rows that have at least one missing value</a:t>
            </a:r>
          </a:p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flights[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flights.isnull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().any(axis=1)].head()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-80036" y="3992320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4501" y="4079954"/>
            <a:ext cx="8740897" cy="17375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79028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36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There are a number of methods to deal with missing values in the data frame: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60167797"/>
              </p:ext>
            </p:extLst>
          </p:nvPr>
        </p:nvGraphicFramePr>
        <p:xfrm>
          <a:off x="927725" y="2418414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missing observations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(how='all')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observations where all cells is NA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(axis=1, how='all')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column if all the values are</a:t>
                      </a:r>
                      <a:r>
                        <a:rPr lang="en-US" baseline="0" dirty="0"/>
                        <a:t> missing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dropna</a:t>
                      </a:r>
                      <a:r>
                        <a:rPr lang="en-US" dirty="0"/>
                        <a:t>(thresh =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Drop rows that contain less than 5 non-missing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fillna</a:t>
                      </a:r>
                      <a:r>
                        <a:rPr lang="en-US" dirty="0"/>
                        <a:t>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Replace missing values with zeros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isnull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True if the value is missing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notnull</a:t>
                      </a:r>
                      <a:r>
                        <a:rPr lang="en-US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Returns True for non-missing values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20602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Missing 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37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When summing the data, missing values will be treated as zero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If all values are missing, the sum will be equal to </a:t>
            </a:r>
            <a:r>
              <a:rPr lang="en-US" sz="2400" dirty="0" err="1"/>
              <a:t>NaN</a:t>
            </a:r>
            <a:endParaRPr lang="en-US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cumsum</a:t>
            </a:r>
            <a:r>
              <a:rPr lang="en-US" sz="2400" dirty="0"/>
              <a:t>() and </a:t>
            </a:r>
            <a:r>
              <a:rPr lang="en-US" sz="2400" dirty="0" err="1"/>
              <a:t>cumprod</a:t>
            </a:r>
            <a:r>
              <a:rPr lang="en-US" sz="2400" dirty="0"/>
              <a:t>() methods ignore missing values but preserve them in the resulting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Missing values in </a:t>
            </a:r>
            <a:r>
              <a:rPr lang="en-US" sz="2400" dirty="0" err="1"/>
              <a:t>GroupBy</a:t>
            </a:r>
            <a:r>
              <a:rPr lang="en-US" sz="2400" dirty="0"/>
              <a:t> method are excluded (just like in R)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Many descriptive statistics methods have </a:t>
            </a:r>
            <a:r>
              <a:rPr lang="en-US" sz="2400" i="1" dirty="0" err="1"/>
              <a:t>skipna</a:t>
            </a:r>
            <a:r>
              <a:rPr lang="en-US" sz="2400" i="1" dirty="0"/>
              <a:t> </a:t>
            </a:r>
            <a:r>
              <a:rPr lang="en-US" sz="2400" dirty="0"/>
              <a:t>option to control if missing data should be excluded . This value is set to </a:t>
            </a:r>
            <a:r>
              <a:rPr lang="en-US" sz="2400" i="1" dirty="0"/>
              <a:t>True </a:t>
            </a:r>
            <a:r>
              <a:rPr lang="en-US" sz="2400" dirty="0"/>
              <a:t>by default (unlike R)</a:t>
            </a:r>
          </a:p>
        </p:txBody>
      </p:sp>
    </p:spTree>
    <p:extLst>
      <p:ext uri="{BB962C8B-B14F-4D97-AF65-F5344CB8AC3E}">
        <p14:creationId xmlns:p14="http://schemas.microsoft.com/office/powerpoint/2010/main" val="36152513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 in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38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Aggregation - computing a summary statistic about each group, i.e.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group sums or means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400" dirty="0"/>
              <a:t>compute group sizes/counts</a:t>
            </a:r>
          </a:p>
          <a:p>
            <a:pPr lvl="1"/>
            <a:endParaRPr lang="en-US" sz="2400" dirty="0"/>
          </a:p>
          <a:p>
            <a:r>
              <a:rPr lang="en-US" sz="2400" dirty="0"/>
              <a:t>Common aggregation functions:</a:t>
            </a:r>
          </a:p>
          <a:p>
            <a:endParaRPr lang="en-US" sz="2400" dirty="0"/>
          </a:p>
          <a:p>
            <a:pPr lvl="1"/>
            <a:r>
              <a:rPr lang="en-US" sz="2400" dirty="0"/>
              <a:t>min, max</a:t>
            </a:r>
          </a:p>
          <a:p>
            <a:pPr lvl="1"/>
            <a:r>
              <a:rPr lang="en-US" sz="2400" dirty="0"/>
              <a:t>count, sum, prod</a:t>
            </a:r>
          </a:p>
          <a:p>
            <a:pPr lvl="1"/>
            <a:r>
              <a:rPr lang="en-US" sz="2400" dirty="0"/>
              <a:t>mean, median, mode, mad</a:t>
            </a:r>
          </a:p>
          <a:p>
            <a:pPr lvl="1"/>
            <a:r>
              <a:rPr lang="en-US" sz="2400" dirty="0" err="1"/>
              <a:t>std</a:t>
            </a:r>
            <a:r>
              <a:rPr lang="en-US" sz="2400" dirty="0"/>
              <a:t>, </a:t>
            </a:r>
            <a:r>
              <a:rPr lang="en-US" sz="2400" dirty="0" err="1"/>
              <a:t>var</a:t>
            </a:r>
            <a:endParaRPr lang="en-US" sz="2400" dirty="0"/>
          </a:p>
          <a:p>
            <a:r>
              <a:rPr lang="en-US" sz="2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9727966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 in Pandas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39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1770269"/>
            <a:ext cx="1041816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agg</a:t>
            </a:r>
            <a:r>
              <a:rPr lang="en-US" sz="2400" dirty="0"/>
              <a:t>() method are useful when multiple statistics are computed per column:</a:t>
            </a:r>
          </a:p>
          <a:p>
            <a:pPr lvl="1"/>
            <a:endParaRPr lang="en-US" sz="2400" dirty="0"/>
          </a:p>
        </p:txBody>
      </p:sp>
      <p:sp>
        <p:nvSpPr>
          <p:cNvPr id="5" name="TextBox 4"/>
          <p:cNvSpPr txBox="1"/>
          <p:nvPr/>
        </p:nvSpPr>
        <p:spPr>
          <a:xfrm>
            <a:off x="-77533" y="2327049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357" y="2327049"/>
            <a:ext cx="10653925" cy="338554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flights[[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'dep_delay'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arr_delay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]].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agg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([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min'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'mean'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  <a:r>
              <a:rPr lang="en-US" sz="1600" dirty="0" err="1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'max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-80036" y="3046744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rgbClr val="C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Out[ ]: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2898" y="3034395"/>
            <a:ext cx="2534004" cy="1476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11935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Descriptive Statistics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40</a:t>
            </a:fld>
            <a:endParaRPr lang="en-US"/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7612433"/>
              </p:ext>
            </p:extLst>
          </p:nvPr>
        </p:nvGraphicFramePr>
        <p:xfrm>
          <a:off x="838200" y="1690688"/>
          <a:ext cx="8431134" cy="4165425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256498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661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7820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/>
                        <a:t>df.method</a:t>
                      </a:r>
                      <a:r>
                        <a:rPr lang="en-US" sz="2400" dirty="0"/>
                        <a:t>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describe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Basic statistics (count, mean, </a:t>
                      </a:r>
                      <a:r>
                        <a:rPr lang="en-US" dirty="0" err="1"/>
                        <a:t>std</a:t>
                      </a:r>
                      <a:r>
                        <a:rPr lang="en-US" dirty="0"/>
                        <a:t>, min, quantiles, max)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83804">
                <a:tc>
                  <a:txBody>
                    <a:bodyPr/>
                    <a:lstStyle/>
                    <a:p>
                      <a:r>
                        <a:rPr lang="en-US" dirty="0"/>
                        <a:t>min, max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Minimum</a:t>
                      </a:r>
                      <a:r>
                        <a:rPr lang="en-US" baseline="0" dirty="0"/>
                        <a:t> and maximum values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1003">
                <a:tc>
                  <a:txBody>
                    <a:bodyPr/>
                    <a:lstStyle/>
                    <a:p>
                      <a:r>
                        <a:rPr lang="en-US" dirty="0"/>
                        <a:t>mean, median, mode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Arithmetic average, median and mode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var</a:t>
                      </a:r>
                      <a:r>
                        <a:rPr lang="en-US" dirty="0"/>
                        <a:t>, </a:t>
                      </a:r>
                      <a:r>
                        <a:rPr lang="en-US" dirty="0" err="1"/>
                        <a:t>std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Variance and standard deviation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2803">
                <a:tc>
                  <a:txBody>
                    <a:bodyPr/>
                    <a:lstStyle/>
                    <a:p>
                      <a:r>
                        <a:rPr lang="en-US" dirty="0" err="1"/>
                        <a:t>sem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Standard error of mean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/>
                        <a:t>skew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Sample skewness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1503">
                <a:tc>
                  <a:txBody>
                    <a:bodyPr/>
                    <a:lstStyle/>
                    <a:p>
                      <a:r>
                        <a:rPr lang="en-US" dirty="0" err="1"/>
                        <a:t>kurt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kurtosis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53875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highlight>
                  <a:srgbClr val="FFFF00"/>
                </a:highlight>
              </a:rPr>
              <a:t>Graphics to explore the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41</a:t>
            </a:fld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91089" y="3993925"/>
            <a:ext cx="104181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To show graphs within Python notebook include inline directive: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-77533" y="4893603"/>
            <a:ext cx="10846184" cy="36933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/>
              <a:t>         </a:t>
            </a:r>
            <a:r>
              <a:rPr lang="en-US" sz="1600" dirty="0">
                <a:solidFill>
                  <a:schemeClr val="accent5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In [ ]: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68357" y="4893603"/>
            <a:ext cx="10653925" cy="338554"/>
          </a:xfrm>
          <a:prstGeom prst="rect">
            <a:avLst/>
          </a:prstGeom>
          <a:noFill/>
          <a:ln>
            <a:solidFill>
              <a:schemeClr val="bg2">
                <a:lumMod val="9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7030A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%</a:t>
            </a:r>
            <a:r>
              <a:rPr lang="en-US" sz="1600" dirty="0" err="1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matplotlib</a:t>
            </a:r>
            <a:r>
              <a:rPr lang="en-US" sz="1600" dirty="0">
                <a:solidFill>
                  <a:schemeClr val="bg2">
                    <a:lumMod val="2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inline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/>
              <a:t>Seaborn</a:t>
            </a:r>
            <a:r>
              <a:rPr lang="en-US" sz="2400" dirty="0"/>
              <a:t> package is built on </a:t>
            </a:r>
            <a:r>
              <a:rPr lang="en-US" sz="2400" dirty="0" err="1"/>
              <a:t>matplotlib</a:t>
            </a:r>
            <a:r>
              <a:rPr lang="en-US" sz="2400" dirty="0"/>
              <a:t> but provides high level interface for drawing attractive statistical graphics, similar to ggplot2 library in R. It specifically targets statistical data visualization</a:t>
            </a:r>
          </a:p>
          <a:p>
            <a:r>
              <a:rPr lang="en-US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141356210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42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4000170"/>
              </p:ext>
            </p:extLst>
          </p:nvPr>
        </p:nvGraphicFramePr>
        <p:xfrm>
          <a:off x="838200" y="1690688"/>
          <a:ext cx="7730067" cy="4457341"/>
        </p:xfrm>
        <a:graphic>
          <a:graphicData uri="http://schemas.openxmlformats.org/drawingml/2006/table">
            <a:tbl>
              <a:tblPr firstRow="1" bandRow="1">
                <a:tableStyleId>{B301B821-A1FF-4177-AEE7-76D212191A09}</a:tableStyleId>
              </a:tblPr>
              <a:tblGrid>
                <a:gridCol w="15560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740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174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4724">
                <a:tc>
                  <a:txBody>
                    <a:bodyPr/>
                    <a:lstStyle/>
                    <a:p>
                      <a:r>
                        <a:rPr lang="en-US" dirty="0" err="1"/>
                        <a:t>distplot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histogram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4724">
                <a:tc>
                  <a:txBody>
                    <a:bodyPr/>
                    <a:lstStyle/>
                    <a:p>
                      <a:r>
                        <a:rPr lang="en-US" dirty="0" err="1"/>
                        <a:t>barplot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estimate of central tendency for a numeric variable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3232">
                <a:tc>
                  <a:txBody>
                    <a:bodyPr/>
                    <a:lstStyle/>
                    <a:p>
                      <a:r>
                        <a:rPr lang="en-US" dirty="0" err="1"/>
                        <a:t>violinplot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 similar to boxplot, also shows the probability density of the data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jointplot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Scatterplot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regplot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Regression 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42860">
                <a:tc>
                  <a:txBody>
                    <a:bodyPr/>
                    <a:lstStyle/>
                    <a:p>
                      <a:r>
                        <a:rPr lang="en-US" dirty="0" err="1"/>
                        <a:t>pairplot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Pairplot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/>
                        <a:t>boxplot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boxplot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 err="1"/>
                        <a:t>swarmplot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categorical scatterplot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9164">
                <a:tc>
                  <a:txBody>
                    <a:bodyPr/>
                    <a:lstStyle/>
                    <a:p>
                      <a:r>
                        <a:rPr lang="en-US" dirty="0" err="1"/>
                        <a:t>factorplot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General categorical plot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42577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Basic statistical Analysis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41CA95-E0BC-48B5-948A-ECC494EB4D84}" type="slidenum">
              <a:rPr lang="en-US" smtClean="0"/>
              <a:t>43</a:t>
            </a:fld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991089" y="1931399"/>
            <a:ext cx="8817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1089" y="1534678"/>
            <a:ext cx="8817929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statsmodel</a:t>
            </a:r>
            <a:r>
              <a:rPr lang="en-US" dirty="0"/>
              <a:t> and </a:t>
            </a:r>
            <a:r>
              <a:rPr lang="en-US" dirty="0" err="1"/>
              <a:t>scikit</a:t>
            </a:r>
            <a:r>
              <a:rPr lang="en-US" dirty="0"/>
              <a:t>-learn - both have a number of function for statistical analysis</a:t>
            </a:r>
          </a:p>
          <a:p>
            <a:endParaRPr lang="en-US" dirty="0"/>
          </a:p>
          <a:p>
            <a:r>
              <a:rPr lang="en-US" dirty="0"/>
              <a:t>The first one is mostly used for regular analysis using </a:t>
            </a:r>
            <a:r>
              <a:rPr lang="en-US" u="sng" dirty="0"/>
              <a:t>R style formulas</a:t>
            </a:r>
            <a:r>
              <a:rPr lang="en-US" dirty="0"/>
              <a:t>, while   </a:t>
            </a:r>
            <a:r>
              <a:rPr lang="en-US" dirty="0" err="1"/>
              <a:t>scikit</a:t>
            </a:r>
            <a:r>
              <a:rPr lang="en-US" dirty="0"/>
              <a:t>-learn is more tailored for Machine Learning.</a:t>
            </a:r>
          </a:p>
          <a:p>
            <a:endParaRPr lang="en-US" dirty="0"/>
          </a:p>
          <a:p>
            <a:r>
              <a:rPr lang="en-US" dirty="0" err="1"/>
              <a:t>statsmodels</a:t>
            </a:r>
            <a:r>
              <a:rPr lang="en-US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linear regressions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ANOVA tests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hypothesis </a:t>
            </a:r>
            <a:r>
              <a:rPr lang="en-US" dirty="0" err="1"/>
              <a:t>testings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more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scikit</a:t>
            </a:r>
            <a:r>
              <a:rPr lang="en-US" dirty="0"/>
              <a:t>-learn: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kmeans</a:t>
            </a: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support vector machines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random forests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many more ...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See examples in the Tutorial Notebook</a:t>
            </a:r>
          </a:p>
        </p:txBody>
      </p:sp>
    </p:spTree>
    <p:extLst>
      <p:ext uri="{BB962C8B-B14F-4D97-AF65-F5344CB8AC3E}">
        <p14:creationId xmlns:p14="http://schemas.microsoft.com/office/powerpoint/2010/main" val="384374950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2821</Words>
  <Application>Microsoft Office PowerPoint</Application>
  <PresentationFormat>Widescreen</PresentationFormat>
  <Paragraphs>463</Paragraphs>
  <Slides>43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Algerian</vt:lpstr>
      <vt:lpstr>Arial</vt:lpstr>
      <vt:lpstr>Calibri</vt:lpstr>
      <vt:lpstr>Calibri Light</vt:lpstr>
      <vt:lpstr>Courier New</vt:lpstr>
      <vt:lpstr>Exo 2</vt:lpstr>
      <vt:lpstr>Wingdings</vt:lpstr>
      <vt:lpstr>Office Theme</vt:lpstr>
      <vt:lpstr>Python for Data Science &amp;ML</vt:lpstr>
      <vt:lpstr>Course Overview:</vt:lpstr>
      <vt:lpstr>Tutorial Content</vt:lpstr>
      <vt:lpstr>Python Libraries for Data Science/ML</vt:lpstr>
      <vt:lpstr>Python Libraries for Data Science</vt:lpstr>
      <vt:lpstr>Python Libraries for Data Science</vt:lpstr>
      <vt:lpstr>Python Libraries for Data Science</vt:lpstr>
      <vt:lpstr>Python Libraries for Data Science</vt:lpstr>
      <vt:lpstr>Python Libraries for Data Science</vt:lpstr>
      <vt:lpstr>Python Libraries for Data Science</vt:lpstr>
      <vt:lpstr>Loading Python Libraries</vt:lpstr>
      <vt:lpstr>Reading data using pandas</vt:lpstr>
      <vt:lpstr>Exploring data frames</vt:lpstr>
      <vt:lpstr>      Hands-on exercises</vt:lpstr>
      <vt:lpstr>Data Frame data types</vt:lpstr>
      <vt:lpstr>Data Frame data types</vt:lpstr>
      <vt:lpstr>Data Frames attributes</vt:lpstr>
      <vt:lpstr>      Hands-on exercises</vt:lpstr>
      <vt:lpstr>Data Frames methods</vt:lpstr>
      <vt:lpstr>      Hands-on exercises</vt:lpstr>
      <vt:lpstr>Selecting a column in a Data Frame</vt:lpstr>
      <vt:lpstr>      Hands-on exercises</vt:lpstr>
      <vt:lpstr>Data Frames groupby method</vt:lpstr>
      <vt:lpstr>Data Frames groupby method</vt:lpstr>
      <vt:lpstr>Data Frames groupby method</vt:lpstr>
      <vt:lpstr>Data Frame: filtering</vt:lpstr>
      <vt:lpstr>Data Frames: Slicing</vt:lpstr>
      <vt:lpstr>Data Frames: Slicing</vt:lpstr>
      <vt:lpstr>Data Frames: Selecting rows</vt:lpstr>
      <vt:lpstr>Data Frames: method loc</vt:lpstr>
      <vt:lpstr>Data Frames: method iloc</vt:lpstr>
      <vt:lpstr>Data Frames: method iloc (summary)</vt:lpstr>
      <vt:lpstr>Data Frames: Sorting</vt:lpstr>
      <vt:lpstr>Data Frames: Sorting</vt:lpstr>
      <vt:lpstr>Missing Values</vt:lpstr>
      <vt:lpstr>Missing Values</vt:lpstr>
      <vt:lpstr>Missing Values</vt:lpstr>
      <vt:lpstr>Aggregation Functions in Pandas</vt:lpstr>
      <vt:lpstr>Aggregation Functions in Pandas</vt:lpstr>
      <vt:lpstr>Basic Descriptive Statistics</vt:lpstr>
      <vt:lpstr>Graphics to explore the data</vt:lpstr>
      <vt:lpstr>Graphics</vt:lpstr>
      <vt:lpstr>Basic statistical Analysis</vt:lpstr>
    </vt:vector>
  </TitlesOfParts>
  <Company>Boston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for Data Analysis</dc:title>
  <dc:creator>Oleinik, Katia</dc:creator>
  <cp:lastModifiedBy>Osama Hamed</cp:lastModifiedBy>
  <cp:revision>121</cp:revision>
  <dcterms:created xsi:type="dcterms:W3CDTF">2017-08-29T17:00:17Z</dcterms:created>
  <dcterms:modified xsi:type="dcterms:W3CDTF">2025-11-05T10:04:13Z</dcterms:modified>
</cp:coreProperties>
</file>