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30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6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7" r:id="rId40"/>
    <p:sldId id="296" r:id="rId41"/>
    <p:sldId id="298" r:id="rId42"/>
    <p:sldId id="299" r:id="rId43"/>
    <p:sldId id="30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94660"/>
  </p:normalViewPr>
  <p:slideViewPr>
    <p:cSldViewPr snapToGrid="0">
      <p:cViewPr varScale="1">
        <p:scale>
          <a:sx n="77" d="100"/>
          <a:sy n="77" d="100"/>
        </p:scale>
        <p:origin x="1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BC9B43-6C86-4105-AE8A-26C6AC82A911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5B555-7100-4285-9AD5-4C99DEA7E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377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0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http://rcs.bu.edu/examples/python/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367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E461F-61FE-4D81-8611-0097AAEF7B6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2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46075-E8DF-4742-8C24-79E95A67D237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8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2289-7CF1-4619-A455-B0B4017B374E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FDEA8-FDD0-47AB-9B1E-6412E7EC60D7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965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7D6ED-9C9A-4467-8EC7-039C0829B3DE}" type="datetime1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13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C30DE-6A64-4BEE-8EF3-DF084BEA05C1}" type="datetime1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3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4CAAF-2F01-498F-89B0-DB7EA8EC2343}" type="datetime1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01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0F7E6-27E1-42EF-8BDB-5661503F4C2D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557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16676-04F5-493E-A02A-6B73A4AE7951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79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3E650-B1F9-41B7-A814-30DF5D82434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84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66AA3-ECFC-423D-9D1F-F2B307D4D685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59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5520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69F45-234F-4D98-8AAE-7ED1F80960E9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9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py.org/scipylib/" TargetMode="External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pandas.pydata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scikit-learn.org/stabl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matplotlib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eaborn.pydata.org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doc.python.org/2/library/datetime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for Data Science &amp;ML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More on Pandas</a:t>
            </a:r>
          </a:p>
        </p:txBody>
      </p:sp>
      <p:pic>
        <p:nvPicPr>
          <p:cNvPr id="1026" name="Picture 2" descr="http://www.bu.edu/brand/files/2012/10/master-logo-small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545" y="4806058"/>
            <a:ext cx="790575" cy="361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5155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2193600" y="470467"/>
            <a:ext cx="7804800" cy="126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883800" y="1732067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3579701" y="1745533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1.2 - Numpy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966200" y="2263067"/>
            <a:ext cx="613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6242633" y="1731933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>
                <a:solidFill>
                  <a:schemeClr val="accent1"/>
                </a:solidFill>
                <a:latin typeface="Exo 2"/>
                <a:sym typeface="Exo 2"/>
              </a:rPr>
              <a:t>1.3 – Pandas*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8905568" y="1745667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1.4 - Seaborn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8325033" y="2262933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5645667" y="2263067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883800" y="3184100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2647333" y="3197567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2245800" y="3715100"/>
            <a:ext cx="401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4382884" y="3183967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467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6124849" y="3197700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467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5744884" y="3714967"/>
            <a:ext cx="379965" cy="13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3998771" y="3715100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9614907" y="3156765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467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9234907" y="3694065"/>
            <a:ext cx="380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7493307" y="3728833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883833" y="4649600"/>
            <a:ext cx="1950328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6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834162" y="5177957"/>
            <a:ext cx="438839" cy="264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5186081" y="4660557"/>
            <a:ext cx="2592907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4682696" y="5180601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6102118" y="403015"/>
            <a:ext cx="403367" cy="8005936"/>
          </a:xfrm>
          <a:prstGeom prst="bentConnector3">
            <a:avLst>
              <a:gd name="adj1" fmla="val 50000"/>
            </a:avLst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7866524" y="3183965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467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3312531" y="4663735"/>
            <a:ext cx="1362000" cy="1028447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8286737" y="4649551"/>
            <a:ext cx="2834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7796414" y="5211495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6200000">
            <a:off x="-1970201" y="1945315"/>
            <a:ext cx="5566841" cy="1325563"/>
          </a:xfrm>
        </p:spPr>
        <p:txBody>
          <a:bodyPr/>
          <a:lstStyle/>
          <a:p>
            <a:r>
              <a:rPr lang="en-US" dirty="0"/>
              <a:t>Tutorial Content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</a:t>
            </a:fld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-17720144" y="-6849586"/>
            <a:ext cx="20726400" cy="20726400"/>
          </a:xfrm>
          <a:prstGeom prst="ellipse">
            <a:avLst/>
          </a:prstGeom>
          <a:noFill/>
          <a:ln w="1524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196100" y="467916"/>
            <a:ext cx="908462" cy="865295"/>
          </a:xfrm>
          <a:prstGeom prst="ellipse">
            <a:avLst/>
          </a:prstGeom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161546" y="536694"/>
            <a:ext cx="4198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Overview of Python Libraries for Data Scientists/ML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0600" y="1759635"/>
            <a:ext cx="7034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Reading Data; Selecting and Filtering the Data; Data manipulation, sorting, grouping, rearranging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9368" y="3163230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the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0600" y="4386171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9168" y="5696876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Inferential statistics</a:t>
            </a:r>
          </a:p>
        </p:txBody>
      </p:sp>
      <p:sp>
        <p:nvSpPr>
          <p:cNvPr id="31" name="Oval 30"/>
          <p:cNvSpPr/>
          <p:nvPr/>
        </p:nvSpPr>
        <p:spPr>
          <a:xfrm>
            <a:off x="2457843" y="1679170"/>
            <a:ext cx="908462" cy="865295"/>
          </a:xfrm>
          <a:prstGeom prst="ellipse">
            <a:avLst/>
          </a:prstGeom>
          <a:solidFill>
            <a:schemeClr val="accent4"/>
          </a:solidFill>
          <a:ln w="2222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2514906" y="2920904"/>
            <a:ext cx="908462" cy="865295"/>
          </a:xfrm>
          <a:prstGeom prst="ellipse">
            <a:avLst/>
          </a:prstGeom>
          <a:solidFill>
            <a:schemeClr val="accent3"/>
          </a:solidFill>
          <a:ln w="222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2514906" y="4162638"/>
            <a:ext cx="908462" cy="865295"/>
          </a:xfrm>
          <a:prstGeom prst="ellipse">
            <a:avLst/>
          </a:prstGeom>
          <a:solidFill>
            <a:schemeClr val="accent6"/>
          </a:solidFill>
          <a:ln w="222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277819" y="5410468"/>
            <a:ext cx="908462" cy="865295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11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Science/ML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Many popular Python toolboxes/libraries: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SciPy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SciKit</a:t>
            </a:r>
            <a:r>
              <a:rPr lang="en-US" dirty="0">
                <a:highlight>
                  <a:srgbClr val="FFFF00"/>
                </a:highlight>
              </a:rPr>
              <a:t>-Learn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Visualization libraries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matplotlib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Seaborn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/>
              <a:t>                                                      and many more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38472" y="2846832"/>
            <a:ext cx="2237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All these libraries </a:t>
            </a:r>
            <a:r>
              <a:rPr lang="en-US" i="1" dirty="0">
                <a:highlight>
                  <a:srgbClr val="00FFFF"/>
                </a:highlight>
              </a:rPr>
              <a:t>might</a:t>
            </a:r>
            <a:r>
              <a:rPr lang="en-US" i="1" dirty="0"/>
              <a:t> need to be installed on your notebook!</a:t>
            </a:r>
          </a:p>
        </p:txBody>
      </p:sp>
    </p:spTree>
    <p:extLst>
      <p:ext uri="{BB962C8B-B14F-4D97-AF65-F5344CB8AC3E}">
        <p14:creationId xmlns:p14="http://schemas.microsoft.com/office/powerpoint/2010/main" val="3973478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NumPy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introduces objects for multidimensional arrays and matrices, as well as functions that allow to easily perform advanced mathematical and statistical operations on those objects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vectorization of mathematical operations on arrays and matrices which significantly improves the performance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many other python libraries are 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5</a:t>
            </a:fld>
            <a:endParaRPr lang="en-US"/>
          </a:p>
        </p:txBody>
      </p:sp>
      <p:pic>
        <p:nvPicPr>
          <p:cNvPr id="2050" name="Picture 2" descr="NumP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0823" y="127698"/>
            <a:ext cx="1714500" cy="581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838200" y="5807631"/>
            <a:ext cx="4456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http://www.numpy.org/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collection of algorithms for linear algebra, differential equations, numerical integration, optimization, statistics and more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part of </a:t>
            </a:r>
            <a:r>
              <a:rPr lang="en-US" dirty="0" err="1"/>
              <a:t>SciPy</a:t>
            </a:r>
            <a:r>
              <a:rPr lang="en-US" dirty="0"/>
              <a:t> Stack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r="41257"/>
          <a:stretch/>
        </p:blipFill>
        <p:spPr>
          <a:xfrm>
            <a:off x="10137648" y="130874"/>
            <a:ext cx="1789176" cy="525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https://www.scipy.org/scipylib/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44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Pandas: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adds data structures and tools designed to work with table-like data (similar to Series and Data Frames in R)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tools for data manipulation: reshaping, merging, sorting, slicing, aggregation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allows handling missing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http://pandas.pydata.org/</a:t>
            </a:r>
            <a:endParaRPr lang="en-US" dirty="0"/>
          </a:p>
        </p:txBody>
      </p:sp>
      <p:pic>
        <p:nvPicPr>
          <p:cNvPr id="3074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218" y="80519"/>
            <a:ext cx="3318046" cy="69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332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http://scikit-learn.org/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SciKit</a:t>
            </a:r>
            <a:r>
              <a:rPr lang="en-US" i="1" dirty="0"/>
              <a:t>-Learn: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machine learning algorithms: classification, regression, clustering, model validation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 and </a:t>
            </a:r>
            <a:r>
              <a:rPr lang="en-US" dirty="0" err="1"/>
              <a:t>matplotlib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527" y="149923"/>
            <a:ext cx="1524000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9197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matplotlib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python 2D plotting library which produces publication quality figures in a variety of hardcopy formats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 set of functionalities similar to those of MATLAB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line plots, scatter plots, </a:t>
            </a:r>
            <a:r>
              <a:rPr lang="en-US" dirty="0" err="1"/>
              <a:t>barcharts</a:t>
            </a:r>
            <a:r>
              <a:rPr lang="en-US" dirty="0"/>
              <a:t>, histograms, pie charts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relatively low-level; some effort needed to create advanced visualization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https://matplotlib.org/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5023" y="119373"/>
            <a:ext cx="2183346" cy="49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46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Seaborn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based on </a:t>
            </a:r>
            <a:r>
              <a:rPr lang="en-US" dirty="0" err="1"/>
              <a:t>matplotlib</a:t>
            </a:r>
            <a:r>
              <a:rPr lang="en-US" dirty="0"/>
              <a:t>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high level interface for drawing attractive statistical graphics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Similar (in style) to the popular ggplot2 library in 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https://seaborn.pydata.org/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3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92576" y="1865480"/>
            <a:ext cx="15408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Python Libraries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423276" y="1865480"/>
            <a:ext cx="8491513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#Import Python Libraries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pandas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mpl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seaborn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92516" y="1773836"/>
            <a:ext cx="10160166" cy="1918741"/>
          </a:xfrm>
          <a:prstGeom prst="rect">
            <a:avLst/>
          </a:prstGeom>
          <a:noFill/>
          <a:ln w="95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992516" y="1773836"/>
            <a:ext cx="0" cy="1918741"/>
          </a:xfrm>
          <a:prstGeom prst="line">
            <a:avLst/>
          </a:prstGeom>
          <a:ln w="508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92516" y="4947793"/>
            <a:ext cx="853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Press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Shift+Enter</a:t>
            </a:r>
            <a:r>
              <a:rPr lang="en-US" dirty="0"/>
              <a:t> to execute the </a:t>
            </a:r>
            <a:r>
              <a:rPr lang="en-US" i="1" dirty="0" err="1"/>
              <a:t>jupyter</a:t>
            </a:r>
            <a:r>
              <a:rPr lang="en-US" dirty="0"/>
              <a:t> cell</a:t>
            </a:r>
          </a:p>
        </p:txBody>
      </p:sp>
    </p:spTree>
    <p:extLst>
      <p:ext uri="{BB962C8B-B14F-4D97-AF65-F5344CB8AC3E}">
        <p14:creationId xmlns:p14="http://schemas.microsoft.com/office/powerpoint/2010/main" val="1438978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data using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123110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#Read csv file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)#was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)#now</a:t>
            </a: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9560" y="3538091"/>
            <a:ext cx="114125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a number of pandas commands to read other data formats:</a:t>
            </a:r>
          </a:p>
          <a:p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pd.read_excel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xlsx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sheet_name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='Sheet1',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index_col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=None,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=['NA'])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pd.read_stata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myfile.dta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pd.read_sas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('myfile.sas7bdat')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pd.read_hdf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('myfile.h5','df')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543986" y="2574376"/>
            <a:ext cx="9543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i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</a:rPr>
              <a:t>Note: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above command has many optional arguments to fine-tune the data import process.</a:t>
            </a:r>
          </a:p>
        </p:txBody>
      </p:sp>
    </p:spTree>
    <p:extLst>
      <p:ext uri="{BB962C8B-B14F-4D97-AF65-F5344CB8AC3E}">
        <p14:creationId xmlns:p14="http://schemas.microsoft.com/office/powerpoint/2010/main" val="2565270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data frames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#List first 5 records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df.head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520" y="2797367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Out[3]: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091" y="2797367"/>
            <a:ext cx="3261643" cy="176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2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Try to read the first 10, 20, 50 records;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Can you guess how to view the last few records;              </a:t>
            </a:r>
            <a:r>
              <a:rPr lang="en-US" sz="2400" i="1" dirty="0">
                <a:solidFill>
                  <a:schemeClr val="bg1">
                    <a:lumMod val="50000"/>
                  </a:schemeClr>
                </a:solidFill>
              </a:rPr>
              <a:t>Hint: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59" y="3212891"/>
            <a:ext cx="971733" cy="687049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9627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0045177"/>
              </p:ext>
            </p:extLst>
          </p:nvPr>
        </p:nvGraphicFramePr>
        <p:xfrm>
          <a:off x="838200" y="1690688"/>
          <a:ext cx="9153729" cy="4432090"/>
        </p:xfrm>
        <a:graphic>
          <a:graphicData uri="http://schemas.openxmlformats.org/drawingml/2006/table">
            <a:tbl>
              <a:tblPr/>
              <a:tblGrid>
                <a:gridCol w="3051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2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Pandas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>
                          <a:effectLst/>
                        </a:rPr>
                        <a:t>Native Python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Description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302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object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string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The most general dtype. Will be assigned to your column if column has mixed types (numbers and strings).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int64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int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characters. 64 refers to the memory allocated to hold this character.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009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 with decimals. If a column contains numbers and NaNs(see below), pandas will default to float64, in case your missing value has a decimal.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datetime64, timedelta[ns]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N/A (but see the </a:t>
                      </a:r>
                      <a:r>
                        <a:rPr lang="en-US" sz="1600" u="none" strike="noStrike" dirty="0" err="1">
                          <a:solidFill>
                            <a:srgbClr val="337AB7"/>
                          </a:solidFill>
                          <a:effectLst/>
                          <a:hlinkClick r:id="rId2"/>
                        </a:rPr>
                        <a:t>datetime</a:t>
                      </a:r>
                      <a:r>
                        <a:rPr lang="en-US" sz="1600" dirty="0">
                          <a:effectLst/>
                        </a:rPr>
                        <a:t> module in Python’s standard library)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Values meant to hold time data. Look into these for time series experiments.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04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a particular column type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520" y="2607492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('int64')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527" y="3386978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[5]: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6417" y="3386978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types for all the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df.dtypes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8024" y="431886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648913" y="4360681"/>
            <a:ext cx="32278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             </a:t>
            </a:r>
          </a:p>
          <a:p>
            <a:r>
              <a:rPr lang="en-US" dirty="0"/>
              <a:t>discipline  </a:t>
            </a:r>
          </a:p>
          <a:p>
            <a:r>
              <a:rPr lang="en-US" dirty="0" err="1"/>
              <a:t>phd</a:t>
            </a:r>
            <a:r>
              <a:rPr lang="en-US" dirty="0"/>
              <a:t> </a:t>
            </a:r>
          </a:p>
          <a:p>
            <a:r>
              <a:rPr lang="en-US" dirty="0"/>
              <a:t>service      </a:t>
            </a:r>
          </a:p>
          <a:p>
            <a:r>
              <a:rPr lang="en-US" dirty="0"/>
              <a:t>sex              </a:t>
            </a:r>
          </a:p>
          <a:p>
            <a:r>
              <a:rPr lang="en-US" dirty="0"/>
              <a:t>salary         </a:t>
            </a:r>
          </a:p>
          <a:p>
            <a:r>
              <a:rPr lang="en-US" dirty="0" err="1"/>
              <a:t>dtype</a:t>
            </a:r>
            <a:r>
              <a:rPr lang="en-US" dirty="0"/>
              <a:t>: object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0380" y="4358185"/>
            <a:ext cx="322788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</p:txBody>
      </p:sp>
    </p:spTree>
    <p:extLst>
      <p:ext uri="{BB962C8B-B14F-4D97-AF65-F5344CB8AC3E}">
        <p14:creationId xmlns:p14="http://schemas.microsoft.com/office/powerpoint/2010/main" val="2318503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attributes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38200" y="1690688"/>
            <a:ext cx="7485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 objects have </a:t>
            </a:r>
            <a:r>
              <a:rPr lang="en-US" i="1" dirty="0"/>
              <a:t>attributes</a:t>
            </a:r>
            <a:r>
              <a:rPr lang="en-US" dirty="0"/>
              <a:t> and </a:t>
            </a:r>
            <a:r>
              <a:rPr lang="en-US" i="1" dirty="0"/>
              <a:t>methods</a:t>
            </a:r>
            <a:r>
              <a:rPr lang="en-US" dirty="0"/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775"/>
              </p:ext>
            </p:extLst>
          </p:nvPr>
        </p:nvGraphicFramePr>
        <p:xfrm>
          <a:off x="927725" y="2363450"/>
          <a:ext cx="7930298" cy="3492709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99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09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6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df.attribute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 err="1"/>
                        <a:t>dtypes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types of the columns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/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column names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705">
                <a:tc>
                  <a:txBody>
                    <a:bodyPr/>
                    <a:lstStyle/>
                    <a:p>
                      <a:r>
                        <a:rPr lang="en-US" dirty="0"/>
                        <a:t>axes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row labels</a:t>
                      </a:r>
                      <a:r>
                        <a:rPr lang="en-US" baseline="0" dirty="0"/>
                        <a:t> and column names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698">
                <a:tc>
                  <a:txBody>
                    <a:bodyPr/>
                    <a:lstStyle/>
                    <a:p>
                      <a:r>
                        <a:rPr lang="en-US" dirty="0" err="1"/>
                        <a:t>ndim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dimensions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elements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 tuple</a:t>
                      </a:r>
                      <a:r>
                        <a:rPr lang="en-US" baseline="0" dirty="0"/>
                        <a:t> representing the dimensionality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numpy</a:t>
                      </a:r>
                      <a:r>
                        <a:rPr lang="en-US" baseline="0" dirty="0"/>
                        <a:t> representation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49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records this data frame has;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How many elements are there?     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column names?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types of columns we have in this data frame?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0485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methods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127113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head( [n] ), tail( [n]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first/last</a:t>
                      </a:r>
                      <a:r>
                        <a:rPr lang="en-US" baseline="0" dirty="0"/>
                        <a:t> n rows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 descriptive statistics (for numeric columns only)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max(), 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max/min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/>
                        <a:t>mean(), median()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mean/median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std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sample([n])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random sample of the</a:t>
                      </a:r>
                      <a:r>
                        <a:rPr lang="en-US" baseline="0" dirty="0"/>
                        <a:t> data frame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all the records with 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8200" y="1610741"/>
            <a:ext cx="7485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Unlike attributes, python methods have </a:t>
            </a:r>
            <a:r>
              <a:rPr lang="en-US" i="1" dirty="0"/>
              <a:t>parenthesis.</a:t>
            </a:r>
          </a:p>
          <a:p>
            <a:r>
              <a:rPr lang="en-US" dirty="0"/>
              <a:t>All attributes and methods can be listed with a </a:t>
            </a:r>
            <a:r>
              <a:rPr lang="en-US" i="1" dirty="0" err="1"/>
              <a:t>dir</a:t>
            </a:r>
            <a:r>
              <a:rPr lang="en-US" i="1" dirty="0"/>
              <a:t>() </a:t>
            </a:r>
            <a:r>
              <a:rPr lang="en-US" dirty="0"/>
              <a:t>function: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4986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Give the summary for the numeric columns in the dataset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standard deviation for all numeric columns;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mean values of the first 50 records in the dataset?   </a:t>
            </a:r>
            <a:r>
              <a:rPr lang="en-US" sz="2400" b="1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Hint: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use head() method to subset the first 50 records and then calculate the mean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6851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a column in a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Method 1</a:t>
            </a:r>
            <a:r>
              <a:rPr lang="en-US" i="1" dirty="0"/>
              <a:t>:   </a:t>
            </a:r>
            <a:r>
              <a:rPr lang="en-US" dirty="0"/>
              <a:t>Subset the data frame using column name: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</a:t>
            </a:r>
            <a:r>
              <a:rPr lang="en-US" dirty="0"/>
              <a:t>['sex']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Method 2</a:t>
            </a:r>
            <a:r>
              <a:rPr lang="en-US" dirty="0"/>
              <a:t>:   Use the column name as an attribute: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df.sex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there is an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attribute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rank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 for pandas data frames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so to select a column with a name "rank" we should use method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867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basic statistics for the </a:t>
            </a:r>
            <a:r>
              <a:rPr lang="en-US" sz="2400" i="1" dirty="0"/>
              <a:t>salary</a:t>
            </a:r>
            <a:r>
              <a:rPr lang="en-US" sz="2400" dirty="0"/>
              <a:t> column;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values in the </a:t>
            </a:r>
            <a:r>
              <a:rPr lang="en-US" sz="2400" i="1" dirty="0"/>
              <a:t>salary</a:t>
            </a:r>
            <a:r>
              <a:rPr lang="en-US" sz="2400" dirty="0"/>
              <a:t> column (use </a:t>
            </a:r>
            <a:r>
              <a:rPr lang="en-US" sz="2400" i="1" dirty="0"/>
              <a:t>count</a:t>
            </a:r>
            <a:r>
              <a:rPr lang="en-US" sz="2400" dirty="0"/>
              <a:t> method);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average salary;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51018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Data Frames </a:t>
            </a:r>
            <a:r>
              <a:rPr lang="en-US" b="1" i="1" dirty="0" err="1">
                <a:highlight>
                  <a:srgbClr val="FFFF00"/>
                </a:highlight>
                <a:latin typeface="Algerian" panose="04020705040A02060702" pitchFamily="82" charset="0"/>
              </a:rPr>
              <a:t>groupby</a:t>
            </a:r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23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1361272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Using "group by" method we can: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Split the data into groups based on some criteria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Calculate statistics (or apply a function) to each group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Similar to </a:t>
            </a:r>
            <a:r>
              <a:rPr lang="en-US" sz="2400" dirty="0" err="1"/>
              <a:t>dplyr</a:t>
            </a:r>
            <a:r>
              <a:rPr lang="en-US" sz="2400" dirty="0"/>
              <a:t>() function in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201" y="356258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091" y="356258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#Group data using rank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354" y="440335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1244" y="440335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value for each numeric column per each group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df_rank.mean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1244" y="5244117"/>
            <a:ext cx="3185436" cy="15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417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24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866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Once </a:t>
            </a:r>
            <a:r>
              <a:rPr lang="en-US" sz="2400" dirty="0" err="1"/>
              <a:t>groupby</a:t>
            </a:r>
            <a:r>
              <a:rPr lang="en-US" sz="2400" dirty="0"/>
              <a:t> object is create we can calculate various statistics for each group: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324408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244085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8913" y="5935512"/>
            <a:ext cx="102177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If single brackets are used to specify the column (e.g. salary), then the output is Pandas Series object. When double brackets are used the output is a Data Frame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058122"/>
            <a:ext cx="1928027" cy="14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38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25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i="1" dirty="0" err="1"/>
              <a:t>groupby</a:t>
            </a:r>
            <a:r>
              <a:rPr lang="en-US" sz="2400" dirty="0"/>
              <a:t> performance notes:</a:t>
            </a:r>
          </a:p>
          <a:p>
            <a:pPr lvl="1"/>
            <a:r>
              <a:rPr lang="en-US" sz="2400" dirty="0"/>
              <a:t>- no grouping/splitting occurs until it's needed. Creating the </a:t>
            </a:r>
            <a:r>
              <a:rPr lang="en-US" sz="2400" i="1" dirty="0" err="1"/>
              <a:t>groupby</a:t>
            </a:r>
            <a:r>
              <a:rPr lang="en-US" sz="2400" dirty="0"/>
              <a:t> object only verifies that you have passed a valid mapping</a:t>
            </a:r>
          </a:p>
          <a:p>
            <a:pPr lvl="1"/>
            <a:r>
              <a:rPr lang="en-US" sz="2400" dirty="0"/>
              <a:t>- by default the group keys are sorted during the </a:t>
            </a:r>
            <a:r>
              <a:rPr lang="en-US" sz="2400" i="1" dirty="0" err="1"/>
              <a:t>groupby</a:t>
            </a:r>
            <a:r>
              <a:rPr lang="en-US" sz="2400" dirty="0"/>
              <a:t> operation. You may want to pass sort=False for potential speedup: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4867404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4867404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'rank']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sort=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</p:spTree>
    <p:extLst>
      <p:ext uri="{BB962C8B-B14F-4D97-AF65-F5344CB8AC3E}">
        <p14:creationId xmlns:p14="http://schemas.microsoft.com/office/powerpoint/2010/main" val="2525210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Frame: filtering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26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subset the data we can apply Boolean indexing. This indexing is commonly known as a filter.  For example if we want to subset the rows in which the salary value is greater than $120K: 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342306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42306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120000 ]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731" y="588225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621" y="588225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only those rows that contain female professors: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'sex']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'Female'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1267" y="4296216"/>
            <a:ext cx="104181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Any Boolean operator can be used to subset the data: </a:t>
            </a:r>
          </a:p>
          <a:p>
            <a:r>
              <a:rPr lang="en-US" sz="2400" dirty="0"/>
              <a:t>&gt;   greater;     &gt;= greater or equal;</a:t>
            </a:r>
          </a:p>
          <a:p>
            <a:r>
              <a:rPr lang="en-US" sz="2400" dirty="0"/>
              <a:t>&lt;   less;           &lt;= less or equal;</a:t>
            </a:r>
          </a:p>
          <a:p>
            <a:r>
              <a:rPr lang="en-US" sz="2400" dirty="0"/>
              <a:t>== equal;        != not equal;  </a:t>
            </a:r>
          </a:p>
        </p:txBody>
      </p:sp>
    </p:spTree>
    <p:extLst>
      <p:ext uri="{BB962C8B-B14F-4D97-AF65-F5344CB8AC3E}">
        <p14:creationId xmlns:p14="http://schemas.microsoft.com/office/powerpoint/2010/main" val="2706167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27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ways to subset the Data Frame: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rows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 subset of rows and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lvl="1"/>
            <a:r>
              <a:rPr lang="en-US" sz="2400" dirty="0"/>
              <a:t>Rows and columns can be selected by their position or label </a:t>
            </a:r>
          </a:p>
        </p:txBody>
      </p:sp>
    </p:spTree>
    <p:extLst>
      <p:ext uri="{BB962C8B-B14F-4D97-AF65-F5344CB8AC3E}">
        <p14:creationId xmlns:p14="http://schemas.microsoft.com/office/powerpoint/2010/main" val="3925203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28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selecting one column, it is possible to use single set of brackets, but the resulting object will be  a Series (</a:t>
            </a:r>
            <a:r>
              <a:rPr lang="en-US" sz="2400" dirty="0">
                <a:highlight>
                  <a:srgbClr val="FFFF00"/>
                </a:highlight>
              </a:rPr>
              <a:t>not a </a:t>
            </a:r>
            <a:r>
              <a:rPr lang="en-US" sz="2400" dirty="0" err="1">
                <a:highlight>
                  <a:srgbClr val="FFFF00"/>
                </a:highlight>
              </a:rPr>
              <a:t>DataFrame</a:t>
            </a:r>
            <a:r>
              <a:rPr lang="en-US" sz="2400" dirty="0"/>
              <a:t>):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we need to select more than one column and/or make the output to be a </a:t>
            </a:r>
            <a:r>
              <a:rPr lang="en-US" sz="2400" dirty="0" err="1"/>
              <a:t>DataFrame</a:t>
            </a:r>
            <a:r>
              <a:rPr lang="en-US" sz="2400" dirty="0"/>
              <a:t>, we should use double brackets: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400" y="498888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2290" y="498888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</p:spTree>
    <p:extLst>
      <p:ext uri="{BB962C8B-B14F-4D97-AF65-F5344CB8AC3E}">
        <p14:creationId xmlns:p14="http://schemas.microsoft.com/office/powerpoint/2010/main" val="190869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Selecting 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29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we can specify the range using ":"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position: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Notice that the first row has a position 0, and the last value in the range is omitted:</a:t>
            </a:r>
          </a:p>
          <a:p>
            <a:r>
              <a:rPr lang="en-US" sz="2400" dirty="0"/>
              <a:t>So for 0:10 range the first 10 rows are returned with the positions starting with 0 and ending with 9</a:t>
            </a:r>
          </a:p>
        </p:txBody>
      </p:sp>
    </p:spTree>
    <p:extLst>
      <p:ext uri="{BB962C8B-B14F-4D97-AF65-F5344CB8AC3E}">
        <p14:creationId xmlns:p14="http://schemas.microsoft.com/office/powerpoint/2010/main" val="11100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30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using their labels we can use method </a:t>
            </a:r>
            <a:r>
              <a:rPr lang="en-US" sz="2400" dirty="0" err="1"/>
              <a:t>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rank','sex','salary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693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476" y="3565667"/>
            <a:ext cx="2286319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466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31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 and/or columns, using their positions we can use method </a:t>
            </a:r>
            <a:r>
              <a:rPr lang="en-US" sz="2400" dirty="0" err="1"/>
              <a:t>iloc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0, 3, 4, 5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38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3612849"/>
            <a:ext cx="2400508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65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r>
              <a:rPr lang="en-US" dirty="0"/>
              <a:t> (summary)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32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8200" y="1797118"/>
            <a:ext cx="10268267" cy="1200329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row of a data frame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#(i+1)</a:t>
            </a:r>
            <a:r>
              <a:rPr lang="en-US" i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row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4735" y="3269170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column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column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4735" y="4588817"/>
            <a:ext cx="10268267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0:7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7 rows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1:3,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#Second through third rows and 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1,3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6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rows and 2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4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columns</a:t>
            </a:r>
          </a:p>
          <a:p>
            <a:endParaRPr lang="en-US" i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444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by a value in the column. By default the sorting will occur in ascending order and a new data frame is return.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023" y="31479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8913" y="3147936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new data frame from the original sorted by the column Salary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693" y="42728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378943"/>
            <a:ext cx="3566469" cy="1661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0497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using 2 or more columns: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77533" y="256604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566042"/>
            <a:ext cx="10653925" cy="615553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'salary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'], ascending = 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48863" y="369098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357" y="3578891"/>
            <a:ext cx="3642676" cy="310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247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Missing values are marked as </a:t>
            </a:r>
            <a:r>
              <a:rPr lang="en-US" sz="2400" dirty="0" err="1"/>
              <a:t>NaN</a:t>
            </a:r>
            <a:endParaRPr lang="en-US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327049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a dataset with missing values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data_analysis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/flights.csv"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-91389" y="323799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4501" y="3237992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Select the rows that have at least one missing value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flights.isnull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().any(axis=1)].head()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-80036" y="3992320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01" y="4079954"/>
            <a:ext cx="8740897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02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methods to deal with missing values in the data frame: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67797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missing observations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observations where all cells is 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(axis=1, 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column if all the values are</a:t>
                      </a:r>
                      <a:r>
                        <a:rPr lang="en-US" baseline="0" dirty="0"/>
                        <a:t> missing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(thresh =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rows that contain less than 5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fillna</a:t>
                      </a:r>
                      <a:r>
                        <a:rPr lang="en-US" dirty="0"/>
                        <a:t>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Replace missing values with zeros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isnull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if the value is missing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notnull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for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206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When summing the data, missing values will be treated as zero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If all values are missing, the sum will be equal to </a:t>
            </a:r>
            <a:r>
              <a:rPr lang="en-US" sz="2400" dirty="0" err="1"/>
              <a:t>NaN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cumsum</a:t>
            </a:r>
            <a:r>
              <a:rPr lang="en-US" sz="2400" dirty="0"/>
              <a:t>() and </a:t>
            </a:r>
            <a:r>
              <a:rPr lang="en-US" sz="2400" dirty="0" err="1"/>
              <a:t>cumprod</a:t>
            </a:r>
            <a:r>
              <a:rPr lang="en-US" sz="2400" dirty="0"/>
              <a:t>() methods ignore missing values but preserve them in the resulting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values in </a:t>
            </a:r>
            <a:r>
              <a:rPr lang="en-US" sz="2400" dirty="0" err="1"/>
              <a:t>GroupBy</a:t>
            </a:r>
            <a:r>
              <a:rPr lang="en-US" sz="2400" dirty="0"/>
              <a:t> method are excluded (just like in 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Many descriptive statistics methods have </a:t>
            </a:r>
            <a:r>
              <a:rPr lang="en-US" sz="2400" i="1" dirty="0" err="1"/>
              <a:t>skipna</a:t>
            </a:r>
            <a:r>
              <a:rPr lang="en-US" sz="2400" i="1" dirty="0"/>
              <a:t> </a:t>
            </a:r>
            <a:r>
              <a:rPr lang="en-US" sz="2400" dirty="0"/>
              <a:t>option to control if missing data should be excluded . This value is set to </a:t>
            </a:r>
            <a:r>
              <a:rPr lang="en-US" sz="2400" i="1" dirty="0"/>
              <a:t>True </a:t>
            </a:r>
            <a:r>
              <a:rPr lang="en-US" sz="2400" dirty="0"/>
              <a:t>by default (unlike R)</a:t>
            </a:r>
          </a:p>
        </p:txBody>
      </p:sp>
    </p:spTree>
    <p:extLst>
      <p:ext uri="{BB962C8B-B14F-4D97-AF65-F5344CB8AC3E}">
        <p14:creationId xmlns:p14="http://schemas.microsoft.com/office/powerpoint/2010/main" val="36152513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Aggregation - computing a summary statistic about each group, i.e.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sums or means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sizes/counts</a:t>
            </a:r>
          </a:p>
          <a:p>
            <a:pPr lvl="1"/>
            <a:endParaRPr lang="en-US" sz="2400" dirty="0"/>
          </a:p>
          <a:p>
            <a:r>
              <a:rPr lang="en-US" sz="2400" dirty="0"/>
              <a:t>Common aggregation functions:</a:t>
            </a:r>
          </a:p>
          <a:p>
            <a:endParaRPr lang="en-US" sz="2400" dirty="0"/>
          </a:p>
          <a:p>
            <a:pPr lvl="1"/>
            <a:r>
              <a:rPr lang="en-US" sz="2400" dirty="0"/>
              <a:t>min, max</a:t>
            </a:r>
          </a:p>
          <a:p>
            <a:pPr lvl="1"/>
            <a:r>
              <a:rPr lang="en-US" sz="2400" dirty="0"/>
              <a:t>count, sum, prod</a:t>
            </a:r>
          </a:p>
          <a:p>
            <a:pPr lvl="1"/>
            <a:r>
              <a:rPr lang="en-US" sz="2400" dirty="0"/>
              <a:t>mean, median, mode, mad</a:t>
            </a:r>
          </a:p>
          <a:p>
            <a:pPr lvl="1"/>
            <a:r>
              <a:rPr lang="en-US" sz="2400" dirty="0" err="1"/>
              <a:t>std</a:t>
            </a:r>
            <a:r>
              <a:rPr lang="en-US" sz="2400" dirty="0"/>
              <a:t>, </a:t>
            </a:r>
            <a:r>
              <a:rPr lang="en-US" sz="2400" dirty="0" err="1"/>
              <a:t>var</a:t>
            </a:r>
            <a:endParaRPr lang="en-US" sz="2400" dirty="0"/>
          </a:p>
          <a:p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72796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agg</a:t>
            </a:r>
            <a:r>
              <a:rPr lang="en-US" sz="2400" dirty="0"/>
              <a:t>() method are useful when multiple statistics are computed per column:</a:t>
            </a:r>
          </a:p>
          <a:p>
            <a:pPr lvl="1"/>
            <a:endParaRPr 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2327049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'dep_delay'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arr_delay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]].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agg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'mean'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'max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80036" y="3046744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898" y="3034395"/>
            <a:ext cx="2534004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93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Descriptive 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40</a:t>
            </a:fld>
            <a:endParaRPr 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612433"/>
              </p:ext>
            </p:extLst>
          </p:nvPr>
        </p:nvGraphicFramePr>
        <p:xfrm>
          <a:off x="838200" y="1690688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Basic statistics (count, mean, </a:t>
                      </a:r>
                      <a:r>
                        <a:rPr lang="en-US" dirty="0" err="1"/>
                        <a:t>std</a:t>
                      </a:r>
                      <a:r>
                        <a:rPr lang="en-US" dirty="0"/>
                        <a:t>, min, quantiles, max)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min, 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r>
                        <a:rPr lang="en-US" baseline="0" dirty="0"/>
                        <a:t> and maximum values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mean, median,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Arithmetic average, median and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var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std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Variance and 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error of mean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skew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 skewness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kurt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kurtosis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3875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Graphics to explore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3993925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show graphs within Python notebook include inline directive: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77533" y="4893603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4893603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inline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Seaborn</a:t>
            </a:r>
            <a:r>
              <a:rPr lang="en-US" sz="2400" dirty="0"/>
              <a:t> package is built on </a:t>
            </a:r>
            <a:r>
              <a:rPr lang="en-US" sz="2400" dirty="0" err="1"/>
              <a:t>matplotlib</a:t>
            </a:r>
            <a:r>
              <a:rPr lang="en-US" sz="2400" dirty="0"/>
              <a:t> but provides high level interface for drawing attractive statistical graphics, similar to ggplot2 library in R. It specifically targets statistical data visualization</a:t>
            </a:r>
          </a:p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13562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000170"/>
              </p:ext>
            </p:extLst>
          </p:nvPr>
        </p:nvGraphicFramePr>
        <p:xfrm>
          <a:off x="838200" y="1690688"/>
          <a:ext cx="7730067" cy="4457341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556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4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7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distplot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histogram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barplot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estimate of central tendency for a numeric variable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232">
                <a:tc>
                  <a:txBody>
                    <a:bodyPr/>
                    <a:lstStyle/>
                    <a:p>
                      <a:r>
                        <a:rPr lang="en-US" dirty="0" err="1"/>
                        <a:t>violinplot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similar to boxplot, also shows the probability density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jointplot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regplot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Regression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swarmplot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categorical 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factorplot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categorical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425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43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089" y="1534678"/>
            <a:ext cx="881792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statsmodel</a:t>
            </a:r>
            <a:r>
              <a:rPr lang="en-US" dirty="0"/>
              <a:t> and </a:t>
            </a:r>
            <a:r>
              <a:rPr lang="en-US" dirty="0" err="1"/>
              <a:t>scikit</a:t>
            </a:r>
            <a:r>
              <a:rPr lang="en-US" dirty="0"/>
              <a:t>-learn - both have a number of function for statistical analysis</a:t>
            </a:r>
          </a:p>
          <a:p>
            <a:endParaRPr lang="en-US" dirty="0"/>
          </a:p>
          <a:p>
            <a:r>
              <a:rPr lang="en-US" dirty="0"/>
              <a:t>The first one is mostly used for regular analysis using </a:t>
            </a:r>
            <a:r>
              <a:rPr lang="en-US" u="sng" dirty="0"/>
              <a:t>R style formulas</a:t>
            </a:r>
            <a:r>
              <a:rPr lang="en-US" dirty="0"/>
              <a:t>, while   </a:t>
            </a:r>
            <a:r>
              <a:rPr lang="en-US" dirty="0" err="1"/>
              <a:t>scikit</a:t>
            </a:r>
            <a:r>
              <a:rPr lang="en-US" dirty="0"/>
              <a:t>-learn is more tailored for Machine Learning.</a:t>
            </a:r>
          </a:p>
          <a:p>
            <a:endParaRPr lang="en-US" dirty="0"/>
          </a:p>
          <a:p>
            <a:r>
              <a:rPr lang="en-US" dirty="0" err="1"/>
              <a:t>statsmodels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linear regressions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ANOVA tests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hypothesis </a:t>
            </a:r>
            <a:r>
              <a:rPr lang="en-US" dirty="0" err="1"/>
              <a:t>testings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scikit</a:t>
            </a:r>
            <a:r>
              <a:rPr lang="en-US" dirty="0"/>
              <a:t>-learn: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kmeans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support vector machines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See examples in the Tutorial Notebook</a:t>
            </a:r>
          </a:p>
        </p:txBody>
      </p:sp>
    </p:spTree>
    <p:extLst>
      <p:ext uri="{BB962C8B-B14F-4D97-AF65-F5344CB8AC3E}">
        <p14:creationId xmlns:p14="http://schemas.microsoft.com/office/powerpoint/2010/main" val="3843749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2807</Words>
  <Application>Microsoft Office PowerPoint</Application>
  <PresentationFormat>Widescreen</PresentationFormat>
  <Paragraphs>462</Paragraphs>
  <Slides>43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Algerian</vt:lpstr>
      <vt:lpstr>Arial</vt:lpstr>
      <vt:lpstr>Calibri</vt:lpstr>
      <vt:lpstr>Calibri Light</vt:lpstr>
      <vt:lpstr>Courier New</vt:lpstr>
      <vt:lpstr>Exo 2</vt:lpstr>
      <vt:lpstr>Wingdings</vt:lpstr>
      <vt:lpstr>Office Theme</vt:lpstr>
      <vt:lpstr>Python for Data Science &amp;ML</vt:lpstr>
      <vt:lpstr>Course Overview:</vt:lpstr>
      <vt:lpstr>Tutorial Content</vt:lpstr>
      <vt:lpstr>Python Libraries for Data Science/ML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Loading Python Libraries</vt:lpstr>
      <vt:lpstr>Reading data using pandas</vt:lpstr>
      <vt:lpstr>Exploring data frames</vt:lpstr>
      <vt:lpstr>      Hands-on exercises</vt:lpstr>
      <vt:lpstr>Data Frame data types</vt:lpstr>
      <vt:lpstr>Data Frame data types</vt:lpstr>
      <vt:lpstr>Data Frames attributes</vt:lpstr>
      <vt:lpstr>      Hands-on exercises</vt:lpstr>
      <vt:lpstr>Data Frames methods</vt:lpstr>
      <vt:lpstr>      Hands-on exercises</vt:lpstr>
      <vt:lpstr>Selecting a column in a Data Frame</vt:lpstr>
      <vt:lpstr>      Hands-on exercises</vt:lpstr>
      <vt:lpstr>Data Frames groupby method</vt:lpstr>
      <vt:lpstr>Data Frames groupby method</vt:lpstr>
      <vt:lpstr>Data Frames groupby method</vt:lpstr>
      <vt:lpstr>Data Frame: filtering</vt:lpstr>
      <vt:lpstr>Data Frames: Slicing</vt:lpstr>
      <vt:lpstr>Data Frames: Slicing</vt:lpstr>
      <vt:lpstr>Data Frames: Selecting rows</vt:lpstr>
      <vt:lpstr>Data Frames: method loc</vt:lpstr>
      <vt:lpstr>Data Frames: method iloc</vt:lpstr>
      <vt:lpstr>Data Frames: method iloc (summary)</vt:lpstr>
      <vt:lpstr>Data Frames: Sorting</vt:lpstr>
      <vt:lpstr>Data Frames: Sorting</vt:lpstr>
      <vt:lpstr>Missing Values</vt:lpstr>
      <vt:lpstr>Missing Values</vt:lpstr>
      <vt:lpstr>Missing Values</vt:lpstr>
      <vt:lpstr>Aggregation Functions in Pandas</vt:lpstr>
      <vt:lpstr>Aggregation Functions in Pandas</vt:lpstr>
      <vt:lpstr>Basic Descriptive Statistics</vt:lpstr>
      <vt:lpstr>Graphics to explore the data</vt:lpstr>
      <vt:lpstr>Graphics</vt:lpstr>
      <vt:lpstr>Basic statistical Analysis</vt:lpstr>
    </vt:vector>
  </TitlesOfParts>
  <Company>Boston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Data Analysis</dc:title>
  <dc:creator>Oleinik, Katia</dc:creator>
  <cp:lastModifiedBy>Osama Hamed</cp:lastModifiedBy>
  <cp:revision>119</cp:revision>
  <dcterms:created xsi:type="dcterms:W3CDTF">2017-08-29T17:00:17Z</dcterms:created>
  <dcterms:modified xsi:type="dcterms:W3CDTF">2025-11-05T08:52:20Z</dcterms:modified>
</cp:coreProperties>
</file>