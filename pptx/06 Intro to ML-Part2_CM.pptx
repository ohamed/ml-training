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7" r:id="rId2"/>
  </p:sldMasterIdLst>
  <p:notesMasterIdLst>
    <p:notesMasterId r:id="rId14"/>
  </p:notesMasterIdLst>
  <p:sldIdLst>
    <p:sldId id="321" r:id="rId3"/>
    <p:sldId id="310" r:id="rId4"/>
    <p:sldId id="329" r:id="rId5"/>
    <p:sldId id="318" r:id="rId6"/>
    <p:sldId id="328" r:id="rId7"/>
    <p:sldId id="319" r:id="rId8"/>
    <p:sldId id="320" r:id="rId9"/>
    <p:sldId id="322" r:id="rId10"/>
    <p:sldId id="323" r:id="rId11"/>
    <p:sldId id="325" r:id="rId12"/>
    <p:sldId id="326" r:id="rId13"/>
  </p:sldIdLst>
  <p:sldSz cx="9144000" cy="6858000" type="screen4x3"/>
  <p:notesSz cx="9144000" cy="6858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22" d="100"/>
          <a:sy n="122" d="100"/>
        </p:scale>
        <p:origin x="3306" y="9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4B2A29-96CD-42B0-BDCE-1F1D42C45414}" type="datetimeFigureOut">
              <a:rPr lang="de-DE" smtClean="0"/>
              <a:t>26.11.2025</a:t>
            </a:fld>
            <a:endParaRPr lang="de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857250"/>
            <a:ext cx="30861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67FD71-A802-443B-81BB-E0269ADED34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526794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e2db3e8363_1_2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e2db3e8363_1_2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67FD71-A802-443B-81BB-E0269ADED34F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748484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82FB33-44F6-4BAA-C485-F71CDA6AE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13694D-DE69-5AEB-1DD6-D21F623F36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31E114-6C92-3E19-0AF0-69E33E5EEF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D84EB1-B1D7-1713-95D1-C0410F8AAB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67FD71-A802-443B-81BB-E0269ADED34F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77951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https://medium.com/analytics-vidhya/confusion-matrix-wont-confuse-you-anymore-90424c1bdba9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67FD71-A802-443B-81BB-E0269ADED34F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648726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https://medium.com/analytics-vidhya/confusion-matrix-wont-confuse-you-anymore-90424c1bdba9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67FD71-A802-443B-81BB-E0269ADED34F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64552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https://medium.com/analytics-vidhya/confusion-matrix-wont-confuse-you-anymore-90424c1bdba9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67FD71-A802-443B-81BB-E0269ADED34F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715208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https://medium.com/analytics-vidhya/confusion-matrix-wont-confuse-you-anymore-90424c1bdba9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67FD71-A802-443B-81BB-E0269ADED34F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637472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nxth" TargetMode="External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Relationship Id="rId5" Type="http://schemas.openxmlformats.org/officeDocument/2006/relationships/hyperlink" Target="http://bit.ly/2TtBDfr" TargetMode="External"/><Relationship Id="rId4" Type="http://schemas.openxmlformats.org/officeDocument/2006/relationships/hyperlink" Target="http://bit.ly/2TyoMsr" TargetMode="Externa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23570" y="13207"/>
            <a:ext cx="8896858" cy="3911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1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3840480"/>
            <a:ext cx="64008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11/26/2025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Arial MT"/>
                <a:cs typeface="Arial MT"/>
              </a:defRPr>
            </a:lvl1pPr>
          </a:lstStyle>
          <a:p>
            <a:pPr marL="38100">
              <a:lnSpc>
                <a:spcPts val="1425"/>
              </a:lnSpc>
            </a:pPr>
            <a:fld id="{81D60167-4931-47E6-BA6A-407CBD079E47}" type="slidenum">
              <a:rPr spc="-5" dirty="0"/>
              <a:t>‹Nr.›</a:t>
            </a:fld>
            <a:endParaRPr spc="-5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2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11/26/2025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Arial MT"/>
                <a:cs typeface="Arial MT"/>
              </a:defRPr>
            </a:lvl1pPr>
          </a:lstStyle>
          <a:p>
            <a:pPr marL="38100">
              <a:lnSpc>
                <a:spcPts val="1425"/>
              </a:lnSpc>
            </a:pPr>
            <a:fld id="{81D60167-4931-47E6-BA6A-407CBD079E47}" type="slidenum">
              <a:rPr spc="-5" dirty="0"/>
              <a:t>‹Nr.›</a:t>
            </a:fld>
            <a:endParaRPr spc="-5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11/26/2025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Arial MT"/>
                <a:cs typeface="Arial MT"/>
              </a:defRPr>
            </a:lvl1pPr>
          </a:lstStyle>
          <a:p>
            <a:pPr marL="38100">
              <a:lnSpc>
                <a:spcPts val="1425"/>
              </a:lnSpc>
            </a:pPr>
            <a:fld id="{81D60167-4931-47E6-BA6A-407CBD079E47}" type="slidenum">
              <a:rPr spc="-5" dirty="0"/>
              <a:t>‹Nr.›</a:t>
            </a:fld>
            <a:endParaRPr spc="-5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11/26/2025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Arial MT"/>
                <a:cs typeface="Arial MT"/>
              </a:defRPr>
            </a:lvl1pPr>
          </a:lstStyle>
          <a:p>
            <a:pPr marL="38100">
              <a:lnSpc>
                <a:spcPts val="1425"/>
              </a:lnSpc>
            </a:pPr>
            <a:fld id="{81D60167-4931-47E6-BA6A-407CBD079E47}" type="slidenum">
              <a:rPr spc="-5" dirty="0"/>
              <a:t>‹Nr.›</a:t>
            </a:fld>
            <a:endParaRPr spc="-5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11/26/2025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Arial MT"/>
                <a:cs typeface="Arial MT"/>
              </a:defRPr>
            </a:lvl1pPr>
          </a:lstStyle>
          <a:p>
            <a:pPr marL="38100">
              <a:lnSpc>
                <a:spcPts val="1425"/>
              </a:lnSpc>
            </a:pPr>
            <a:fld id="{81D60167-4931-47E6-BA6A-407CBD079E47}" type="slidenum">
              <a:rPr spc="-5" dirty="0"/>
              <a:t>‹Nr.›</a:t>
            </a:fld>
            <a:endParaRPr spc="-5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pening slide">
  <p:cSld name="Opening slid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35981" y="1858265"/>
            <a:ext cx="6886800" cy="237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60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3670681" y="3911363"/>
            <a:ext cx="4352100" cy="956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143182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ctrTitle"/>
          </p:nvPr>
        </p:nvSpPr>
        <p:spPr>
          <a:xfrm>
            <a:off x="3385875" y="2798200"/>
            <a:ext cx="2372400" cy="126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0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ctrTitle" idx="2"/>
          </p:nvPr>
        </p:nvSpPr>
        <p:spPr>
          <a:xfrm>
            <a:off x="390296" y="268871"/>
            <a:ext cx="1974300" cy="77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ubTitle" idx="1"/>
          </p:nvPr>
        </p:nvSpPr>
        <p:spPr>
          <a:xfrm>
            <a:off x="690446" y="875304"/>
            <a:ext cx="1674300" cy="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title" idx="3" hasCustomPrompt="1"/>
          </p:nvPr>
        </p:nvSpPr>
        <p:spPr>
          <a:xfrm>
            <a:off x="2118448" y="725931"/>
            <a:ext cx="1107600" cy="77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6" name="Google Shape;16;p3"/>
          <p:cNvSpPr txBox="1">
            <a:spLocks noGrp="1"/>
          </p:cNvSpPr>
          <p:nvPr>
            <p:ph type="title" idx="4" hasCustomPrompt="1"/>
          </p:nvPr>
        </p:nvSpPr>
        <p:spPr>
          <a:xfrm>
            <a:off x="2105406" y="2021077"/>
            <a:ext cx="1107600" cy="77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7" name="Google Shape;17;p3"/>
          <p:cNvSpPr txBox="1">
            <a:spLocks noGrp="1"/>
          </p:cNvSpPr>
          <p:nvPr>
            <p:ph type="title" idx="5" hasCustomPrompt="1"/>
          </p:nvPr>
        </p:nvSpPr>
        <p:spPr>
          <a:xfrm>
            <a:off x="2105406" y="3316224"/>
            <a:ext cx="1107600" cy="77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8" name="Google Shape;18;p3"/>
          <p:cNvSpPr txBox="1">
            <a:spLocks noGrp="1"/>
          </p:cNvSpPr>
          <p:nvPr>
            <p:ph type="title" idx="6" hasCustomPrompt="1"/>
          </p:nvPr>
        </p:nvSpPr>
        <p:spPr>
          <a:xfrm>
            <a:off x="5922008" y="2790184"/>
            <a:ext cx="1072200" cy="77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9" name="Google Shape;19;p3"/>
          <p:cNvSpPr txBox="1">
            <a:spLocks noGrp="1"/>
          </p:cNvSpPr>
          <p:nvPr>
            <p:ph type="title" idx="7" hasCustomPrompt="1"/>
          </p:nvPr>
        </p:nvSpPr>
        <p:spPr>
          <a:xfrm>
            <a:off x="5922008" y="4149781"/>
            <a:ext cx="1072200" cy="77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20" name="Google Shape;20;p3"/>
          <p:cNvSpPr txBox="1">
            <a:spLocks noGrp="1"/>
          </p:cNvSpPr>
          <p:nvPr>
            <p:ph type="title" idx="8" hasCustomPrompt="1"/>
          </p:nvPr>
        </p:nvSpPr>
        <p:spPr>
          <a:xfrm>
            <a:off x="5922008" y="5509377"/>
            <a:ext cx="1072200" cy="77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21" name="Google Shape;21;p3"/>
          <p:cNvSpPr txBox="1">
            <a:spLocks noGrp="1"/>
          </p:cNvSpPr>
          <p:nvPr>
            <p:ph type="ctrTitle" idx="9"/>
          </p:nvPr>
        </p:nvSpPr>
        <p:spPr>
          <a:xfrm>
            <a:off x="390296" y="1557139"/>
            <a:ext cx="1974300" cy="77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subTitle" idx="13"/>
          </p:nvPr>
        </p:nvSpPr>
        <p:spPr>
          <a:xfrm>
            <a:off x="690446" y="2163569"/>
            <a:ext cx="1674300" cy="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ctrTitle" idx="14"/>
          </p:nvPr>
        </p:nvSpPr>
        <p:spPr>
          <a:xfrm>
            <a:off x="390296" y="2855115"/>
            <a:ext cx="1974300" cy="77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subTitle" idx="15"/>
          </p:nvPr>
        </p:nvSpPr>
        <p:spPr>
          <a:xfrm>
            <a:off x="690446" y="3461541"/>
            <a:ext cx="1674300" cy="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ctrTitle" idx="16"/>
          </p:nvPr>
        </p:nvSpPr>
        <p:spPr>
          <a:xfrm>
            <a:off x="6811558" y="2366907"/>
            <a:ext cx="1974300" cy="77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ubTitle" idx="17"/>
          </p:nvPr>
        </p:nvSpPr>
        <p:spPr>
          <a:xfrm>
            <a:off x="6811558" y="2973340"/>
            <a:ext cx="1674300" cy="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ctrTitle" idx="18"/>
          </p:nvPr>
        </p:nvSpPr>
        <p:spPr>
          <a:xfrm>
            <a:off x="6811558" y="3732127"/>
            <a:ext cx="1974300" cy="77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subTitle" idx="19"/>
          </p:nvPr>
        </p:nvSpPr>
        <p:spPr>
          <a:xfrm>
            <a:off x="6811558" y="4338556"/>
            <a:ext cx="1674300" cy="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29" name="Google Shape;29;p3"/>
          <p:cNvSpPr txBox="1">
            <a:spLocks noGrp="1"/>
          </p:cNvSpPr>
          <p:nvPr>
            <p:ph type="ctrTitle" idx="20"/>
          </p:nvPr>
        </p:nvSpPr>
        <p:spPr>
          <a:xfrm>
            <a:off x="6811558" y="5081804"/>
            <a:ext cx="1974300" cy="77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30" name="Google Shape;30;p3"/>
          <p:cNvSpPr txBox="1">
            <a:spLocks noGrp="1"/>
          </p:cNvSpPr>
          <p:nvPr>
            <p:ph type="subTitle" idx="21"/>
          </p:nvPr>
        </p:nvSpPr>
        <p:spPr>
          <a:xfrm>
            <a:off x="6811558" y="5688231"/>
            <a:ext cx="1674300" cy="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569724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4"/>
          <p:cNvSpPr txBox="1">
            <a:spLocks noGrp="1"/>
          </p:cNvSpPr>
          <p:nvPr>
            <p:ph type="ctrTitle"/>
          </p:nvPr>
        </p:nvSpPr>
        <p:spPr>
          <a:xfrm flipH="1">
            <a:off x="1147650" y="4113533"/>
            <a:ext cx="5005500" cy="136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1147579" y="3098467"/>
            <a:ext cx="29793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9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34" name="Google Shape;34;p4"/>
          <p:cNvSpPr txBox="1">
            <a:spLocks noGrp="1"/>
          </p:cNvSpPr>
          <p:nvPr>
            <p:ph type="subTitle" idx="1"/>
          </p:nvPr>
        </p:nvSpPr>
        <p:spPr>
          <a:xfrm>
            <a:off x="1147575" y="5371945"/>
            <a:ext cx="4224900" cy="7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1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621660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subtitle">
  <p:cSld name="Title + subtitl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>
            <a:spLocks noGrp="1"/>
          </p:cNvSpPr>
          <p:nvPr>
            <p:ph type="ctrTitle"/>
          </p:nvPr>
        </p:nvSpPr>
        <p:spPr>
          <a:xfrm>
            <a:off x="2638350" y="501997"/>
            <a:ext cx="3867300" cy="273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16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16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16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16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16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16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16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16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subTitle" idx="1"/>
          </p:nvPr>
        </p:nvSpPr>
        <p:spPr>
          <a:xfrm>
            <a:off x="2459550" y="3085633"/>
            <a:ext cx="4224900" cy="237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1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451660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Design">
  <p:cSld name="Title + Design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>
            <a:spLocks noGrp="1"/>
          </p:cNvSpPr>
          <p:nvPr>
            <p:ph type="ctrTitle"/>
          </p:nvPr>
        </p:nvSpPr>
        <p:spPr>
          <a:xfrm>
            <a:off x="1964851" y="470467"/>
            <a:ext cx="52143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325534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2">
  <p:cSld name="Section 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ctrTitle"/>
          </p:nvPr>
        </p:nvSpPr>
        <p:spPr>
          <a:xfrm flipH="1">
            <a:off x="2747779" y="3514233"/>
            <a:ext cx="5195700" cy="256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36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4964179" y="3098467"/>
            <a:ext cx="29793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96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43" name="Google Shape;43;p7"/>
          <p:cNvSpPr txBox="1">
            <a:spLocks noGrp="1"/>
          </p:cNvSpPr>
          <p:nvPr>
            <p:ph type="subTitle" idx="1"/>
          </p:nvPr>
        </p:nvSpPr>
        <p:spPr>
          <a:xfrm>
            <a:off x="3718579" y="5373975"/>
            <a:ext cx="4224900" cy="7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1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151943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+ photo">
  <p:cSld name="Text + photo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8"/>
          <p:cNvSpPr txBox="1">
            <a:spLocks noGrp="1"/>
          </p:cNvSpPr>
          <p:nvPr>
            <p:ph type="ctrTitle"/>
          </p:nvPr>
        </p:nvSpPr>
        <p:spPr>
          <a:xfrm>
            <a:off x="1600733" y="1313637"/>
            <a:ext cx="2673600" cy="273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000">
                <a:solidFill>
                  <a:schemeClr val="accent6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000">
                <a:solidFill>
                  <a:schemeClr val="accent6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000">
                <a:solidFill>
                  <a:schemeClr val="accent6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000">
                <a:solidFill>
                  <a:schemeClr val="accent6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000">
                <a:solidFill>
                  <a:schemeClr val="accent6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000">
                <a:solidFill>
                  <a:schemeClr val="accent6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000">
                <a:solidFill>
                  <a:schemeClr val="accent6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0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subTitle" idx="1"/>
          </p:nvPr>
        </p:nvSpPr>
        <p:spPr>
          <a:xfrm>
            <a:off x="1179233" y="4077900"/>
            <a:ext cx="3095100" cy="237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100"/>
              <a:buNone/>
              <a:defRPr sz="1100">
                <a:solidFill>
                  <a:schemeClr val="accent6"/>
                </a:solidFill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ctrTitle" idx="2"/>
          </p:nvPr>
        </p:nvSpPr>
        <p:spPr>
          <a:xfrm>
            <a:off x="1932090" y="470467"/>
            <a:ext cx="52143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9624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">
  <p:cSld name="Number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 txBox="1">
            <a:spLocks noGrp="1"/>
          </p:cNvSpPr>
          <p:nvPr>
            <p:ph type="ctrTitle"/>
          </p:nvPr>
        </p:nvSpPr>
        <p:spPr>
          <a:xfrm>
            <a:off x="1964851" y="470467"/>
            <a:ext cx="52143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title" idx="2" hasCustomPrompt="1"/>
          </p:nvPr>
        </p:nvSpPr>
        <p:spPr>
          <a:xfrm>
            <a:off x="1086651" y="1966833"/>
            <a:ext cx="17952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51" name="Google Shape;51;p9"/>
          <p:cNvSpPr txBox="1">
            <a:spLocks noGrp="1"/>
          </p:cNvSpPr>
          <p:nvPr>
            <p:ph type="subTitle" idx="1"/>
          </p:nvPr>
        </p:nvSpPr>
        <p:spPr>
          <a:xfrm flipH="1">
            <a:off x="3481677" y="2221939"/>
            <a:ext cx="3264900" cy="44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title" idx="3" hasCustomPrompt="1"/>
          </p:nvPr>
        </p:nvSpPr>
        <p:spPr>
          <a:xfrm>
            <a:off x="2298451" y="3300467"/>
            <a:ext cx="17637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53" name="Google Shape;53;p9"/>
          <p:cNvSpPr txBox="1">
            <a:spLocks noGrp="1"/>
          </p:cNvSpPr>
          <p:nvPr>
            <p:ph type="subTitle" idx="4"/>
          </p:nvPr>
        </p:nvSpPr>
        <p:spPr>
          <a:xfrm flipH="1">
            <a:off x="4568051" y="3584567"/>
            <a:ext cx="3264900" cy="44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54" name="Google Shape;54;p9"/>
          <p:cNvSpPr txBox="1">
            <a:spLocks noGrp="1"/>
          </p:cNvSpPr>
          <p:nvPr>
            <p:ph type="title" idx="5" hasCustomPrompt="1"/>
          </p:nvPr>
        </p:nvSpPr>
        <p:spPr>
          <a:xfrm>
            <a:off x="3353176" y="4684833"/>
            <a:ext cx="17952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55" name="Google Shape;55;p9"/>
          <p:cNvSpPr txBox="1">
            <a:spLocks noGrp="1"/>
          </p:cNvSpPr>
          <p:nvPr>
            <p:ph type="subTitle" idx="6"/>
          </p:nvPr>
        </p:nvSpPr>
        <p:spPr>
          <a:xfrm flipH="1">
            <a:off x="5671490" y="4946588"/>
            <a:ext cx="3264900" cy="44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6051925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Columns">
  <p:cSld name="Three Column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 txBox="1">
            <a:spLocks noGrp="1"/>
          </p:cNvSpPr>
          <p:nvPr>
            <p:ph type="ctrTitle"/>
          </p:nvPr>
        </p:nvSpPr>
        <p:spPr>
          <a:xfrm>
            <a:off x="1964851" y="470467"/>
            <a:ext cx="52143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ctrTitle" idx="2"/>
          </p:nvPr>
        </p:nvSpPr>
        <p:spPr>
          <a:xfrm>
            <a:off x="561600" y="3739617"/>
            <a:ext cx="26736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subTitle" idx="1"/>
          </p:nvPr>
        </p:nvSpPr>
        <p:spPr>
          <a:xfrm>
            <a:off x="872450" y="4120633"/>
            <a:ext cx="20520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100"/>
              <a:buNone/>
              <a:defRPr sz="1100">
                <a:solidFill>
                  <a:schemeClr val="accent6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ctrTitle" idx="3"/>
          </p:nvPr>
        </p:nvSpPr>
        <p:spPr>
          <a:xfrm>
            <a:off x="3235200" y="3739617"/>
            <a:ext cx="26736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61" name="Google Shape;61;p10"/>
          <p:cNvSpPr txBox="1">
            <a:spLocks noGrp="1"/>
          </p:cNvSpPr>
          <p:nvPr>
            <p:ph type="subTitle" idx="4"/>
          </p:nvPr>
        </p:nvSpPr>
        <p:spPr>
          <a:xfrm>
            <a:off x="3462900" y="2715667"/>
            <a:ext cx="22182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100"/>
              <a:buNone/>
              <a:defRPr sz="1100">
                <a:solidFill>
                  <a:schemeClr val="accent6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ctrTitle" idx="5"/>
          </p:nvPr>
        </p:nvSpPr>
        <p:spPr>
          <a:xfrm>
            <a:off x="5908800" y="3739617"/>
            <a:ext cx="26736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subTitle" idx="6"/>
          </p:nvPr>
        </p:nvSpPr>
        <p:spPr>
          <a:xfrm>
            <a:off x="6136500" y="4120633"/>
            <a:ext cx="22182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100"/>
              <a:buNone/>
              <a:defRPr sz="1100">
                <a:solidFill>
                  <a:schemeClr val="accent6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4957236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3">
  <p:cSld name="Section 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1"/>
          <p:cNvSpPr txBox="1">
            <a:spLocks noGrp="1"/>
          </p:cNvSpPr>
          <p:nvPr>
            <p:ph type="ctrTitle"/>
          </p:nvPr>
        </p:nvSpPr>
        <p:spPr>
          <a:xfrm flipH="1">
            <a:off x="2754543" y="1796051"/>
            <a:ext cx="5195700" cy="256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36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4970943" y="1380284"/>
            <a:ext cx="29793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96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67" name="Google Shape;67;p11"/>
          <p:cNvSpPr txBox="1">
            <a:spLocks noGrp="1"/>
          </p:cNvSpPr>
          <p:nvPr>
            <p:ph type="subTitle" idx="1"/>
          </p:nvPr>
        </p:nvSpPr>
        <p:spPr>
          <a:xfrm>
            <a:off x="3725343" y="3657319"/>
            <a:ext cx="4224900" cy="7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1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210755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ix Columns">
  <p:cSld name="Six Column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ctrTitle"/>
          </p:nvPr>
        </p:nvSpPr>
        <p:spPr>
          <a:xfrm>
            <a:off x="1964851" y="470467"/>
            <a:ext cx="52143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ctrTitle" idx="2"/>
          </p:nvPr>
        </p:nvSpPr>
        <p:spPr>
          <a:xfrm>
            <a:off x="464478" y="2408667"/>
            <a:ext cx="17805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subTitle" idx="1"/>
          </p:nvPr>
        </p:nvSpPr>
        <p:spPr>
          <a:xfrm>
            <a:off x="616128" y="2800999"/>
            <a:ext cx="14772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9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ctrTitle" idx="3"/>
          </p:nvPr>
        </p:nvSpPr>
        <p:spPr>
          <a:xfrm>
            <a:off x="2077426" y="2408667"/>
            <a:ext cx="17805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ubTitle" idx="4"/>
          </p:nvPr>
        </p:nvSpPr>
        <p:spPr>
          <a:xfrm>
            <a:off x="2229076" y="2800999"/>
            <a:ext cx="14772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9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74" name="Google Shape;74;p12"/>
          <p:cNvSpPr txBox="1">
            <a:spLocks noGrp="1"/>
          </p:cNvSpPr>
          <p:nvPr>
            <p:ph type="ctrTitle" idx="5"/>
          </p:nvPr>
        </p:nvSpPr>
        <p:spPr>
          <a:xfrm>
            <a:off x="3690375" y="2408667"/>
            <a:ext cx="17805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75" name="Google Shape;75;p12"/>
          <p:cNvSpPr txBox="1">
            <a:spLocks noGrp="1"/>
          </p:cNvSpPr>
          <p:nvPr>
            <p:ph type="subTitle" idx="6"/>
          </p:nvPr>
        </p:nvSpPr>
        <p:spPr>
          <a:xfrm>
            <a:off x="3842025" y="2800999"/>
            <a:ext cx="14772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9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ctrTitle" idx="7"/>
          </p:nvPr>
        </p:nvSpPr>
        <p:spPr>
          <a:xfrm>
            <a:off x="3707117" y="4733149"/>
            <a:ext cx="17805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subTitle" idx="8"/>
          </p:nvPr>
        </p:nvSpPr>
        <p:spPr>
          <a:xfrm>
            <a:off x="3858772" y="5186935"/>
            <a:ext cx="14772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9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ctrTitle" idx="9"/>
          </p:nvPr>
        </p:nvSpPr>
        <p:spPr>
          <a:xfrm>
            <a:off x="5343519" y="4733149"/>
            <a:ext cx="17805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ubTitle" idx="13"/>
          </p:nvPr>
        </p:nvSpPr>
        <p:spPr>
          <a:xfrm>
            <a:off x="5500261" y="5186935"/>
            <a:ext cx="14772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9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ctrTitle" idx="14"/>
          </p:nvPr>
        </p:nvSpPr>
        <p:spPr>
          <a:xfrm>
            <a:off x="6979921" y="4733149"/>
            <a:ext cx="17805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subTitle" idx="15"/>
          </p:nvPr>
        </p:nvSpPr>
        <p:spPr>
          <a:xfrm>
            <a:off x="7141750" y="5186935"/>
            <a:ext cx="14568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9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3363475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lumns">
  <p:cSld name="Two Column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3"/>
          <p:cNvSpPr txBox="1">
            <a:spLocks noGrp="1"/>
          </p:cNvSpPr>
          <p:nvPr>
            <p:ph type="ctrTitle"/>
          </p:nvPr>
        </p:nvSpPr>
        <p:spPr>
          <a:xfrm>
            <a:off x="1964851" y="470467"/>
            <a:ext cx="52143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84" name="Google Shape;84;p13"/>
          <p:cNvSpPr txBox="1">
            <a:spLocks noGrp="1"/>
          </p:cNvSpPr>
          <p:nvPr>
            <p:ph type="ctrTitle" idx="2"/>
          </p:nvPr>
        </p:nvSpPr>
        <p:spPr>
          <a:xfrm>
            <a:off x="1741950" y="3795600"/>
            <a:ext cx="12579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subTitle" idx="1"/>
          </p:nvPr>
        </p:nvSpPr>
        <p:spPr>
          <a:xfrm>
            <a:off x="1741950" y="2200033"/>
            <a:ext cx="21573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3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86" name="Google Shape;86;p13"/>
          <p:cNvSpPr txBox="1">
            <a:spLocks noGrp="1"/>
          </p:cNvSpPr>
          <p:nvPr>
            <p:ph type="ctrTitle" idx="3"/>
          </p:nvPr>
        </p:nvSpPr>
        <p:spPr>
          <a:xfrm>
            <a:off x="5633751" y="4847067"/>
            <a:ext cx="17805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0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87" name="Google Shape;87;p13"/>
          <p:cNvSpPr txBox="1">
            <a:spLocks noGrp="1"/>
          </p:cNvSpPr>
          <p:nvPr>
            <p:ph type="subTitle" idx="4"/>
          </p:nvPr>
        </p:nvSpPr>
        <p:spPr>
          <a:xfrm>
            <a:off x="5256958" y="3253408"/>
            <a:ext cx="21573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3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1918256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Design 2">
  <p:cSld name="Title + Design 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4"/>
          <p:cNvSpPr txBox="1">
            <a:spLocks noGrp="1"/>
          </p:cNvSpPr>
          <p:nvPr>
            <p:ph type="ctrTitle"/>
          </p:nvPr>
        </p:nvSpPr>
        <p:spPr>
          <a:xfrm>
            <a:off x="1964851" y="470467"/>
            <a:ext cx="52143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8275978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4">
  <p:cSld name="Section 4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5"/>
          <p:cNvSpPr txBox="1">
            <a:spLocks noGrp="1"/>
          </p:cNvSpPr>
          <p:nvPr>
            <p:ph type="ctrTitle"/>
          </p:nvPr>
        </p:nvSpPr>
        <p:spPr>
          <a:xfrm flipH="1">
            <a:off x="1180003" y="1796051"/>
            <a:ext cx="5195700" cy="256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2" name="Google Shape;92;p15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1180003" y="1380284"/>
            <a:ext cx="29793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9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93" name="Google Shape;93;p15"/>
          <p:cNvSpPr txBox="1">
            <a:spLocks noGrp="1"/>
          </p:cNvSpPr>
          <p:nvPr>
            <p:ph type="subTitle" idx="1"/>
          </p:nvPr>
        </p:nvSpPr>
        <p:spPr>
          <a:xfrm>
            <a:off x="1180003" y="3657319"/>
            <a:ext cx="4224900" cy="7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1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4106479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">
  <p:cSld name="Four Column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6"/>
          <p:cNvSpPr txBox="1">
            <a:spLocks noGrp="1"/>
          </p:cNvSpPr>
          <p:nvPr>
            <p:ph type="ctrTitle"/>
          </p:nvPr>
        </p:nvSpPr>
        <p:spPr>
          <a:xfrm>
            <a:off x="1964851" y="470467"/>
            <a:ext cx="52143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6" name="Google Shape;96;p16"/>
          <p:cNvSpPr txBox="1">
            <a:spLocks noGrp="1"/>
          </p:cNvSpPr>
          <p:nvPr>
            <p:ph type="ctrTitle" idx="2"/>
          </p:nvPr>
        </p:nvSpPr>
        <p:spPr>
          <a:xfrm>
            <a:off x="2285760" y="2202723"/>
            <a:ext cx="17931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97" name="Google Shape;97;p16"/>
          <p:cNvSpPr txBox="1">
            <a:spLocks noGrp="1"/>
          </p:cNvSpPr>
          <p:nvPr>
            <p:ph type="subTitle" idx="1"/>
          </p:nvPr>
        </p:nvSpPr>
        <p:spPr>
          <a:xfrm>
            <a:off x="2285760" y="2595056"/>
            <a:ext cx="17082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98" name="Google Shape;98;p16"/>
          <p:cNvSpPr txBox="1">
            <a:spLocks noGrp="1"/>
          </p:cNvSpPr>
          <p:nvPr>
            <p:ph type="ctrTitle" idx="3"/>
          </p:nvPr>
        </p:nvSpPr>
        <p:spPr>
          <a:xfrm>
            <a:off x="2285760" y="4760764"/>
            <a:ext cx="17931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99" name="Google Shape;99;p16"/>
          <p:cNvSpPr txBox="1">
            <a:spLocks noGrp="1"/>
          </p:cNvSpPr>
          <p:nvPr>
            <p:ph type="subTitle" idx="4"/>
          </p:nvPr>
        </p:nvSpPr>
        <p:spPr>
          <a:xfrm>
            <a:off x="2285760" y="5153097"/>
            <a:ext cx="17082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100" name="Google Shape;100;p16"/>
          <p:cNvSpPr txBox="1">
            <a:spLocks noGrp="1"/>
          </p:cNvSpPr>
          <p:nvPr>
            <p:ph type="ctrTitle" idx="5"/>
          </p:nvPr>
        </p:nvSpPr>
        <p:spPr>
          <a:xfrm>
            <a:off x="5047297" y="2202723"/>
            <a:ext cx="17931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101" name="Google Shape;101;p16"/>
          <p:cNvSpPr txBox="1">
            <a:spLocks noGrp="1"/>
          </p:cNvSpPr>
          <p:nvPr>
            <p:ph type="subTitle" idx="6"/>
          </p:nvPr>
        </p:nvSpPr>
        <p:spPr>
          <a:xfrm>
            <a:off x="5047299" y="2595056"/>
            <a:ext cx="17931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102" name="Google Shape;102;p16"/>
          <p:cNvSpPr txBox="1">
            <a:spLocks noGrp="1"/>
          </p:cNvSpPr>
          <p:nvPr>
            <p:ph type="ctrTitle" idx="7"/>
          </p:nvPr>
        </p:nvSpPr>
        <p:spPr>
          <a:xfrm>
            <a:off x="5047297" y="4760764"/>
            <a:ext cx="17931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103" name="Google Shape;103;p16"/>
          <p:cNvSpPr txBox="1">
            <a:spLocks noGrp="1"/>
          </p:cNvSpPr>
          <p:nvPr>
            <p:ph type="subTitle" idx="8"/>
          </p:nvPr>
        </p:nvSpPr>
        <p:spPr>
          <a:xfrm>
            <a:off x="5047299" y="5153097"/>
            <a:ext cx="17931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2807840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title">
  <p:cSld name="Big title"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7"/>
          <p:cNvSpPr txBox="1">
            <a:spLocks noGrp="1"/>
          </p:cNvSpPr>
          <p:nvPr>
            <p:ph type="ctrTitle"/>
          </p:nvPr>
        </p:nvSpPr>
        <p:spPr>
          <a:xfrm flipH="1">
            <a:off x="1193529" y="2148200"/>
            <a:ext cx="5195700" cy="256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6500"/>
              <a:buNone/>
              <a:defRPr sz="6500"/>
            </a:lvl2pPr>
            <a:lvl3pPr lvl="2" rtl="0">
              <a:spcBef>
                <a:spcPts val="0"/>
              </a:spcBef>
              <a:spcAft>
                <a:spcPts val="0"/>
              </a:spcAft>
              <a:buSzPts val="6500"/>
              <a:buNone/>
              <a:defRPr sz="6500"/>
            </a:lvl3pPr>
            <a:lvl4pPr lvl="3" rtl="0">
              <a:spcBef>
                <a:spcPts val="0"/>
              </a:spcBef>
              <a:spcAft>
                <a:spcPts val="0"/>
              </a:spcAft>
              <a:buSzPts val="6500"/>
              <a:buNone/>
              <a:defRPr sz="6500"/>
            </a:lvl4pPr>
            <a:lvl5pPr lvl="4" rtl="0">
              <a:spcBef>
                <a:spcPts val="0"/>
              </a:spcBef>
              <a:spcAft>
                <a:spcPts val="0"/>
              </a:spcAft>
              <a:buSzPts val="6500"/>
              <a:buNone/>
              <a:defRPr sz="6500"/>
            </a:lvl5pPr>
            <a:lvl6pPr lvl="5" rtl="0">
              <a:spcBef>
                <a:spcPts val="0"/>
              </a:spcBef>
              <a:spcAft>
                <a:spcPts val="0"/>
              </a:spcAft>
              <a:buSzPts val="6500"/>
              <a:buNone/>
              <a:defRPr sz="6500"/>
            </a:lvl6pPr>
            <a:lvl7pPr lvl="6" rtl="0">
              <a:spcBef>
                <a:spcPts val="0"/>
              </a:spcBef>
              <a:spcAft>
                <a:spcPts val="0"/>
              </a:spcAft>
              <a:buSzPts val="6500"/>
              <a:buNone/>
              <a:defRPr sz="6500"/>
            </a:lvl7pPr>
            <a:lvl8pPr lvl="7" rtl="0">
              <a:spcBef>
                <a:spcPts val="0"/>
              </a:spcBef>
              <a:spcAft>
                <a:spcPts val="0"/>
              </a:spcAft>
              <a:buSzPts val="6500"/>
              <a:buNone/>
              <a:defRPr sz="6500"/>
            </a:lvl8pPr>
            <a:lvl9pPr lvl="8" rtl="0">
              <a:spcBef>
                <a:spcPts val="0"/>
              </a:spcBef>
              <a:spcAft>
                <a:spcPts val="0"/>
              </a:spcAft>
              <a:buSzPts val="6500"/>
              <a:buNone/>
              <a:defRPr sz="65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1055561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5">
  <p:cSld name="Section 5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8"/>
          <p:cNvSpPr txBox="1">
            <a:spLocks noGrp="1"/>
          </p:cNvSpPr>
          <p:nvPr>
            <p:ph type="ctrTitle"/>
          </p:nvPr>
        </p:nvSpPr>
        <p:spPr>
          <a:xfrm flipH="1">
            <a:off x="2260329" y="2925073"/>
            <a:ext cx="5195700" cy="256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08" name="Google Shape;108;p18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2260329" y="2509307"/>
            <a:ext cx="29793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9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09" name="Google Shape;109;p18"/>
          <p:cNvSpPr txBox="1">
            <a:spLocks noGrp="1"/>
          </p:cNvSpPr>
          <p:nvPr>
            <p:ph type="subTitle" idx="1"/>
          </p:nvPr>
        </p:nvSpPr>
        <p:spPr>
          <a:xfrm>
            <a:off x="2260329" y="4634739"/>
            <a:ext cx="4224900" cy="7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1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6129295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Design 3">
  <p:cSld name="Title + Design 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9"/>
          <p:cNvSpPr txBox="1">
            <a:spLocks noGrp="1"/>
          </p:cNvSpPr>
          <p:nvPr>
            <p:ph type="ctrTitle"/>
          </p:nvPr>
        </p:nvSpPr>
        <p:spPr>
          <a:xfrm>
            <a:off x="1964851" y="470467"/>
            <a:ext cx="52143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5472716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Design 4">
  <p:cSld name="Title + Design 4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0"/>
          <p:cNvSpPr txBox="1">
            <a:spLocks noGrp="1"/>
          </p:cNvSpPr>
          <p:nvPr>
            <p:ph type="ctrTitle"/>
          </p:nvPr>
        </p:nvSpPr>
        <p:spPr>
          <a:xfrm>
            <a:off x="1964851" y="470467"/>
            <a:ext cx="52143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5482616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6">
  <p:cSld name="Section 6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1"/>
          <p:cNvSpPr txBox="1">
            <a:spLocks noGrp="1"/>
          </p:cNvSpPr>
          <p:nvPr>
            <p:ph type="ctrTitle"/>
          </p:nvPr>
        </p:nvSpPr>
        <p:spPr>
          <a:xfrm flipH="1">
            <a:off x="1698072" y="2904633"/>
            <a:ext cx="5195700" cy="256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36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16" name="Google Shape;116;p21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3914472" y="2488867"/>
            <a:ext cx="29793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96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17" name="Google Shape;117;p21"/>
          <p:cNvSpPr txBox="1">
            <a:spLocks noGrp="1"/>
          </p:cNvSpPr>
          <p:nvPr>
            <p:ph type="subTitle" idx="1"/>
          </p:nvPr>
        </p:nvSpPr>
        <p:spPr>
          <a:xfrm>
            <a:off x="2668872" y="4634739"/>
            <a:ext cx="4224900" cy="7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1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1060705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Design 5">
  <p:cSld name="Title + Design 5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2"/>
          <p:cNvSpPr txBox="1">
            <a:spLocks noGrp="1"/>
          </p:cNvSpPr>
          <p:nvPr>
            <p:ph type="ctrTitle"/>
          </p:nvPr>
        </p:nvSpPr>
        <p:spPr>
          <a:xfrm>
            <a:off x="1964851" y="470467"/>
            <a:ext cx="52143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2845493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Thank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3"/>
          <p:cNvSpPr txBox="1">
            <a:spLocks noGrp="1"/>
          </p:cNvSpPr>
          <p:nvPr>
            <p:ph type="ctrTitle"/>
          </p:nvPr>
        </p:nvSpPr>
        <p:spPr>
          <a:xfrm flipH="1">
            <a:off x="1974150" y="1548000"/>
            <a:ext cx="5195700" cy="182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None/>
              <a:defRPr sz="48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22" name="Google Shape;122;p23"/>
          <p:cNvSpPr txBox="1">
            <a:spLocks noGrp="1"/>
          </p:cNvSpPr>
          <p:nvPr>
            <p:ph type="subTitle" idx="1"/>
          </p:nvPr>
        </p:nvSpPr>
        <p:spPr>
          <a:xfrm>
            <a:off x="2152500" y="3326467"/>
            <a:ext cx="48390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3" name="Google Shape;123;p23"/>
          <p:cNvSpPr txBox="1"/>
          <p:nvPr/>
        </p:nvSpPr>
        <p:spPr>
          <a:xfrm>
            <a:off x="625906" y="4963224"/>
            <a:ext cx="3830100" cy="237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rPr>
              <a:t>CREDITS: This presentation template was created by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Roboto Condensed"/>
                <a:ea typeface="Roboto Condensed"/>
                <a:cs typeface="Roboto Condensed"/>
                <a:sym typeface="Roboto Condensed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0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rPr>
              <a:t>, including icons by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Roboto Condensed"/>
                <a:ea typeface="Roboto Condensed"/>
                <a:cs typeface="Roboto Condensed"/>
                <a:sym typeface="Roboto Condensed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0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rPr>
              <a:t>, and infographics &amp; images by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Roboto Condensed"/>
                <a:ea typeface="Roboto Condensed"/>
                <a:cs typeface="Roboto Condensed"/>
                <a:sym typeface="Roboto Condensed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0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rPr>
              <a:t>. </a:t>
            </a:r>
            <a:endParaRPr sz="1000">
              <a:solidFill>
                <a:schemeClr val="dk1"/>
              </a:solidFill>
              <a:latin typeface="Roboto Condensed Light"/>
              <a:ea typeface="Roboto Condensed Light"/>
              <a:cs typeface="Roboto Condensed Light"/>
              <a:sym typeface="Roboto Condensed Light"/>
            </a:endParaRPr>
          </a:p>
          <a:p>
            <a:pPr marL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Please keep this slide for attribution.</a:t>
            </a:r>
            <a:endParaRPr sz="900" b="1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Roboto Condensed Light"/>
              <a:ea typeface="Roboto Condensed Light"/>
              <a:cs typeface="Roboto Condensed Light"/>
              <a:sym typeface="Roboto Condensed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Roboto Condensed Light"/>
              <a:ea typeface="Roboto Condensed Light"/>
              <a:cs typeface="Roboto Condensed Light"/>
              <a:sym typeface="Roboto Condensed Light"/>
            </a:endParaRPr>
          </a:p>
        </p:txBody>
      </p:sp>
    </p:spTree>
    <p:extLst>
      <p:ext uri="{BB962C8B-B14F-4D97-AF65-F5344CB8AC3E}">
        <p14:creationId xmlns:p14="http://schemas.microsoft.com/office/powerpoint/2010/main" val="93829073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">
  <p:cSld name="Title + tex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4"/>
          <p:cNvSpPr txBox="1">
            <a:spLocks noGrp="1"/>
          </p:cNvSpPr>
          <p:nvPr>
            <p:ph type="body" idx="1"/>
          </p:nvPr>
        </p:nvSpPr>
        <p:spPr>
          <a:xfrm>
            <a:off x="642050" y="2846400"/>
            <a:ext cx="5308200" cy="196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26" name="Google Shape;126;p24"/>
          <p:cNvSpPr txBox="1">
            <a:spLocks noGrp="1"/>
          </p:cNvSpPr>
          <p:nvPr>
            <p:ph type="ctrTitle"/>
          </p:nvPr>
        </p:nvSpPr>
        <p:spPr>
          <a:xfrm>
            <a:off x="1964851" y="470467"/>
            <a:ext cx="52143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7340589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>
  <p:cSld name="Blank slide">
    <p:bg>
      <p:bgPr>
        <a:noFill/>
        <a:effectLst/>
      </p:bgPr>
    </p:bg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7564804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6"/>
          <p:cNvSpPr txBox="1">
            <a:spLocks noGrp="1"/>
          </p:cNvSpPr>
          <p:nvPr>
            <p:ph type="ctrTitle"/>
          </p:nvPr>
        </p:nvSpPr>
        <p:spPr>
          <a:xfrm>
            <a:off x="311708" y="992767"/>
            <a:ext cx="8520600" cy="273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30" name="Google Shape;130;p26"/>
          <p:cNvSpPr txBox="1">
            <a:spLocks noGrp="1"/>
          </p:cNvSpPr>
          <p:nvPr>
            <p:ph type="subTitle" idx="1"/>
          </p:nvPr>
        </p:nvSpPr>
        <p:spPr>
          <a:xfrm>
            <a:off x="311700" y="3778833"/>
            <a:ext cx="8520600" cy="105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1" name="Google Shape;131;p26"/>
          <p:cNvSpPr txBox="1">
            <a:spLocks noGrp="1"/>
          </p:cNvSpPr>
          <p:nvPr>
            <p:ph type="sldNum" idx="12"/>
          </p:nvPr>
        </p:nvSpPr>
        <p:spPr>
          <a:xfrm>
            <a:off x="8472458" y="6217623"/>
            <a:ext cx="5487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291295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3.xml"/><Relationship Id="rId13" Type="http://schemas.openxmlformats.org/officeDocument/2006/relationships/slideLayout" Target="../slideLayouts/slideLayout18.xml"/><Relationship Id="rId18" Type="http://schemas.openxmlformats.org/officeDocument/2006/relationships/slideLayout" Target="../slideLayouts/slideLayout23.xml"/><Relationship Id="rId26" Type="http://schemas.openxmlformats.org/officeDocument/2006/relationships/theme" Target="../theme/theme2.xml"/><Relationship Id="rId3" Type="http://schemas.openxmlformats.org/officeDocument/2006/relationships/slideLayout" Target="../slideLayouts/slideLayout8.xml"/><Relationship Id="rId21" Type="http://schemas.openxmlformats.org/officeDocument/2006/relationships/slideLayout" Target="../slideLayouts/slideLayout26.xml"/><Relationship Id="rId7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7.xml"/><Relationship Id="rId17" Type="http://schemas.openxmlformats.org/officeDocument/2006/relationships/slideLayout" Target="../slideLayouts/slideLayout22.xml"/><Relationship Id="rId25" Type="http://schemas.openxmlformats.org/officeDocument/2006/relationships/slideLayout" Target="../slideLayouts/slideLayout30.xml"/><Relationship Id="rId2" Type="http://schemas.openxmlformats.org/officeDocument/2006/relationships/slideLayout" Target="../slideLayouts/slideLayout7.xml"/><Relationship Id="rId16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5.xml"/><Relationship Id="rId1" Type="http://schemas.openxmlformats.org/officeDocument/2006/relationships/slideLayout" Target="../slideLayouts/slideLayout6.xml"/><Relationship Id="rId6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6.xml"/><Relationship Id="rId24" Type="http://schemas.openxmlformats.org/officeDocument/2006/relationships/slideLayout" Target="../slideLayouts/slideLayout29.xml"/><Relationship Id="rId5" Type="http://schemas.openxmlformats.org/officeDocument/2006/relationships/slideLayout" Target="../slideLayouts/slideLayout10.xml"/><Relationship Id="rId15" Type="http://schemas.openxmlformats.org/officeDocument/2006/relationships/slideLayout" Target="../slideLayouts/slideLayout20.xml"/><Relationship Id="rId23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5.xml"/><Relationship Id="rId19" Type="http://schemas.openxmlformats.org/officeDocument/2006/relationships/slideLayout" Target="../slideLayouts/slideLayout24.xml"/><Relationship Id="rId4" Type="http://schemas.openxmlformats.org/officeDocument/2006/relationships/slideLayout" Target="../slideLayouts/slideLayout9.xml"/><Relationship Id="rId9" Type="http://schemas.openxmlformats.org/officeDocument/2006/relationships/slideLayout" Target="../slideLayouts/slideLayout14.xml"/><Relationship Id="rId14" Type="http://schemas.openxmlformats.org/officeDocument/2006/relationships/slideLayout" Target="../slideLayouts/slideLayout19.xml"/><Relationship Id="rId22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354582" y="609422"/>
            <a:ext cx="2853690" cy="69723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33703" y="2035200"/>
            <a:ext cx="7611109" cy="25406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2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6377940"/>
            <a:ext cx="292608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6377940"/>
            <a:ext cx="210312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11/26/2025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389619" y="6443989"/>
            <a:ext cx="247015" cy="19621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rgbClr val="888888"/>
                </a:solidFill>
                <a:latin typeface="Arial MT"/>
                <a:cs typeface="Arial MT"/>
              </a:defRPr>
            </a:lvl1pPr>
          </a:lstStyle>
          <a:p>
            <a:pPr marL="38100">
              <a:lnSpc>
                <a:spcPts val="1425"/>
              </a:lnSpc>
            </a:pPr>
            <a:fld id="{81D60167-4931-47E6-BA6A-407CBD079E47}" type="slidenum">
              <a:rPr spc="-5" dirty="0"/>
              <a:t>‹Nr.›</a:t>
            </a:fld>
            <a:endParaRPr spc="-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593367"/>
            <a:ext cx="85206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Exo 2"/>
              <a:buNone/>
              <a:defRPr sz="2800" b="1">
                <a:solidFill>
                  <a:schemeClr val="dk1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●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1pPr>
            <a:lvl2pPr marL="914400" lvl="1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○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2pPr>
            <a:lvl3pPr marL="1371600" lvl="2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■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●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○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■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●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○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Roboto Condensed Light"/>
              <a:buChar char="■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91144992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71" r:id="rId4"/>
    <p:sldLayoutId id="2147483672" r:id="rId5"/>
    <p:sldLayoutId id="2147483673" r:id="rId6"/>
    <p:sldLayoutId id="2147483674" r:id="rId7"/>
    <p:sldLayoutId id="2147483675" r:id="rId8"/>
    <p:sldLayoutId id="2147483676" r:id="rId9"/>
    <p:sldLayoutId id="2147483677" r:id="rId10"/>
    <p:sldLayoutId id="2147483678" r:id="rId11"/>
    <p:sldLayoutId id="2147483679" r:id="rId12"/>
    <p:sldLayoutId id="2147483680" r:id="rId13"/>
    <p:sldLayoutId id="2147483681" r:id="rId14"/>
    <p:sldLayoutId id="2147483682" r:id="rId15"/>
    <p:sldLayoutId id="2147483683" r:id="rId16"/>
    <p:sldLayoutId id="2147483684" r:id="rId17"/>
    <p:sldLayoutId id="2147483685" r:id="rId18"/>
    <p:sldLayoutId id="2147483686" r:id="rId19"/>
    <p:sldLayoutId id="2147483687" r:id="rId20"/>
    <p:sldLayoutId id="2147483688" r:id="rId21"/>
    <p:sldLayoutId id="2147483689" r:id="rId22"/>
    <p:sldLayoutId id="2147483690" r:id="rId23"/>
    <p:sldLayoutId id="2147483691" r:id="rId24"/>
    <p:sldLayoutId id="2147483692" r:id="rId2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D791F3E-AF00-4D42-C74F-8D4BA76421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570" y="13207"/>
            <a:ext cx="8896858" cy="738664"/>
          </a:xfrm>
        </p:spPr>
        <p:txBody>
          <a:bodyPr/>
          <a:lstStyle/>
          <a:p>
            <a:r>
              <a:rPr lang="de-DE" sz="2400" spc="-280" dirty="0" err="1">
                <a:solidFill>
                  <a:srgbClr val="374D81"/>
                </a:solidFill>
              </a:rPr>
              <a:t>Confusion</a:t>
            </a:r>
            <a:r>
              <a:rPr lang="de-DE" sz="2400" spc="-280" dirty="0">
                <a:solidFill>
                  <a:srgbClr val="374D81"/>
                </a:solidFill>
              </a:rPr>
              <a:t> Matrix</a:t>
            </a:r>
            <a:br>
              <a:rPr lang="de-DE" dirty="0"/>
            </a:br>
            <a:endParaRPr lang="de-DE" dirty="0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61DA983B-9EA6-2A30-D557-AE7784CED0D8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1371600" y="3840480"/>
            <a:ext cx="6400800" cy="1508105"/>
          </a:xfrm>
        </p:spPr>
        <p:txBody>
          <a:bodyPr/>
          <a:lstStyle/>
          <a:p>
            <a:pPr algn="ctr"/>
            <a:r>
              <a:rPr lang="de-DE" sz="4800" spc="-280" dirty="0">
                <a:solidFill>
                  <a:srgbClr val="374D81"/>
                </a:solidFill>
              </a:rPr>
              <a:t>06 - </a:t>
            </a:r>
            <a:r>
              <a:rPr lang="en" sz="4800" spc="-280" dirty="0">
                <a:solidFill>
                  <a:srgbClr val="374D81"/>
                </a:solidFill>
              </a:rPr>
              <a:t>Intro to ML </a:t>
            </a:r>
          </a:p>
          <a:p>
            <a:pPr algn="ctr"/>
            <a:r>
              <a:rPr lang="de-DE" sz="2800" spc="-280" dirty="0" err="1">
                <a:solidFill>
                  <a:srgbClr val="374D81"/>
                </a:solidFill>
              </a:rPr>
              <a:t>Confusion</a:t>
            </a:r>
            <a:r>
              <a:rPr lang="de-DE" sz="2800" spc="-280" dirty="0">
                <a:solidFill>
                  <a:srgbClr val="374D81"/>
                </a:solidFill>
              </a:rPr>
              <a:t> Matrix (CM)</a:t>
            </a:r>
            <a:endParaRPr lang="de-DE" sz="2800" dirty="0"/>
          </a:p>
          <a:p>
            <a:pPr algn="ctr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43460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9"/>
          <p:cNvSpPr txBox="1">
            <a:spLocks noGrp="1"/>
          </p:cNvSpPr>
          <p:nvPr>
            <p:ph type="ctrTitle"/>
          </p:nvPr>
        </p:nvSpPr>
        <p:spPr>
          <a:xfrm>
            <a:off x="1645200" y="1210100"/>
            <a:ext cx="58536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dirty="0"/>
              <a:t>Course Overview:</a:t>
            </a:r>
            <a:endParaRPr dirty="0"/>
          </a:p>
        </p:txBody>
      </p:sp>
      <p:sp>
        <p:nvSpPr>
          <p:cNvPr id="231" name="Google Shape;231;p39"/>
          <p:cNvSpPr/>
          <p:nvPr/>
        </p:nvSpPr>
        <p:spPr>
          <a:xfrm>
            <a:off x="662850" y="2156300"/>
            <a:ext cx="15618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>
              <a:buClr>
                <a:srgbClr val="000000"/>
              </a:buClr>
            </a:pPr>
            <a:r>
              <a:rPr lang="en" sz="1200" kern="0" dirty="0">
                <a:solidFill>
                  <a:srgbClr val="B4EBF0"/>
                </a:solidFill>
                <a:latin typeface="Exo 2"/>
                <a:cs typeface="Arial"/>
                <a:sym typeface="Exo 2"/>
              </a:rPr>
              <a:t>1.1 - Python Review</a:t>
            </a:r>
            <a:endParaRPr sz="1200" kern="0" dirty="0">
              <a:solidFill>
                <a:srgbClr val="B4EBF0"/>
              </a:solidFill>
              <a:latin typeface="Exo 2"/>
              <a:cs typeface="Arial"/>
              <a:sym typeface="Exo 2"/>
            </a:endParaRPr>
          </a:p>
        </p:txBody>
      </p:sp>
      <p:sp>
        <p:nvSpPr>
          <p:cNvPr id="232" name="Google Shape;232;p39"/>
          <p:cNvSpPr/>
          <p:nvPr/>
        </p:nvSpPr>
        <p:spPr>
          <a:xfrm>
            <a:off x="2684776" y="2166400"/>
            <a:ext cx="15618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>
              <a:buClr>
                <a:srgbClr val="000000"/>
              </a:buClr>
            </a:pPr>
            <a:r>
              <a:rPr lang="en" sz="1200" kern="0" dirty="0">
                <a:solidFill>
                  <a:srgbClr val="B4EBF0"/>
                </a:solidFill>
                <a:latin typeface="Exo 2"/>
                <a:cs typeface="Arial"/>
                <a:sym typeface="Arial"/>
              </a:rPr>
              <a:t>1.2 - Numpy</a:t>
            </a:r>
            <a:endParaRPr sz="1200" kern="0" dirty="0">
              <a:solidFill>
                <a:srgbClr val="B4EBF0"/>
              </a:solidFill>
              <a:latin typeface="Exo 2"/>
              <a:cs typeface="Arial"/>
              <a:sym typeface="Arial"/>
            </a:endParaRPr>
          </a:p>
        </p:txBody>
      </p:sp>
      <p:cxnSp>
        <p:nvCxnSpPr>
          <p:cNvPr id="233" name="Google Shape;233;p39"/>
          <p:cNvCxnSpPr>
            <a:stCxn id="231" idx="3"/>
            <a:endCxn id="232" idx="1"/>
          </p:cNvCxnSpPr>
          <p:nvPr/>
        </p:nvCxnSpPr>
        <p:spPr>
          <a:xfrm>
            <a:off x="2224650" y="2554550"/>
            <a:ext cx="4602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34" name="Google Shape;234;p39"/>
          <p:cNvSpPr/>
          <p:nvPr/>
        </p:nvSpPr>
        <p:spPr>
          <a:xfrm>
            <a:off x="4681975" y="2156200"/>
            <a:ext cx="15618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>
              <a:buClr>
                <a:srgbClr val="000000"/>
              </a:buClr>
            </a:pPr>
            <a:r>
              <a:rPr lang="en" sz="1200" kern="0" dirty="0">
                <a:solidFill>
                  <a:srgbClr val="B4EBF0"/>
                </a:solidFill>
                <a:latin typeface="Exo 2"/>
                <a:cs typeface="Arial"/>
                <a:sym typeface="Exo 2"/>
              </a:rPr>
              <a:t>1.3 - Pandas</a:t>
            </a:r>
            <a:endParaRPr sz="1200" kern="0" dirty="0">
              <a:solidFill>
                <a:srgbClr val="B4EBF0"/>
              </a:solidFill>
              <a:latin typeface="Exo 2"/>
              <a:cs typeface="Arial"/>
              <a:sym typeface="Exo 2"/>
            </a:endParaRPr>
          </a:p>
        </p:txBody>
      </p:sp>
      <p:sp>
        <p:nvSpPr>
          <p:cNvPr id="235" name="Google Shape;235;p39"/>
          <p:cNvSpPr/>
          <p:nvPr/>
        </p:nvSpPr>
        <p:spPr>
          <a:xfrm>
            <a:off x="6679176" y="2166500"/>
            <a:ext cx="15618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>
              <a:buClr>
                <a:srgbClr val="000000"/>
              </a:buClr>
            </a:pPr>
            <a:r>
              <a:rPr lang="en" sz="1200" kern="0" dirty="0">
                <a:solidFill>
                  <a:srgbClr val="B4EBF0"/>
                </a:solidFill>
                <a:latin typeface="Exo 2"/>
                <a:cs typeface="Arial"/>
                <a:sym typeface="Arial"/>
              </a:rPr>
              <a:t>1.4 - Seaborn</a:t>
            </a:r>
            <a:endParaRPr sz="1200" kern="0" dirty="0">
              <a:solidFill>
                <a:srgbClr val="B4EBF0"/>
              </a:solidFill>
              <a:latin typeface="Exo 2"/>
              <a:cs typeface="Arial"/>
              <a:sym typeface="Arial"/>
            </a:endParaRPr>
          </a:p>
        </p:txBody>
      </p:sp>
      <p:cxnSp>
        <p:nvCxnSpPr>
          <p:cNvPr id="236" name="Google Shape;236;p39"/>
          <p:cNvCxnSpPr>
            <a:stCxn id="234" idx="3"/>
            <a:endCxn id="235" idx="1"/>
          </p:cNvCxnSpPr>
          <p:nvPr/>
        </p:nvCxnSpPr>
        <p:spPr>
          <a:xfrm>
            <a:off x="6243775" y="2554450"/>
            <a:ext cx="4353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7" name="Google Shape;237;p39"/>
          <p:cNvCxnSpPr/>
          <p:nvPr/>
        </p:nvCxnSpPr>
        <p:spPr>
          <a:xfrm>
            <a:off x="4234250" y="2554550"/>
            <a:ext cx="4353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38" name="Google Shape;238;p39"/>
          <p:cNvSpPr/>
          <p:nvPr/>
        </p:nvSpPr>
        <p:spPr>
          <a:xfrm>
            <a:off x="662850" y="3245325"/>
            <a:ext cx="10215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>
              <a:buClr>
                <a:srgbClr val="000000"/>
              </a:buClr>
            </a:pPr>
            <a:r>
              <a:rPr lang="en" sz="1200" kern="0" dirty="0">
                <a:solidFill>
                  <a:srgbClr val="B4EBF0"/>
                </a:solidFill>
                <a:latin typeface="Exo 2"/>
                <a:cs typeface="Arial"/>
                <a:sym typeface="Exo 2"/>
              </a:rPr>
              <a:t>2.1 - ML Intro</a:t>
            </a:r>
            <a:endParaRPr sz="1200" kern="0" dirty="0">
              <a:solidFill>
                <a:srgbClr val="B4EBF0"/>
              </a:solidFill>
              <a:latin typeface="Exo 2"/>
              <a:cs typeface="Arial"/>
              <a:sym typeface="Exo 2"/>
            </a:endParaRPr>
          </a:p>
        </p:txBody>
      </p:sp>
      <p:sp>
        <p:nvSpPr>
          <p:cNvPr id="239" name="Google Shape;239;p39"/>
          <p:cNvSpPr/>
          <p:nvPr/>
        </p:nvSpPr>
        <p:spPr>
          <a:xfrm>
            <a:off x="1985500" y="3255425"/>
            <a:ext cx="10215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>
              <a:buClr>
                <a:srgbClr val="000000"/>
              </a:buClr>
            </a:pPr>
            <a:r>
              <a:rPr lang="en" sz="1100" kern="0" dirty="0">
                <a:solidFill>
                  <a:srgbClr val="B4EBF0"/>
                </a:solidFill>
                <a:latin typeface="Exo 2"/>
                <a:cs typeface="Arial"/>
                <a:sym typeface="Arial"/>
              </a:rPr>
              <a:t>2.2 - Linear Regression</a:t>
            </a:r>
            <a:endParaRPr sz="1100" kern="0" dirty="0">
              <a:solidFill>
                <a:srgbClr val="B4EBF0"/>
              </a:solidFill>
              <a:latin typeface="Exo 2"/>
              <a:cs typeface="Arial"/>
              <a:sym typeface="Arial"/>
            </a:endParaRPr>
          </a:p>
        </p:txBody>
      </p:sp>
      <p:cxnSp>
        <p:nvCxnSpPr>
          <p:cNvPr id="240" name="Google Shape;240;p39"/>
          <p:cNvCxnSpPr>
            <a:stCxn id="238" idx="3"/>
            <a:endCxn id="239" idx="1"/>
          </p:cNvCxnSpPr>
          <p:nvPr/>
        </p:nvCxnSpPr>
        <p:spPr>
          <a:xfrm>
            <a:off x="1684350" y="3643575"/>
            <a:ext cx="3012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1" name="Google Shape;241;p39"/>
          <p:cNvSpPr/>
          <p:nvPr/>
        </p:nvSpPr>
        <p:spPr>
          <a:xfrm>
            <a:off x="3287163" y="3245225"/>
            <a:ext cx="10215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>
              <a:buClr>
                <a:srgbClr val="000000"/>
              </a:buClr>
            </a:pPr>
            <a:r>
              <a:rPr lang="en" sz="1100" kern="0" dirty="0">
                <a:solidFill>
                  <a:srgbClr val="B4EBF0"/>
                </a:solidFill>
                <a:latin typeface="Exo 2"/>
                <a:ea typeface="Exo 2"/>
                <a:cs typeface="Exo 2"/>
                <a:sym typeface="Exo 2"/>
              </a:rPr>
              <a:t>2.3 - Logistic Regression</a:t>
            </a:r>
            <a:endParaRPr sz="1100" kern="0" dirty="0">
              <a:solidFill>
                <a:srgbClr val="B4EBF0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sp>
        <p:nvSpPr>
          <p:cNvPr id="242" name="Google Shape;242;p39"/>
          <p:cNvSpPr/>
          <p:nvPr/>
        </p:nvSpPr>
        <p:spPr>
          <a:xfrm>
            <a:off x="4593637" y="3255525"/>
            <a:ext cx="10215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>
              <a:buClr>
                <a:srgbClr val="000000"/>
              </a:buClr>
            </a:pPr>
            <a:r>
              <a:rPr lang="en" sz="1100" kern="0" dirty="0">
                <a:solidFill>
                  <a:srgbClr val="B4EBF0"/>
                </a:solidFill>
                <a:latin typeface="Exo 2"/>
                <a:cs typeface="Arial"/>
                <a:sym typeface="Arial"/>
              </a:rPr>
              <a:t>2.4 -</a:t>
            </a:r>
            <a:r>
              <a:rPr lang="de-DE" sz="1100" kern="0" dirty="0" err="1">
                <a:solidFill>
                  <a:srgbClr val="B4EBF0"/>
                </a:solidFill>
                <a:latin typeface="Exo 2"/>
                <a:cs typeface="Arial"/>
                <a:sym typeface="Arial"/>
              </a:rPr>
              <a:t>Naïve</a:t>
            </a:r>
            <a:r>
              <a:rPr lang="de-DE" sz="1100" kern="0" dirty="0">
                <a:solidFill>
                  <a:srgbClr val="B4EBF0"/>
                </a:solidFill>
                <a:latin typeface="Exo 2"/>
                <a:cs typeface="Arial"/>
                <a:sym typeface="Arial"/>
              </a:rPr>
              <a:t> Bayes </a:t>
            </a:r>
            <a:r>
              <a:rPr lang="de-DE" sz="1100" kern="0" dirty="0" err="1">
                <a:solidFill>
                  <a:srgbClr val="B4EBF0"/>
                </a:solidFill>
                <a:latin typeface="Exo 2"/>
                <a:cs typeface="Arial"/>
                <a:sym typeface="Arial"/>
              </a:rPr>
              <a:t>Classifier</a:t>
            </a:r>
            <a:endParaRPr sz="1100" kern="0" dirty="0">
              <a:solidFill>
                <a:srgbClr val="B4EBF0"/>
              </a:solidFill>
              <a:latin typeface="Exo 2"/>
              <a:cs typeface="Arial"/>
              <a:sym typeface="Arial"/>
            </a:endParaRPr>
          </a:p>
        </p:txBody>
      </p:sp>
      <p:cxnSp>
        <p:nvCxnSpPr>
          <p:cNvPr id="243" name="Google Shape;243;p39"/>
          <p:cNvCxnSpPr>
            <a:stCxn id="241" idx="3"/>
            <a:endCxn id="242" idx="1"/>
          </p:cNvCxnSpPr>
          <p:nvPr/>
        </p:nvCxnSpPr>
        <p:spPr>
          <a:xfrm>
            <a:off x="4308663" y="3643475"/>
            <a:ext cx="284974" cy="10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4" name="Google Shape;244;p39"/>
          <p:cNvCxnSpPr/>
          <p:nvPr/>
        </p:nvCxnSpPr>
        <p:spPr>
          <a:xfrm>
            <a:off x="2999078" y="3643575"/>
            <a:ext cx="2847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5" name="Google Shape;245;p39"/>
          <p:cNvSpPr/>
          <p:nvPr/>
        </p:nvSpPr>
        <p:spPr>
          <a:xfrm>
            <a:off x="7211180" y="3224824"/>
            <a:ext cx="10215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>
              <a:buClr>
                <a:srgbClr val="000000"/>
              </a:buClr>
            </a:pPr>
            <a:r>
              <a:rPr lang="en" sz="1100" kern="0" dirty="0">
                <a:solidFill>
                  <a:srgbClr val="B4EBF0"/>
                </a:solidFill>
                <a:latin typeface="Exo 2"/>
                <a:cs typeface="Arial"/>
                <a:sym typeface="Exo 2"/>
              </a:rPr>
              <a:t>2.6 - Decision Trees</a:t>
            </a:r>
            <a:endParaRPr sz="1100" kern="0" dirty="0">
              <a:solidFill>
                <a:srgbClr val="B4EBF0"/>
              </a:solidFill>
              <a:latin typeface="Exo 2"/>
              <a:cs typeface="Arial"/>
              <a:sym typeface="Exo 2"/>
            </a:endParaRPr>
          </a:p>
        </p:txBody>
      </p:sp>
      <p:cxnSp>
        <p:nvCxnSpPr>
          <p:cNvPr id="247" name="Google Shape;247;p39"/>
          <p:cNvCxnSpPr>
            <a:cxnSpLocks/>
          </p:cNvCxnSpPr>
          <p:nvPr/>
        </p:nvCxnSpPr>
        <p:spPr>
          <a:xfrm>
            <a:off x="6926180" y="3627799"/>
            <a:ext cx="2850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8" name="Google Shape;248;p39"/>
          <p:cNvCxnSpPr>
            <a:cxnSpLocks/>
          </p:cNvCxnSpPr>
          <p:nvPr/>
        </p:nvCxnSpPr>
        <p:spPr>
          <a:xfrm>
            <a:off x="5619980" y="3653875"/>
            <a:ext cx="2847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9" name="Google Shape;249;p39"/>
          <p:cNvSpPr/>
          <p:nvPr/>
        </p:nvSpPr>
        <p:spPr>
          <a:xfrm>
            <a:off x="662875" y="4344450"/>
            <a:ext cx="1462746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>
              <a:buClr>
                <a:srgbClr val="000000"/>
              </a:buClr>
            </a:pPr>
            <a:r>
              <a:rPr lang="en" sz="1200" kern="0" dirty="0">
                <a:solidFill>
                  <a:srgbClr val="B4EBF0"/>
                </a:solidFill>
                <a:latin typeface="Exo 2"/>
                <a:ea typeface="Exo 2"/>
                <a:cs typeface="Exo 2"/>
                <a:sym typeface="Exo 2"/>
              </a:rPr>
              <a:t>3.1 – </a:t>
            </a:r>
            <a:r>
              <a:rPr lang="en" sz="1200" strike="sngStrike" kern="0" dirty="0">
                <a:solidFill>
                  <a:srgbClr val="B4EBF0"/>
                </a:solidFill>
                <a:latin typeface="Exo 2"/>
                <a:ea typeface="Exo 2"/>
                <a:cs typeface="Exo 2"/>
                <a:sym typeface="Exo 2"/>
              </a:rPr>
              <a:t>Ensembling Learning</a:t>
            </a:r>
            <a:endParaRPr sz="1200" strike="sngStrike" kern="0" dirty="0">
              <a:solidFill>
                <a:srgbClr val="B4EBF0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cxnSp>
        <p:nvCxnSpPr>
          <p:cNvPr id="251" name="Google Shape;251;p39"/>
          <p:cNvCxnSpPr>
            <a:cxnSpLocks/>
            <a:stCxn id="249" idx="3"/>
          </p:cNvCxnSpPr>
          <p:nvPr/>
        </p:nvCxnSpPr>
        <p:spPr>
          <a:xfrm flipV="1">
            <a:off x="2125622" y="4740718"/>
            <a:ext cx="329129" cy="1982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52" name="Google Shape;252;p39"/>
          <p:cNvSpPr/>
          <p:nvPr/>
        </p:nvSpPr>
        <p:spPr>
          <a:xfrm>
            <a:off x="3889561" y="4352668"/>
            <a:ext cx="194468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>
              <a:buClr>
                <a:srgbClr val="000000"/>
              </a:buClr>
            </a:pPr>
            <a:r>
              <a:rPr lang="en" sz="1100" kern="0" dirty="0">
                <a:solidFill>
                  <a:srgbClr val="B4EBF0"/>
                </a:solidFill>
                <a:latin typeface="Exo 2"/>
                <a:cs typeface="Arial"/>
                <a:sym typeface="Arial"/>
              </a:rPr>
              <a:t>4</a:t>
            </a:r>
            <a:r>
              <a:rPr lang="en" sz="1200" kern="0" dirty="0">
                <a:solidFill>
                  <a:srgbClr val="B4EBF0"/>
                </a:solidFill>
                <a:latin typeface="Exo 2"/>
                <a:cs typeface="Arial"/>
                <a:sym typeface="Arial"/>
              </a:rPr>
              <a:t>.* - </a:t>
            </a:r>
            <a:r>
              <a:rPr lang="en" sz="1200" strike="sngStrike" kern="0" dirty="0">
                <a:solidFill>
                  <a:srgbClr val="B4EBF0"/>
                </a:solidFill>
                <a:latin typeface="Exo 2"/>
                <a:cs typeface="Arial"/>
                <a:sym typeface="Arial"/>
              </a:rPr>
              <a:t>Natural Language Processing (NLP)</a:t>
            </a:r>
            <a:endParaRPr sz="1200" strike="sngStrike" kern="0" dirty="0">
              <a:solidFill>
                <a:srgbClr val="B4EBF0"/>
              </a:solidFill>
              <a:latin typeface="Exo 2"/>
              <a:cs typeface="Arial"/>
              <a:sym typeface="Arial"/>
            </a:endParaRPr>
          </a:p>
        </p:txBody>
      </p:sp>
      <p:cxnSp>
        <p:nvCxnSpPr>
          <p:cNvPr id="253" name="Google Shape;253;p39"/>
          <p:cNvCxnSpPr>
            <a:cxnSpLocks/>
          </p:cNvCxnSpPr>
          <p:nvPr/>
        </p:nvCxnSpPr>
        <p:spPr>
          <a:xfrm flipV="1">
            <a:off x="3512022" y="4742701"/>
            <a:ext cx="370594" cy="101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7CE7875C-AF3A-C2C2-F19E-141096FF1EEF}"/>
              </a:ext>
            </a:extLst>
          </p:cNvPr>
          <p:cNvCxnSpPr>
            <a:cxnSpLocks/>
          </p:cNvCxnSpPr>
          <p:nvPr/>
        </p:nvCxnSpPr>
        <p:spPr>
          <a:xfrm rot="5400000">
            <a:off x="4576589" y="1159511"/>
            <a:ext cx="302525" cy="600445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0" name="Google Shape;242;p39">
            <a:extLst>
              <a:ext uri="{FF2B5EF4-FFF2-40B4-BE49-F238E27FC236}">
                <a16:creationId xmlns:a16="http://schemas.microsoft.com/office/drawing/2014/main" id="{C367036A-0937-2BA9-B3D7-B66F206EBDE5}"/>
              </a:ext>
            </a:extLst>
          </p:cNvPr>
          <p:cNvSpPr/>
          <p:nvPr/>
        </p:nvSpPr>
        <p:spPr>
          <a:xfrm>
            <a:off x="5899893" y="3245224"/>
            <a:ext cx="10215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>
              <a:buClr>
                <a:srgbClr val="000000"/>
              </a:buClr>
            </a:pPr>
            <a:r>
              <a:rPr lang="en" sz="1100" kern="0" dirty="0">
                <a:solidFill>
                  <a:srgbClr val="B4EBF0"/>
                </a:solidFill>
                <a:latin typeface="Exo 2"/>
                <a:cs typeface="Arial"/>
                <a:sym typeface="Arial"/>
              </a:rPr>
              <a:t>2.5 - </a:t>
            </a:r>
            <a:r>
              <a:rPr lang="en" sz="1100" strike="sngStrike" kern="0" dirty="0">
                <a:solidFill>
                  <a:srgbClr val="B4EBF0"/>
                </a:solidFill>
                <a:latin typeface="Exo 2"/>
                <a:cs typeface="Arial"/>
                <a:sym typeface="Arial"/>
              </a:rPr>
              <a:t>KNN</a:t>
            </a:r>
            <a:endParaRPr sz="1100" strike="sngStrike" kern="0" dirty="0">
              <a:solidFill>
                <a:srgbClr val="B4EBF0"/>
              </a:solidFill>
              <a:latin typeface="Exo 2"/>
              <a:cs typeface="Arial"/>
              <a:sym typeface="Arial"/>
            </a:endParaRPr>
          </a:p>
        </p:txBody>
      </p:sp>
      <p:sp>
        <p:nvSpPr>
          <p:cNvPr id="11" name="Google Shape;246;p39"/>
          <p:cNvSpPr/>
          <p:nvPr/>
        </p:nvSpPr>
        <p:spPr>
          <a:xfrm>
            <a:off x="2484398" y="4355052"/>
            <a:ext cx="1021500" cy="771335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>
              <a:buClr>
                <a:srgbClr val="000000"/>
              </a:buClr>
            </a:pPr>
            <a:r>
              <a:rPr lang="en" sz="1200" kern="0" dirty="0">
                <a:solidFill>
                  <a:srgbClr val="B4EBF0"/>
                </a:solidFill>
                <a:latin typeface="Exo 2"/>
                <a:cs typeface="Arial"/>
                <a:sym typeface="Arial"/>
              </a:rPr>
              <a:t>3.2 - </a:t>
            </a:r>
            <a:r>
              <a:rPr lang="en" sz="1200" strike="sngStrike" kern="0" dirty="0">
                <a:solidFill>
                  <a:srgbClr val="B4EBF0"/>
                </a:solidFill>
                <a:latin typeface="Exo 2"/>
                <a:cs typeface="Arial"/>
                <a:sym typeface="Arial"/>
              </a:rPr>
              <a:t>Neural Networks</a:t>
            </a:r>
            <a:endParaRPr sz="1200" strike="sngStrike" kern="0" dirty="0">
              <a:solidFill>
                <a:srgbClr val="B4EBF0"/>
              </a:solidFill>
              <a:latin typeface="Exo 2"/>
              <a:cs typeface="Arial"/>
              <a:sym typeface="Arial"/>
            </a:endParaRPr>
          </a:p>
        </p:txBody>
      </p:sp>
      <p:sp>
        <p:nvSpPr>
          <p:cNvPr id="15" name="Google Shape;250;p39"/>
          <p:cNvSpPr/>
          <p:nvPr/>
        </p:nvSpPr>
        <p:spPr>
          <a:xfrm>
            <a:off x="6219840" y="4344413"/>
            <a:ext cx="21255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>
              <a:buClr>
                <a:srgbClr val="000000"/>
              </a:buClr>
            </a:pPr>
            <a:r>
              <a:rPr lang="en" sz="1200" kern="0" dirty="0">
                <a:solidFill>
                  <a:srgbClr val="B4EBF0"/>
                </a:solidFill>
                <a:latin typeface="Exo 2"/>
                <a:cs typeface="Arial"/>
                <a:sym typeface="Arial"/>
              </a:rPr>
              <a:t>5.* Competition Tips &amp; Final Thoughts</a:t>
            </a:r>
            <a:endParaRPr sz="1200" kern="0" dirty="0">
              <a:solidFill>
                <a:srgbClr val="B4EBF0"/>
              </a:solidFill>
              <a:latin typeface="Exo 2"/>
              <a:cs typeface="Arial"/>
              <a:sym typeface="Arial"/>
            </a:endParaRPr>
          </a:p>
        </p:txBody>
      </p:sp>
      <p:cxnSp>
        <p:nvCxnSpPr>
          <p:cNvPr id="29" name="Google Shape;253;p39">
            <a:extLst>
              <a:ext uri="{FF2B5EF4-FFF2-40B4-BE49-F238E27FC236}">
                <a16:creationId xmlns:a16="http://schemas.microsoft.com/office/drawing/2014/main" id="{83D54D0B-E89E-5AFB-7532-752D8B42179B}"/>
              </a:ext>
            </a:extLst>
          </p:cNvPr>
          <p:cNvCxnSpPr>
            <a:cxnSpLocks/>
          </p:cNvCxnSpPr>
          <p:nvPr/>
        </p:nvCxnSpPr>
        <p:spPr>
          <a:xfrm flipV="1">
            <a:off x="5847310" y="4765872"/>
            <a:ext cx="370594" cy="101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E5D3D-EC0D-6939-695F-B4064745C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3450" y="762000"/>
            <a:ext cx="4893818" cy="492443"/>
          </a:xfrm>
        </p:spPr>
        <p:txBody>
          <a:bodyPr/>
          <a:lstStyle/>
          <a:p>
            <a:r>
              <a:rPr lang="de-DE" sz="3200" spc="-280" dirty="0">
                <a:solidFill>
                  <a:srgbClr val="374D81"/>
                </a:solidFill>
              </a:rPr>
              <a:t>CM </a:t>
            </a:r>
            <a:r>
              <a:rPr lang="de-DE" sz="3200" spc="-280" dirty="0" err="1">
                <a:solidFill>
                  <a:srgbClr val="374D81"/>
                </a:solidFill>
              </a:rPr>
              <a:t>for</a:t>
            </a:r>
            <a:r>
              <a:rPr lang="de-DE" sz="3200" spc="-280" dirty="0">
                <a:solidFill>
                  <a:srgbClr val="374D81"/>
                </a:solidFill>
              </a:rPr>
              <a:t> Spam Filter</a:t>
            </a:r>
            <a:endParaRPr lang="en-US" sz="3200" spc="-280" dirty="0">
              <a:solidFill>
                <a:srgbClr val="374D81"/>
              </a:solidFill>
            </a:endParaRP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7A9BB411-E486-F166-6AC6-65BF55184E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66800" y="2286000"/>
            <a:ext cx="7555398" cy="391645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100"/>
              </a:spcBef>
            </a:pPr>
            <a:endParaRPr lang="en-US" sz="1800" b="1" spc="-10" dirty="0"/>
          </a:p>
          <a:p>
            <a:pPr marL="298450" marR="5080" indent="-285750" algn="just">
              <a:lnSpc>
                <a:spcPct val="10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1800" b="1" spc="-10" dirty="0">
                <a:latin typeface="Calibri"/>
                <a:cs typeface="Calibri"/>
              </a:rPr>
              <a:t>Spam filter is based on ML model</a:t>
            </a:r>
            <a:r>
              <a:rPr lang="en-US" sz="1800" b="1" spc="-5" dirty="0"/>
              <a:t>,</a:t>
            </a:r>
            <a:r>
              <a:rPr lang="en-US" sz="1800" b="1" spc="-5" dirty="0">
                <a:latin typeface="Calibri"/>
                <a:cs typeface="Calibri"/>
              </a:rPr>
              <a:t> </a:t>
            </a:r>
            <a:r>
              <a:rPr lang="en-US" sz="1800" b="1" spc="-5" dirty="0">
                <a:solidFill>
                  <a:srgbClr val="FF0000"/>
                </a:solidFill>
                <a:latin typeface="Calibri"/>
                <a:cs typeface="Calibri"/>
              </a:rPr>
              <a:t>the </a:t>
            </a:r>
            <a:r>
              <a:rPr lang="en-US" sz="1800" b="1" spc="-10" dirty="0">
                <a:solidFill>
                  <a:srgbClr val="FF0000"/>
                </a:solidFill>
                <a:latin typeface="Calibri"/>
                <a:cs typeface="Calibri"/>
              </a:rPr>
              <a:t>goal </a:t>
            </a:r>
            <a:r>
              <a:rPr lang="en-US" sz="1800" b="1" dirty="0">
                <a:solidFill>
                  <a:srgbClr val="FF0000"/>
                </a:solidFill>
                <a:latin typeface="Calibri"/>
                <a:cs typeface="Calibri"/>
              </a:rPr>
              <a:t>is to </a:t>
            </a:r>
            <a:r>
              <a:rPr lang="en-US" sz="1800" b="1" spc="-10" dirty="0">
                <a:solidFill>
                  <a:srgbClr val="FF0000"/>
                </a:solidFill>
                <a:latin typeface="Calibri"/>
                <a:cs typeface="Calibri"/>
              </a:rPr>
              <a:t>minimize the </a:t>
            </a:r>
            <a:r>
              <a:rPr lang="en-US" sz="1800" b="1" spc="-5" dirty="0">
                <a:solidFill>
                  <a:srgbClr val="FF0000"/>
                </a:solidFill>
                <a:latin typeface="Calibri"/>
                <a:cs typeface="Calibri"/>
              </a:rPr>
              <a:t>cost </a:t>
            </a:r>
            <a:r>
              <a:rPr lang="en-US" sz="1800" b="1" dirty="0">
                <a:solidFill>
                  <a:srgbClr val="FF0000"/>
                </a:solidFill>
                <a:latin typeface="Calibri"/>
                <a:cs typeface="Calibri"/>
              </a:rPr>
              <a:t>of </a:t>
            </a:r>
            <a:r>
              <a:rPr lang="en-US" sz="1800" b="1" spc="-10" dirty="0">
                <a:solidFill>
                  <a:srgbClr val="FF0000"/>
                </a:solidFill>
                <a:latin typeface="Calibri"/>
                <a:cs typeface="Calibri"/>
              </a:rPr>
              <a:t>erroneous decisions in the </a:t>
            </a:r>
            <a:r>
              <a:rPr lang="en-US" sz="1800" b="1" spc="-5" dirty="0">
                <a:solidFill>
                  <a:srgbClr val="FF0000"/>
                </a:solidFill>
                <a:latin typeface="Calibri"/>
                <a:cs typeface="Calibri"/>
              </a:rPr>
              <a:t> long term; </a:t>
            </a:r>
            <a:r>
              <a:rPr lang="en-US" sz="1800" i="1" spc="-5" dirty="0">
                <a:latin typeface="Calibri"/>
                <a:cs typeface="Calibri"/>
              </a:rPr>
              <a:t>E.g., </a:t>
            </a:r>
            <a:r>
              <a:rPr lang="en-US" sz="1800" i="1" dirty="0">
                <a:highlight>
                  <a:srgbClr val="FFFF00"/>
                </a:highlight>
                <a:latin typeface="Calibri"/>
                <a:cs typeface="Calibri"/>
              </a:rPr>
              <a:t>a </a:t>
            </a:r>
            <a:r>
              <a:rPr lang="en-US" sz="1800" i="1" spc="-5" dirty="0">
                <a:highlight>
                  <a:srgbClr val="FFFF00"/>
                </a:highlight>
                <a:latin typeface="Calibri"/>
                <a:cs typeface="Calibri"/>
              </a:rPr>
              <a:t>spam filter is an agent </a:t>
            </a:r>
            <a:r>
              <a:rPr lang="en-US" sz="1800" i="1" dirty="0">
                <a:highlight>
                  <a:srgbClr val="FFFF00"/>
                </a:highlight>
                <a:latin typeface="Calibri"/>
                <a:cs typeface="Calibri"/>
              </a:rPr>
              <a:t>that </a:t>
            </a:r>
            <a:r>
              <a:rPr lang="en-US" sz="1800" i="1" spc="-5" dirty="0">
                <a:highlight>
                  <a:srgbClr val="FFFF00"/>
                </a:highlight>
                <a:latin typeface="Calibri"/>
                <a:cs typeface="Calibri"/>
              </a:rPr>
              <a:t>puts incoming emails into wanted </a:t>
            </a:r>
            <a:r>
              <a:rPr lang="en-US" sz="1800" i="1" dirty="0">
                <a:highlight>
                  <a:srgbClr val="FFFF00"/>
                </a:highlight>
                <a:latin typeface="Calibri"/>
                <a:cs typeface="Calibri"/>
              </a:rPr>
              <a:t>or </a:t>
            </a:r>
            <a:r>
              <a:rPr lang="en-US" sz="1800" i="1" spc="-5" dirty="0">
                <a:highlight>
                  <a:srgbClr val="FFFF00"/>
                </a:highlight>
                <a:latin typeface="Calibri"/>
                <a:cs typeface="Calibri"/>
              </a:rPr>
              <a:t>unwanted (spam) categories </a:t>
            </a:r>
            <a:r>
              <a:rPr lang="en-US" sz="1800" i="1" dirty="0">
                <a:highlight>
                  <a:srgbClr val="FFFF00"/>
                </a:highlight>
                <a:latin typeface="Calibri"/>
                <a:cs typeface="Calibri"/>
              </a:rPr>
              <a:t>&amp; </a:t>
            </a:r>
            <a:r>
              <a:rPr lang="en-US" sz="1800" i="1" spc="-5" dirty="0">
                <a:highlight>
                  <a:srgbClr val="FFFF00"/>
                </a:highlight>
                <a:latin typeface="Calibri"/>
                <a:cs typeface="Calibri"/>
              </a:rPr>
              <a:t>deletes any unwanted emails</a:t>
            </a:r>
            <a:r>
              <a:rPr lang="en-US" sz="1800" i="1" spc="-5" dirty="0">
                <a:latin typeface="Calibri"/>
                <a:cs typeface="Calibri"/>
              </a:rPr>
              <a:t>.</a:t>
            </a:r>
          </a:p>
          <a:p>
            <a:pPr marL="298450" marR="5080" indent="-285750" algn="just">
              <a:lnSpc>
                <a:spcPct val="10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1800" i="1" dirty="0">
                <a:latin typeface="Calibri"/>
                <a:cs typeface="Calibri"/>
              </a:rPr>
              <a:t>Its </a:t>
            </a:r>
            <a:r>
              <a:rPr lang="en-US" sz="1800" i="1" spc="-5" dirty="0">
                <a:latin typeface="Calibri"/>
                <a:cs typeface="Calibri"/>
              </a:rPr>
              <a:t>goal as </a:t>
            </a:r>
            <a:r>
              <a:rPr lang="en-US" sz="1800" i="1" dirty="0">
                <a:latin typeface="Calibri"/>
                <a:cs typeface="Calibri"/>
              </a:rPr>
              <a:t>a </a:t>
            </a:r>
            <a:r>
              <a:rPr lang="en-US" sz="1800" i="1" u="sng" spc="-5" dirty="0">
                <a:latin typeface="Calibri"/>
                <a:cs typeface="Calibri"/>
              </a:rPr>
              <a:t>goal-based </a:t>
            </a:r>
            <a:r>
              <a:rPr lang="en-US" sz="1800" i="1" u="sng" spc="-5" dirty="0"/>
              <a:t>software </a:t>
            </a:r>
            <a:r>
              <a:rPr lang="en-US" sz="1800" i="1" u="sng" spc="-5" dirty="0">
                <a:latin typeface="Calibri"/>
                <a:cs typeface="Calibri"/>
              </a:rPr>
              <a:t>agent</a:t>
            </a:r>
            <a:r>
              <a:rPr lang="en-US" sz="1800" i="1" spc="-5" dirty="0">
                <a:latin typeface="Calibri"/>
                <a:cs typeface="Calibri"/>
              </a:rPr>
              <a:t> is </a:t>
            </a:r>
            <a:r>
              <a:rPr lang="en-US" sz="1800" i="1" dirty="0">
                <a:latin typeface="Calibri"/>
                <a:cs typeface="Calibri"/>
              </a:rPr>
              <a:t>to </a:t>
            </a:r>
            <a:r>
              <a:rPr lang="en-US" sz="1800" i="1" spc="-5" dirty="0">
                <a:latin typeface="Calibri"/>
                <a:cs typeface="Calibri"/>
              </a:rPr>
              <a:t>put </a:t>
            </a:r>
            <a:r>
              <a:rPr lang="en-US" sz="1800" i="1" dirty="0">
                <a:latin typeface="Calibri"/>
                <a:cs typeface="Calibri"/>
              </a:rPr>
              <a:t>all emails </a:t>
            </a:r>
            <a:r>
              <a:rPr lang="en-US" sz="1800" i="1" spc="-5" dirty="0">
                <a:latin typeface="Calibri"/>
                <a:cs typeface="Calibri"/>
              </a:rPr>
              <a:t>in </a:t>
            </a:r>
            <a:r>
              <a:rPr lang="en-US" sz="1800" i="1" dirty="0">
                <a:latin typeface="Calibri"/>
                <a:cs typeface="Calibri"/>
              </a:rPr>
              <a:t>the </a:t>
            </a:r>
            <a:r>
              <a:rPr lang="en-US" sz="1800" i="1" spc="-5" dirty="0">
                <a:latin typeface="Calibri"/>
                <a:cs typeface="Calibri"/>
              </a:rPr>
              <a:t>right category. </a:t>
            </a:r>
            <a:r>
              <a:rPr lang="en-US" sz="1800" i="1" dirty="0">
                <a:latin typeface="Calibri"/>
                <a:cs typeface="Calibri"/>
              </a:rPr>
              <a:t>In the </a:t>
            </a:r>
            <a:r>
              <a:rPr lang="en-US" sz="1800" i="1" spc="-5" dirty="0">
                <a:latin typeface="Calibri"/>
                <a:cs typeface="Calibri"/>
              </a:rPr>
              <a:t>course </a:t>
            </a:r>
            <a:r>
              <a:rPr lang="en-US" sz="1800" i="1" dirty="0">
                <a:latin typeface="Calibri"/>
                <a:cs typeface="Calibri"/>
              </a:rPr>
              <a:t>of this not-so-</a:t>
            </a:r>
            <a:r>
              <a:rPr lang="en-US" sz="1800" i="1" spc="-5" dirty="0">
                <a:latin typeface="Calibri"/>
                <a:cs typeface="Calibri"/>
              </a:rPr>
              <a:t>simple</a:t>
            </a:r>
            <a:r>
              <a:rPr lang="en-US" sz="1800" i="1" dirty="0">
                <a:latin typeface="Calibri"/>
                <a:cs typeface="Calibri"/>
              </a:rPr>
              <a:t> </a:t>
            </a:r>
            <a:r>
              <a:rPr lang="en-US" sz="1800" i="1" spc="-5" dirty="0">
                <a:latin typeface="Calibri"/>
                <a:cs typeface="Calibri"/>
              </a:rPr>
              <a:t>task,</a:t>
            </a:r>
            <a:r>
              <a:rPr lang="en-US" sz="1800" i="1" dirty="0">
                <a:latin typeface="Calibri"/>
                <a:cs typeface="Calibri"/>
              </a:rPr>
              <a:t> the</a:t>
            </a:r>
            <a:r>
              <a:rPr lang="en-US" sz="1800" i="1" spc="5" dirty="0">
                <a:latin typeface="Calibri"/>
                <a:cs typeface="Calibri"/>
              </a:rPr>
              <a:t> </a:t>
            </a:r>
            <a:r>
              <a:rPr lang="en-US" sz="1800" i="1" spc="-5" dirty="0">
                <a:latin typeface="Calibri"/>
                <a:cs typeface="Calibri"/>
              </a:rPr>
              <a:t>agent</a:t>
            </a:r>
            <a:r>
              <a:rPr lang="en-US" sz="1800" i="1" dirty="0">
                <a:latin typeface="Calibri"/>
                <a:cs typeface="Calibri"/>
              </a:rPr>
              <a:t> </a:t>
            </a:r>
            <a:r>
              <a:rPr lang="en-US" sz="1800" i="1" spc="-5" dirty="0">
                <a:latin typeface="Calibri"/>
                <a:cs typeface="Calibri"/>
              </a:rPr>
              <a:t>can</a:t>
            </a:r>
            <a:r>
              <a:rPr lang="en-US" sz="1800" i="1" dirty="0">
                <a:latin typeface="Calibri"/>
                <a:cs typeface="Calibri"/>
              </a:rPr>
              <a:t> </a:t>
            </a:r>
            <a:r>
              <a:rPr lang="en-US" sz="1800" i="1" spc="-5" dirty="0">
                <a:latin typeface="Calibri"/>
                <a:cs typeface="Calibri"/>
              </a:rPr>
              <a:t>occasionally</a:t>
            </a:r>
            <a:r>
              <a:rPr lang="en-US" sz="1800" i="1" dirty="0">
                <a:latin typeface="Calibri"/>
                <a:cs typeface="Calibri"/>
              </a:rPr>
              <a:t> make</a:t>
            </a:r>
            <a:r>
              <a:rPr lang="en-US" sz="1800" i="1" spc="5" dirty="0">
                <a:latin typeface="Calibri"/>
                <a:cs typeface="Calibri"/>
              </a:rPr>
              <a:t> </a:t>
            </a:r>
            <a:r>
              <a:rPr lang="en-US" sz="1800" i="1" spc="-5" dirty="0">
                <a:latin typeface="Calibri"/>
                <a:cs typeface="Calibri"/>
              </a:rPr>
              <a:t>mistakes.</a:t>
            </a:r>
            <a:r>
              <a:rPr lang="en-US" sz="1800" i="1" dirty="0">
                <a:latin typeface="Calibri"/>
                <a:cs typeface="Calibri"/>
              </a:rPr>
              <a:t> </a:t>
            </a:r>
            <a:r>
              <a:rPr lang="en-US" sz="1800" i="1" spc="-5" dirty="0">
                <a:latin typeface="Calibri"/>
                <a:cs typeface="Calibri"/>
              </a:rPr>
              <a:t>Because</a:t>
            </a:r>
            <a:r>
              <a:rPr lang="en-US" sz="1800" i="1" dirty="0">
                <a:latin typeface="Calibri"/>
                <a:cs typeface="Calibri"/>
              </a:rPr>
              <a:t> </a:t>
            </a:r>
            <a:r>
              <a:rPr lang="en-US" sz="1800" i="1" spc="-5" dirty="0">
                <a:latin typeface="Calibri"/>
                <a:cs typeface="Calibri"/>
              </a:rPr>
              <a:t>its</a:t>
            </a:r>
            <a:r>
              <a:rPr lang="en-US" sz="1800" i="1" dirty="0">
                <a:latin typeface="Calibri"/>
                <a:cs typeface="Calibri"/>
              </a:rPr>
              <a:t> </a:t>
            </a:r>
            <a:r>
              <a:rPr lang="en-US" sz="1800" i="1" spc="-5" dirty="0">
                <a:latin typeface="Calibri"/>
                <a:cs typeface="Calibri"/>
              </a:rPr>
              <a:t>goal</a:t>
            </a:r>
            <a:r>
              <a:rPr lang="en-US" sz="1800" i="1" spc="395" dirty="0">
                <a:latin typeface="Calibri"/>
                <a:cs typeface="Calibri"/>
              </a:rPr>
              <a:t> </a:t>
            </a:r>
            <a:r>
              <a:rPr lang="en-US" sz="1800" i="1" spc="-5" dirty="0">
                <a:latin typeface="Calibri"/>
                <a:cs typeface="Calibri"/>
              </a:rPr>
              <a:t>is</a:t>
            </a:r>
            <a:r>
              <a:rPr lang="en-US" sz="1800" i="1" spc="395" dirty="0">
                <a:latin typeface="Calibri"/>
                <a:cs typeface="Calibri"/>
              </a:rPr>
              <a:t> </a:t>
            </a:r>
            <a:r>
              <a:rPr lang="en-US" sz="1800" i="1" spc="-5" dirty="0">
                <a:latin typeface="Calibri"/>
                <a:cs typeface="Calibri"/>
              </a:rPr>
              <a:t>to </a:t>
            </a:r>
            <a:r>
              <a:rPr lang="en-US" sz="1800" i="1" dirty="0">
                <a:latin typeface="Calibri"/>
                <a:cs typeface="Calibri"/>
              </a:rPr>
              <a:t> </a:t>
            </a:r>
            <a:r>
              <a:rPr lang="en-US" sz="1800" i="1" spc="-5" dirty="0">
                <a:latin typeface="Calibri"/>
                <a:cs typeface="Calibri"/>
              </a:rPr>
              <a:t>classify</a:t>
            </a:r>
            <a:r>
              <a:rPr lang="en-US" sz="1800" i="1" dirty="0">
                <a:latin typeface="Calibri"/>
                <a:cs typeface="Calibri"/>
              </a:rPr>
              <a:t> all</a:t>
            </a:r>
            <a:r>
              <a:rPr lang="en-US" sz="1800" i="1" spc="5" dirty="0">
                <a:latin typeface="Calibri"/>
                <a:cs typeface="Calibri"/>
              </a:rPr>
              <a:t> </a:t>
            </a:r>
            <a:r>
              <a:rPr lang="en-US" sz="1800" i="1" dirty="0">
                <a:latin typeface="Calibri"/>
                <a:cs typeface="Calibri"/>
              </a:rPr>
              <a:t>emails</a:t>
            </a:r>
            <a:r>
              <a:rPr lang="en-US" sz="1800" i="1" spc="5" dirty="0">
                <a:latin typeface="Calibri"/>
                <a:cs typeface="Calibri"/>
              </a:rPr>
              <a:t> </a:t>
            </a:r>
            <a:r>
              <a:rPr lang="en-US" sz="1800" i="1" spc="-5" dirty="0">
                <a:latin typeface="Calibri"/>
                <a:cs typeface="Calibri"/>
              </a:rPr>
              <a:t>correctly,</a:t>
            </a:r>
            <a:r>
              <a:rPr lang="en-US" sz="1800" i="1" dirty="0">
                <a:latin typeface="Calibri"/>
                <a:cs typeface="Calibri"/>
              </a:rPr>
              <a:t> </a:t>
            </a:r>
            <a:r>
              <a:rPr lang="en-US" sz="1800" i="1" spc="-5" dirty="0">
                <a:latin typeface="Calibri"/>
                <a:cs typeface="Calibri"/>
              </a:rPr>
              <a:t>it</a:t>
            </a:r>
            <a:r>
              <a:rPr lang="en-US" sz="1800" i="1" dirty="0">
                <a:latin typeface="Calibri"/>
                <a:cs typeface="Calibri"/>
              </a:rPr>
              <a:t> </a:t>
            </a:r>
            <a:r>
              <a:rPr lang="en-US" sz="1800" i="1" spc="-5" dirty="0">
                <a:latin typeface="Calibri"/>
                <a:cs typeface="Calibri"/>
              </a:rPr>
              <a:t>will</a:t>
            </a:r>
            <a:r>
              <a:rPr lang="en-US" sz="1800" i="1" dirty="0">
                <a:latin typeface="Calibri"/>
                <a:cs typeface="Calibri"/>
              </a:rPr>
              <a:t> </a:t>
            </a:r>
            <a:r>
              <a:rPr lang="en-US" sz="1800" i="1" spc="-5" dirty="0">
                <a:latin typeface="Calibri"/>
                <a:cs typeface="Calibri"/>
              </a:rPr>
              <a:t>attempt</a:t>
            </a:r>
            <a:r>
              <a:rPr lang="en-US" sz="1800" i="1" dirty="0">
                <a:latin typeface="Calibri"/>
                <a:cs typeface="Calibri"/>
              </a:rPr>
              <a:t> </a:t>
            </a:r>
            <a:r>
              <a:rPr lang="en-US" sz="1800" i="1" spc="-5" dirty="0">
                <a:latin typeface="Calibri"/>
                <a:cs typeface="Calibri"/>
              </a:rPr>
              <a:t>to</a:t>
            </a:r>
            <a:r>
              <a:rPr lang="en-US" sz="1800" i="1" dirty="0">
                <a:latin typeface="Calibri"/>
                <a:cs typeface="Calibri"/>
              </a:rPr>
              <a:t> make</a:t>
            </a:r>
            <a:r>
              <a:rPr lang="en-US" sz="1800" i="1" spc="5" dirty="0">
                <a:latin typeface="Calibri"/>
                <a:cs typeface="Calibri"/>
              </a:rPr>
              <a:t> </a:t>
            </a:r>
            <a:r>
              <a:rPr lang="en-US" sz="1800" i="1" spc="-5" dirty="0">
                <a:latin typeface="Calibri"/>
                <a:cs typeface="Calibri"/>
              </a:rPr>
              <a:t>as</a:t>
            </a:r>
            <a:r>
              <a:rPr lang="en-US" sz="1800" i="1" dirty="0">
                <a:latin typeface="Calibri"/>
                <a:cs typeface="Calibri"/>
              </a:rPr>
              <a:t> </a:t>
            </a:r>
            <a:r>
              <a:rPr lang="en-US" sz="1800" i="1" dirty="0">
                <a:highlight>
                  <a:srgbClr val="FFFF00"/>
                </a:highlight>
                <a:latin typeface="Calibri"/>
                <a:cs typeface="Calibri"/>
              </a:rPr>
              <a:t>few</a:t>
            </a:r>
            <a:r>
              <a:rPr lang="en-US" sz="1800" i="1" spc="5" dirty="0">
                <a:highlight>
                  <a:srgbClr val="FFFF00"/>
                </a:highlight>
                <a:latin typeface="Calibri"/>
                <a:cs typeface="Calibri"/>
              </a:rPr>
              <a:t> </a:t>
            </a:r>
            <a:r>
              <a:rPr lang="en-US" sz="1800" i="1" u="sng" spc="-5" dirty="0">
                <a:solidFill>
                  <a:srgbClr val="FF0000"/>
                </a:solidFill>
                <a:highlight>
                  <a:srgbClr val="FFFF00"/>
                </a:highlight>
                <a:latin typeface="Calibri"/>
                <a:cs typeface="Calibri"/>
              </a:rPr>
              <a:t>errors</a:t>
            </a:r>
            <a:r>
              <a:rPr lang="en-US" sz="1800" i="1" dirty="0">
                <a:highlight>
                  <a:srgbClr val="FFFF00"/>
                </a:highlight>
                <a:latin typeface="Calibri"/>
                <a:cs typeface="Calibri"/>
              </a:rPr>
              <a:t> </a:t>
            </a:r>
            <a:r>
              <a:rPr lang="en-US" sz="1800" i="1" spc="-5" dirty="0">
                <a:highlight>
                  <a:srgbClr val="FFFF00"/>
                </a:highlight>
                <a:latin typeface="Calibri"/>
                <a:cs typeface="Calibri"/>
              </a:rPr>
              <a:t>as</a:t>
            </a:r>
            <a:r>
              <a:rPr lang="en-US" sz="1800" i="1" dirty="0">
                <a:highlight>
                  <a:srgbClr val="FFFF00"/>
                </a:highlight>
                <a:latin typeface="Calibri"/>
                <a:cs typeface="Calibri"/>
              </a:rPr>
              <a:t> </a:t>
            </a:r>
            <a:r>
              <a:rPr lang="en-US" sz="1800" i="1" spc="-5" dirty="0">
                <a:highlight>
                  <a:srgbClr val="FFFF00"/>
                </a:highlight>
                <a:latin typeface="Calibri"/>
                <a:cs typeface="Calibri"/>
              </a:rPr>
              <a:t>possible</a:t>
            </a:r>
            <a:r>
              <a:rPr lang="en-US" sz="1800" i="1" spc="-5" dirty="0">
                <a:latin typeface="Calibri"/>
                <a:cs typeface="Calibri"/>
              </a:rPr>
              <a:t>. </a:t>
            </a:r>
            <a:r>
              <a:rPr lang="en-US" sz="1800" i="1" dirty="0">
                <a:latin typeface="Calibri"/>
                <a:cs typeface="Calibri"/>
              </a:rPr>
              <a:t> </a:t>
            </a:r>
            <a:r>
              <a:rPr lang="en-US" sz="1800" i="1" spc="-5" dirty="0">
                <a:latin typeface="Calibri"/>
                <a:cs typeface="Calibri"/>
              </a:rPr>
              <a:t>However,</a:t>
            </a:r>
            <a:r>
              <a:rPr lang="en-US" sz="1800" i="1" dirty="0">
                <a:latin typeface="Calibri"/>
                <a:cs typeface="Calibri"/>
              </a:rPr>
              <a:t> that</a:t>
            </a:r>
            <a:r>
              <a:rPr lang="en-US" sz="1800" i="1" spc="5" dirty="0">
                <a:latin typeface="Calibri"/>
                <a:cs typeface="Calibri"/>
              </a:rPr>
              <a:t> </a:t>
            </a:r>
            <a:r>
              <a:rPr lang="en-US" sz="1800" i="1" dirty="0">
                <a:latin typeface="Calibri"/>
                <a:cs typeface="Calibri"/>
              </a:rPr>
              <a:t>is</a:t>
            </a:r>
            <a:r>
              <a:rPr lang="en-US" sz="1800" i="1" spc="5" dirty="0">
                <a:latin typeface="Calibri"/>
                <a:cs typeface="Calibri"/>
              </a:rPr>
              <a:t> </a:t>
            </a:r>
            <a:r>
              <a:rPr lang="en-US" sz="1800" i="1" spc="-5" dirty="0">
                <a:latin typeface="Calibri"/>
                <a:cs typeface="Calibri"/>
              </a:rPr>
              <a:t>not</a:t>
            </a:r>
            <a:r>
              <a:rPr lang="en-US" sz="1800" i="1" dirty="0">
                <a:latin typeface="Calibri"/>
                <a:cs typeface="Calibri"/>
              </a:rPr>
              <a:t> always</a:t>
            </a:r>
            <a:r>
              <a:rPr lang="en-US" sz="1800" i="1" spc="5" dirty="0">
                <a:latin typeface="Calibri"/>
                <a:cs typeface="Calibri"/>
              </a:rPr>
              <a:t> </a:t>
            </a:r>
            <a:r>
              <a:rPr lang="en-US" sz="1800" i="1" spc="-5" dirty="0">
                <a:latin typeface="Calibri"/>
                <a:cs typeface="Calibri"/>
              </a:rPr>
              <a:t>what</a:t>
            </a:r>
            <a:r>
              <a:rPr lang="en-US" sz="1800" i="1" dirty="0">
                <a:latin typeface="Calibri"/>
                <a:cs typeface="Calibri"/>
              </a:rPr>
              <a:t> the</a:t>
            </a:r>
            <a:r>
              <a:rPr lang="en-US" sz="1800" i="1" spc="5" dirty="0">
                <a:latin typeface="Calibri"/>
                <a:cs typeface="Calibri"/>
              </a:rPr>
              <a:t> </a:t>
            </a:r>
            <a:r>
              <a:rPr lang="en-US" sz="1800" i="1" spc="-5" dirty="0">
                <a:latin typeface="Calibri"/>
                <a:cs typeface="Calibri"/>
              </a:rPr>
              <a:t>user</a:t>
            </a:r>
            <a:r>
              <a:rPr lang="en-US" sz="1800" i="1" dirty="0">
                <a:latin typeface="Calibri"/>
                <a:cs typeface="Calibri"/>
              </a:rPr>
              <a:t> has</a:t>
            </a:r>
            <a:r>
              <a:rPr lang="en-US" sz="1800" i="1" spc="5" dirty="0">
                <a:latin typeface="Calibri"/>
                <a:cs typeface="Calibri"/>
              </a:rPr>
              <a:t> </a:t>
            </a:r>
            <a:r>
              <a:rPr lang="en-US" sz="1800" i="1" spc="-5" dirty="0">
                <a:latin typeface="Calibri"/>
                <a:cs typeface="Calibri"/>
              </a:rPr>
              <a:t>in</a:t>
            </a:r>
            <a:r>
              <a:rPr lang="en-US" sz="1800" i="1" dirty="0">
                <a:latin typeface="Calibri"/>
                <a:cs typeface="Calibri"/>
              </a:rPr>
              <a:t> mind.</a:t>
            </a:r>
            <a:r>
              <a:rPr lang="en-US" sz="1800" i="1" spc="5" dirty="0">
                <a:latin typeface="Calibri"/>
                <a:cs typeface="Calibri"/>
              </a:rPr>
              <a:t> </a:t>
            </a:r>
            <a:r>
              <a:rPr lang="en-US" sz="1800" i="1" spc="-5" dirty="0">
                <a:latin typeface="Calibri"/>
                <a:cs typeface="Calibri"/>
              </a:rPr>
              <a:t>Let</a:t>
            </a:r>
            <a:r>
              <a:rPr lang="en-US" sz="1800" i="1" dirty="0">
                <a:latin typeface="Calibri"/>
                <a:cs typeface="Calibri"/>
              </a:rPr>
              <a:t> </a:t>
            </a:r>
            <a:r>
              <a:rPr lang="en-US" sz="1800" i="1" spc="-5" dirty="0">
                <a:latin typeface="Calibri"/>
                <a:cs typeface="Calibri"/>
              </a:rPr>
              <a:t>us</a:t>
            </a:r>
            <a:r>
              <a:rPr lang="en-US" sz="1800" i="1" spc="395" dirty="0">
                <a:latin typeface="Calibri"/>
                <a:cs typeface="Calibri"/>
              </a:rPr>
              <a:t> </a:t>
            </a:r>
            <a:r>
              <a:rPr lang="en-US" sz="1800" i="1" spc="-5" dirty="0">
                <a:latin typeface="Calibri"/>
                <a:cs typeface="Calibri"/>
              </a:rPr>
              <a:t>compare</a:t>
            </a:r>
            <a:r>
              <a:rPr lang="en-US" sz="1800" i="1" spc="395" dirty="0">
                <a:latin typeface="Calibri"/>
                <a:cs typeface="Calibri"/>
              </a:rPr>
              <a:t> </a:t>
            </a:r>
            <a:r>
              <a:rPr lang="en-US" sz="1800" i="1" spc="-5" dirty="0">
                <a:latin typeface="Calibri"/>
                <a:cs typeface="Calibri"/>
              </a:rPr>
              <a:t>the </a:t>
            </a:r>
            <a:r>
              <a:rPr lang="en-US" sz="1800" i="1" dirty="0">
                <a:latin typeface="Calibri"/>
                <a:cs typeface="Calibri"/>
              </a:rPr>
              <a:t> </a:t>
            </a:r>
            <a:r>
              <a:rPr lang="en-US" sz="1800" i="1" spc="-5" dirty="0">
                <a:latin typeface="Calibri"/>
                <a:cs typeface="Calibri"/>
              </a:rPr>
              <a:t>following</a:t>
            </a:r>
            <a:r>
              <a:rPr lang="en-US" sz="1800" i="1" dirty="0">
                <a:latin typeface="Calibri"/>
                <a:cs typeface="Calibri"/>
              </a:rPr>
              <a:t> </a:t>
            </a:r>
            <a:r>
              <a:rPr lang="en-US" sz="1800" i="1" spc="-5" dirty="0">
                <a:latin typeface="Calibri"/>
                <a:cs typeface="Calibri"/>
              </a:rPr>
              <a:t>two</a:t>
            </a:r>
            <a:r>
              <a:rPr lang="en-US" sz="1800" i="1" dirty="0">
                <a:latin typeface="Calibri"/>
                <a:cs typeface="Calibri"/>
              </a:rPr>
              <a:t> </a:t>
            </a:r>
            <a:r>
              <a:rPr lang="en-US" sz="1800" i="1" spc="-5" dirty="0">
                <a:latin typeface="Calibri"/>
                <a:cs typeface="Calibri"/>
              </a:rPr>
              <a:t>agents.</a:t>
            </a:r>
            <a:r>
              <a:rPr lang="en-US" sz="1800" i="1" dirty="0">
                <a:latin typeface="Calibri"/>
                <a:cs typeface="Calibri"/>
              </a:rPr>
              <a:t> </a:t>
            </a:r>
            <a:r>
              <a:rPr lang="en-US" sz="1800" i="1" spc="-5" dirty="0">
                <a:latin typeface="Calibri"/>
                <a:cs typeface="Calibri"/>
              </a:rPr>
              <a:t>Out of</a:t>
            </a:r>
            <a:r>
              <a:rPr lang="en-US" sz="1800" i="1" spc="395" dirty="0">
                <a:latin typeface="Calibri"/>
                <a:cs typeface="Calibri"/>
              </a:rPr>
              <a:t> </a:t>
            </a:r>
            <a:r>
              <a:rPr lang="en-US" sz="1800" i="1" spc="-5" dirty="0">
                <a:latin typeface="Calibri"/>
                <a:cs typeface="Calibri"/>
              </a:rPr>
              <a:t>1,000 </a:t>
            </a:r>
            <a:r>
              <a:rPr lang="en-US" sz="1800" i="1" dirty="0">
                <a:latin typeface="Calibri"/>
                <a:cs typeface="Calibri"/>
              </a:rPr>
              <a:t>emails, </a:t>
            </a:r>
            <a:r>
              <a:rPr lang="en-US" sz="1800" b="1" i="1" dirty="0">
                <a:latin typeface="Calibri"/>
                <a:cs typeface="Calibri"/>
              </a:rPr>
              <a:t>Agent 1 (or MLA 1)</a:t>
            </a:r>
            <a:r>
              <a:rPr lang="en-US" sz="1800" i="1" dirty="0">
                <a:latin typeface="Calibri"/>
                <a:cs typeface="Calibri"/>
              </a:rPr>
              <a:t> </a:t>
            </a:r>
            <a:r>
              <a:rPr lang="en-US" sz="1800" i="1" dirty="0">
                <a:highlight>
                  <a:srgbClr val="FFFF00"/>
                </a:highlight>
                <a:latin typeface="Calibri"/>
                <a:cs typeface="Calibri"/>
              </a:rPr>
              <a:t>makes </a:t>
            </a:r>
            <a:r>
              <a:rPr lang="en-US" sz="1800" i="1" spc="-5" dirty="0">
                <a:highlight>
                  <a:srgbClr val="FFFF00"/>
                </a:highlight>
                <a:latin typeface="Calibri"/>
                <a:cs typeface="Calibri"/>
              </a:rPr>
              <a:t>only 12 </a:t>
            </a:r>
            <a:r>
              <a:rPr lang="en-US" sz="1800" i="1" u="sng" spc="-5" dirty="0">
                <a:solidFill>
                  <a:srgbClr val="FF0000"/>
                </a:solidFill>
                <a:highlight>
                  <a:srgbClr val="FFFF00"/>
                </a:highlight>
                <a:latin typeface="Calibri"/>
                <a:cs typeface="Calibri"/>
              </a:rPr>
              <a:t>errors</a:t>
            </a:r>
            <a:r>
              <a:rPr lang="en-US" sz="1800" i="1" spc="-5" dirty="0">
                <a:latin typeface="Calibri"/>
                <a:cs typeface="Calibri"/>
              </a:rPr>
              <a:t>.</a:t>
            </a:r>
            <a:r>
              <a:rPr lang="en-US" sz="1800" i="1" spc="395" dirty="0">
                <a:latin typeface="Calibri"/>
                <a:cs typeface="Calibri"/>
              </a:rPr>
              <a:t> </a:t>
            </a:r>
            <a:r>
              <a:rPr lang="en-US" sz="1800" b="1" i="1" dirty="0">
                <a:latin typeface="Calibri"/>
                <a:cs typeface="Calibri"/>
              </a:rPr>
              <a:t>Agent 2 (MLA 2)</a:t>
            </a:r>
            <a:r>
              <a:rPr lang="en-US" sz="1800" i="1" dirty="0">
                <a:latin typeface="Calibri"/>
                <a:cs typeface="Calibri"/>
              </a:rPr>
              <a:t> </a:t>
            </a:r>
            <a:r>
              <a:rPr lang="en-US" sz="1800" i="1" spc="-395" dirty="0">
                <a:latin typeface="Calibri"/>
                <a:cs typeface="Calibri"/>
              </a:rPr>
              <a:t> </a:t>
            </a:r>
            <a:r>
              <a:rPr lang="en-US" sz="1800" i="1" dirty="0">
                <a:latin typeface="Calibri"/>
                <a:cs typeface="Calibri"/>
              </a:rPr>
              <a:t>on the </a:t>
            </a:r>
            <a:r>
              <a:rPr lang="en-US" sz="1800" i="1" spc="-5" dirty="0">
                <a:latin typeface="Calibri"/>
                <a:cs typeface="Calibri"/>
              </a:rPr>
              <a:t>other hand </a:t>
            </a:r>
            <a:r>
              <a:rPr lang="en-US" sz="1800" i="1" dirty="0">
                <a:highlight>
                  <a:srgbClr val="FFFF00"/>
                </a:highlight>
                <a:latin typeface="Calibri"/>
                <a:cs typeface="Calibri"/>
              </a:rPr>
              <a:t>makes </a:t>
            </a:r>
            <a:r>
              <a:rPr lang="en-US" sz="1800" i="1" spc="-5" dirty="0">
                <a:highlight>
                  <a:srgbClr val="FFFF00"/>
                </a:highlight>
                <a:latin typeface="Calibri"/>
                <a:cs typeface="Calibri"/>
              </a:rPr>
              <a:t>38 </a:t>
            </a:r>
            <a:r>
              <a:rPr lang="en-US" sz="1800" i="1" u="sng" dirty="0">
                <a:solidFill>
                  <a:srgbClr val="FF0000"/>
                </a:solidFill>
                <a:highlight>
                  <a:srgbClr val="FFFF00"/>
                </a:highlight>
                <a:latin typeface="Calibri"/>
                <a:cs typeface="Calibri"/>
              </a:rPr>
              <a:t>errors</a:t>
            </a:r>
            <a:r>
              <a:rPr lang="en-US" sz="1800" i="1" dirty="0">
                <a:latin typeface="Calibri"/>
                <a:cs typeface="Calibri"/>
              </a:rPr>
              <a:t> with the </a:t>
            </a:r>
            <a:r>
              <a:rPr lang="en-US" sz="1800" i="1" spc="-5" dirty="0">
                <a:latin typeface="Calibri"/>
                <a:cs typeface="Calibri"/>
              </a:rPr>
              <a:t>same 1,000 emails. </a:t>
            </a:r>
            <a:r>
              <a:rPr lang="en-US" sz="1800" i="1" dirty="0">
                <a:latin typeface="Calibri"/>
                <a:cs typeface="Calibri"/>
              </a:rPr>
              <a:t>Is </a:t>
            </a:r>
            <a:r>
              <a:rPr lang="en-US" sz="1800" i="1" spc="-5" dirty="0">
                <a:latin typeface="Calibri"/>
                <a:cs typeface="Calibri"/>
              </a:rPr>
              <a:t>it therefore worse </a:t>
            </a:r>
            <a:r>
              <a:rPr lang="en-US" sz="1800" i="1" spc="-395" dirty="0">
                <a:latin typeface="Calibri"/>
                <a:cs typeface="Calibri"/>
              </a:rPr>
              <a:t> </a:t>
            </a:r>
            <a:r>
              <a:rPr lang="en-US" sz="1800" i="1" dirty="0">
                <a:latin typeface="Calibri"/>
                <a:cs typeface="Calibri"/>
              </a:rPr>
              <a:t>than </a:t>
            </a:r>
            <a:r>
              <a:rPr lang="en-US" sz="1800" b="1" i="1" spc="-5" dirty="0">
                <a:latin typeface="Calibri"/>
                <a:cs typeface="Calibri"/>
              </a:rPr>
              <a:t>Agent 1</a:t>
            </a:r>
            <a:r>
              <a:rPr lang="en-US" sz="1800" i="1" spc="-5" dirty="0">
                <a:latin typeface="Calibri"/>
                <a:cs typeface="Calibri"/>
              </a:rPr>
              <a:t>? </a:t>
            </a:r>
            <a:r>
              <a:rPr lang="en-US" sz="1800" i="1" spc="-10" dirty="0">
                <a:latin typeface="Calibri"/>
                <a:cs typeface="Calibri"/>
              </a:rPr>
              <a:t>The </a:t>
            </a:r>
            <a:r>
              <a:rPr lang="en-US" sz="1800" i="1" u="sng" spc="-5" dirty="0">
                <a:solidFill>
                  <a:srgbClr val="FF0000"/>
                </a:solidFill>
                <a:latin typeface="Calibri"/>
                <a:cs typeface="Calibri"/>
              </a:rPr>
              <a:t>errors</a:t>
            </a:r>
            <a:r>
              <a:rPr lang="en-US" sz="1800" i="1" spc="-5" dirty="0">
                <a:latin typeface="Calibri"/>
                <a:cs typeface="Calibri"/>
              </a:rPr>
              <a:t> </a:t>
            </a:r>
            <a:r>
              <a:rPr lang="en-US" sz="1800" i="1" dirty="0">
                <a:latin typeface="Calibri"/>
                <a:cs typeface="Calibri"/>
              </a:rPr>
              <a:t>of </a:t>
            </a:r>
            <a:r>
              <a:rPr lang="en-US" sz="1800" i="1" spc="-5" dirty="0">
                <a:latin typeface="Calibri"/>
                <a:cs typeface="Calibri"/>
              </a:rPr>
              <a:t>both agents are shown in </a:t>
            </a:r>
            <a:r>
              <a:rPr lang="en-US" sz="1800" i="1" dirty="0">
                <a:latin typeface="Calibri"/>
                <a:cs typeface="Calibri"/>
              </a:rPr>
              <a:t>more </a:t>
            </a:r>
            <a:r>
              <a:rPr lang="en-US" sz="1800" i="1" spc="-5" dirty="0">
                <a:latin typeface="Calibri"/>
                <a:cs typeface="Calibri"/>
              </a:rPr>
              <a:t>detail in </a:t>
            </a:r>
            <a:r>
              <a:rPr lang="en-US" sz="1800" i="1" dirty="0">
                <a:latin typeface="Calibri"/>
                <a:cs typeface="Calibri"/>
              </a:rPr>
              <a:t>the </a:t>
            </a:r>
            <a:r>
              <a:rPr lang="en-US" sz="1800" i="1" spc="-5" dirty="0">
                <a:latin typeface="Calibri"/>
                <a:cs typeface="Calibri"/>
              </a:rPr>
              <a:t>following </a:t>
            </a:r>
            <a:r>
              <a:rPr lang="en-US" sz="1800" i="1" dirty="0">
                <a:latin typeface="Calibri"/>
                <a:cs typeface="Calibri"/>
              </a:rPr>
              <a:t> </a:t>
            </a:r>
            <a:r>
              <a:rPr lang="en-US" sz="1800" i="1" spc="-5" dirty="0">
                <a:latin typeface="Calibri"/>
                <a:cs typeface="Calibri"/>
              </a:rPr>
              <a:t>confusion</a:t>
            </a:r>
            <a:r>
              <a:rPr lang="en-US" sz="1800" i="1" spc="20" dirty="0">
                <a:latin typeface="Calibri"/>
                <a:cs typeface="Calibri"/>
              </a:rPr>
              <a:t> </a:t>
            </a:r>
            <a:r>
              <a:rPr lang="en-US" sz="1800" i="1" spc="-5" dirty="0">
                <a:latin typeface="Calibri"/>
                <a:cs typeface="Calibri"/>
              </a:rPr>
              <a:t>matrix:</a:t>
            </a:r>
            <a:endParaRPr lang="en-US" sz="1800" dirty="0">
              <a:latin typeface="Calibri"/>
              <a:cs typeface="Calibri"/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755E5837-DDFB-3CB1-342E-363DA31F58C2}"/>
              </a:ext>
            </a:extLst>
          </p:cNvPr>
          <p:cNvSpPr txBox="1"/>
          <p:nvPr/>
        </p:nvSpPr>
        <p:spPr>
          <a:xfrm>
            <a:off x="1066800" y="1507671"/>
            <a:ext cx="7555398" cy="9361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98450" marR="5080" indent="-285750" algn="just">
              <a:lnSpc>
                <a:spcPct val="10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b="1" spc="-10" dirty="0"/>
              <a:t>Reminder: ML is taken from intelligent agents.</a:t>
            </a:r>
          </a:p>
          <a:p>
            <a:pPr marL="298450" marR="5080" indent="-285750" algn="just">
              <a:lnSpc>
                <a:spcPct val="10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b="1" spc="-10" dirty="0"/>
              <a:t>ML algorithm (MLA) is a software agent.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038715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 4">
            <a:extLst>
              <a:ext uri="{FF2B5EF4-FFF2-40B4-BE49-F238E27FC236}">
                <a16:creationId xmlns:a16="http://schemas.microsoft.com/office/drawing/2014/main" id="{B83C4022-289C-F540-16B3-DD42D7AC136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685800"/>
            <a:ext cx="8686800" cy="50590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de-DE" sz="3200" spc="-280" dirty="0">
                <a:solidFill>
                  <a:srgbClr val="374D81"/>
                </a:solidFill>
              </a:rPr>
              <a:t>CM </a:t>
            </a:r>
            <a:r>
              <a:rPr lang="de-DE" sz="3200" spc="-280" dirty="0" err="1">
                <a:solidFill>
                  <a:srgbClr val="374D81"/>
                </a:solidFill>
              </a:rPr>
              <a:t>for</a:t>
            </a:r>
            <a:r>
              <a:rPr lang="de-DE" sz="3200" spc="-280" dirty="0">
                <a:solidFill>
                  <a:srgbClr val="374D81"/>
                </a:solidFill>
              </a:rPr>
              <a:t> Spam Filter</a:t>
            </a:r>
            <a:endParaRPr sz="3200" dirty="0">
              <a:latin typeface="Arial MT"/>
              <a:cs typeface="Arial MT"/>
            </a:endParaRP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D6100D7-F7EF-E8E6-A72A-2D94DFEE8C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828800"/>
            <a:ext cx="8305800" cy="1846659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1" dirty="0" err="1"/>
              <a:t>Types</a:t>
            </a:r>
            <a:r>
              <a:rPr lang="de-DE" b="1" dirty="0"/>
              <a:t> </a:t>
            </a:r>
            <a:r>
              <a:rPr lang="de-DE" b="1" dirty="0" err="1"/>
              <a:t>of</a:t>
            </a:r>
            <a:r>
              <a:rPr lang="de-DE" b="1" dirty="0"/>
              <a:t> Errors (due </a:t>
            </a:r>
            <a:r>
              <a:rPr lang="de-DE" b="1" dirty="0" err="1"/>
              <a:t>to</a:t>
            </a:r>
            <a:r>
              <a:rPr lang="de-DE" b="1" dirty="0"/>
              <a:t> miss </a:t>
            </a:r>
            <a:r>
              <a:rPr lang="de-DE" b="1" dirty="0" err="1"/>
              <a:t>classification</a:t>
            </a:r>
            <a:r>
              <a:rPr lang="de-DE" b="1" dirty="0"/>
              <a:t>):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de-DE" b="1" dirty="0"/>
              <a:t>Spam but not </a:t>
            </a:r>
            <a:r>
              <a:rPr lang="de-DE" b="1" dirty="0" err="1"/>
              <a:t>classified</a:t>
            </a:r>
            <a:r>
              <a:rPr lang="de-DE" b="1" dirty="0"/>
              <a:t> </a:t>
            </a:r>
            <a:r>
              <a:rPr lang="de-DE" b="1" dirty="0" err="1"/>
              <a:t>as</a:t>
            </a:r>
            <a:r>
              <a:rPr lang="de-DE" b="1" dirty="0"/>
              <a:t> </a:t>
            </a:r>
            <a:r>
              <a:rPr lang="de-DE" b="1" dirty="0" err="1"/>
              <a:t>spam</a:t>
            </a:r>
            <a:r>
              <a:rPr lang="de-DE" b="1" dirty="0"/>
              <a:t>, aka </a:t>
            </a:r>
            <a:r>
              <a:rPr lang="de-DE" b="1" dirty="0" err="1"/>
              <a:t>False</a:t>
            </a:r>
            <a:r>
              <a:rPr lang="de-DE" b="1" dirty="0"/>
              <a:t> positive </a:t>
            </a:r>
            <a:r>
              <a:rPr lang="de-DE" b="1" strike="sngStrike" dirty="0"/>
              <a:t>(</a:t>
            </a:r>
            <a:r>
              <a:rPr lang="de-DE" b="1" strike="sngStrike" dirty="0" err="1"/>
              <a:t>Fn</a:t>
            </a:r>
            <a:r>
              <a:rPr lang="de-DE" b="1" strike="sngStrike" dirty="0"/>
              <a:t>) </a:t>
            </a:r>
            <a:r>
              <a:rPr lang="de-DE" b="1" dirty="0">
                <a:sym typeface="Wingdings" panose="05000000000000000000" pitchFamily="2" charset="2"/>
              </a:rPr>
              <a:t> </a:t>
            </a:r>
            <a:r>
              <a:rPr lang="de-DE" b="1" dirty="0"/>
              <a:t>(</a:t>
            </a:r>
            <a:r>
              <a:rPr lang="de-DE" b="1" dirty="0" err="1"/>
              <a:t>Fp</a:t>
            </a:r>
            <a:r>
              <a:rPr lang="de-DE" b="1" dirty="0"/>
              <a:t>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de-DE" b="1" dirty="0"/>
              <a:t>Email </a:t>
            </a:r>
            <a:r>
              <a:rPr lang="de-DE" b="1" dirty="0" err="1"/>
              <a:t>which</a:t>
            </a:r>
            <a:r>
              <a:rPr lang="de-DE" b="1" dirty="0"/>
              <a:t> </a:t>
            </a:r>
            <a:r>
              <a:rPr lang="de-DE" b="1" dirty="0" err="1"/>
              <a:t>wrongly</a:t>
            </a:r>
            <a:r>
              <a:rPr lang="de-DE" b="1" dirty="0"/>
              <a:t> </a:t>
            </a:r>
            <a:r>
              <a:rPr lang="de-DE" b="1" dirty="0" err="1"/>
              <a:t>classified</a:t>
            </a:r>
            <a:r>
              <a:rPr lang="de-DE" b="1" dirty="0"/>
              <a:t> </a:t>
            </a:r>
            <a:r>
              <a:rPr lang="de-DE" b="1" dirty="0" err="1"/>
              <a:t>as</a:t>
            </a:r>
            <a:r>
              <a:rPr lang="de-DE" b="1" dirty="0"/>
              <a:t> </a:t>
            </a:r>
            <a:r>
              <a:rPr lang="de-DE" b="1" dirty="0" err="1"/>
              <a:t>spam</a:t>
            </a:r>
            <a:r>
              <a:rPr lang="de-DE" b="1" dirty="0"/>
              <a:t> (</a:t>
            </a:r>
            <a:r>
              <a:rPr lang="de-DE" b="1" dirty="0" err="1">
                <a:highlight>
                  <a:srgbClr val="FFFF00"/>
                </a:highlight>
              </a:rPr>
              <a:t>severity</a:t>
            </a:r>
            <a:r>
              <a:rPr lang="de-DE" b="1" dirty="0"/>
              <a:t>), aka </a:t>
            </a:r>
            <a:r>
              <a:rPr lang="de-DE" b="1" dirty="0" err="1"/>
              <a:t>False</a:t>
            </a:r>
            <a:r>
              <a:rPr lang="de-DE" b="1" dirty="0"/>
              <a:t> negative </a:t>
            </a:r>
            <a:r>
              <a:rPr lang="de-DE" b="1" strike="sngStrike" dirty="0"/>
              <a:t>(</a:t>
            </a:r>
            <a:r>
              <a:rPr lang="de-DE" b="1" strike="sngStrike" dirty="0" err="1"/>
              <a:t>Fp</a:t>
            </a:r>
            <a:r>
              <a:rPr lang="de-DE" b="1" strike="sngStrike" dirty="0"/>
              <a:t>) </a:t>
            </a:r>
            <a:r>
              <a:rPr lang="de-DE" b="1" dirty="0">
                <a:sym typeface="Wingdings" panose="05000000000000000000" pitchFamily="2" charset="2"/>
              </a:rPr>
              <a:t> </a:t>
            </a:r>
            <a:r>
              <a:rPr lang="de-DE" b="1" dirty="0" err="1">
                <a:sym typeface="Wingdings" panose="05000000000000000000" pitchFamily="2" charset="2"/>
              </a:rPr>
              <a:t>Fn</a:t>
            </a:r>
            <a:endParaRPr lang="de-DE" b="1" dirty="0"/>
          </a:p>
          <a:p>
            <a:pPr lvl="1"/>
            <a:endParaRPr lang="de-DE" b="1" dirty="0"/>
          </a:p>
          <a:p>
            <a:r>
              <a:rPr lang="de-DE" b="1" dirty="0"/>
              <a:t>	</a:t>
            </a:r>
          </a:p>
          <a:p>
            <a:endParaRPr lang="de-DE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172F096-B171-908C-EB4E-CF378DF75A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5655" y="2848333"/>
            <a:ext cx="3711641" cy="273976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3D214F4-2B30-A00D-7053-AEC0736F99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714" y="2848332"/>
            <a:ext cx="3352413" cy="273976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C68CD02-75E8-0349-A739-2BAE5497ECB2}"/>
              </a:ext>
            </a:extLst>
          </p:cNvPr>
          <p:cNvSpPr txBox="1"/>
          <p:nvPr/>
        </p:nvSpPr>
        <p:spPr>
          <a:xfrm>
            <a:off x="2634343" y="5426580"/>
            <a:ext cx="13494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>
                <a:solidFill>
                  <a:srgbClr val="FF0000"/>
                </a:solidFill>
              </a:rPr>
              <a:t>200</a:t>
            </a:r>
            <a:r>
              <a:rPr lang="de-DE" sz="1600" dirty="0"/>
              <a:t>       </a:t>
            </a:r>
            <a:r>
              <a:rPr lang="de-DE" b="1" dirty="0">
                <a:solidFill>
                  <a:srgbClr val="FF0000"/>
                </a:solidFill>
              </a:rPr>
              <a:t>800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2962B6-AD8B-762F-5C71-C4152F8B0231}"/>
              </a:ext>
            </a:extLst>
          </p:cNvPr>
          <p:cNvSpPr txBox="1"/>
          <p:nvPr/>
        </p:nvSpPr>
        <p:spPr>
          <a:xfrm>
            <a:off x="3918471" y="4521586"/>
            <a:ext cx="609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>
                <a:solidFill>
                  <a:srgbClr val="FF0000"/>
                </a:solidFill>
              </a:rPr>
              <a:t>190</a:t>
            </a:r>
          </a:p>
          <a:p>
            <a:endParaRPr lang="de-DE" dirty="0"/>
          </a:p>
          <a:p>
            <a:r>
              <a:rPr lang="de-DE" b="1" dirty="0">
                <a:solidFill>
                  <a:srgbClr val="FF0000"/>
                </a:solidFill>
              </a:rPr>
              <a:t>810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71A915-F75F-56FA-5EFB-24E58DB45212}"/>
              </a:ext>
            </a:extLst>
          </p:cNvPr>
          <p:cNvSpPr txBox="1"/>
          <p:nvPr/>
        </p:nvSpPr>
        <p:spPr>
          <a:xfrm>
            <a:off x="8305800" y="4503250"/>
            <a:ext cx="609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>
                <a:solidFill>
                  <a:srgbClr val="FF0000"/>
                </a:solidFill>
              </a:rPr>
              <a:t>238</a:t>
            </a:r>
          </a:p>
          <a:p>
            <a:endParaRPr lang="de-DE" dirty="0"/>
          </a:p>
          <a:p>
            <a:r>
              <a:rPr lang="de-DE" b="1" dirty="0">
                <a:solidFill>
                  <a:srgbClr val="FF0000"/>
                </a:solidFill>
              </a:rPr>
              <a:t>762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791645-F259-5751-7B3A-4F0FC067E4A9}"/>
              </a:ext>
            </a:extLst>
          </p:cNvPr>
          <p:cNvSpPr txBox="1"/>
          <p:nvPr/>
        </p:nvSpPr>
        <p:spPr>
          <a:xfrm>
            <a:off x="6923702" y="5403432"/>
            <a:ext cx="13280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>
                <a:solidFill>
                  <a:srgbClr val="FF0000"/>
                </a:solidFill>
              </a:rPr>
              <a:t>200</a:t>
            </a:r>
            <a:r>
              <a:rPr lang="de-DE" sz="1600" dirty="0"/>
              <a:t>       </a:t>
            </a:r>
            <a:r>
              <a:rPr lang="de-DE" b="1" dirty="0">
                <a:solidFill>
                  <a:srgbClr val="FF0000"/>
                </a:solidFill>
              </a:rPr>
              <a:t>800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C968588-E748-FB06-2372-3F204FDEEB30}"/>
              </a:ext>
            </a:extLst>
          </p:cNvPr>
          <p:cNvSpPr txBox="1"/>
          <p:nvPr/>
        </p:nvSpPr>
        <p:spPr>
          <a:xfrm>
            <a:off x="1600200" y="3939280"/>
            <a:ext cx="53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 err="1"/>
              <a:t>Tp</a:t>
            </a:r>
            <a:endParaRPr lang="de-DE" b="1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15E2EBD-F0AD-C67B-99F9-E98DF04F249C}"/>
              </a:ext>
            </a:extLst>
          </p:cNvPr>
          <p:cNvCxnSpPr/>
          <p:nvPr/>
        </p:nvCxnSpPr>
        <p:spPr>
          <a:xfrm>
            <a:off x="2057400" y="4227854"/>
            <a:ext cx="685800" cy="4965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6A79E4B9-9E87-A4CD-8EEF-F3DC1DB1253E}"/>
              </a:ext>
            </a:extLst>
          </p:cNvPr>
          <p:cNvSpPr txBox="1"/>
          <p:nvPr/>
        </p:nvSpPr>
        <p:spPr>
          <a:xfrm>
            <a:off x="1790700" y="6119350"/>
            <a:ext cx="53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 err="1">
                <a:highlight>
                  <a:srgbClr val="FFFF00"/>
                </a:highlight>
              </a:rPr>
              <a:t>Fn</a:t>
            </a:r>
            <a:endParaRPr lang="de-DE" b="1" dirty="0">
              <a:highlight>
                <a:srgbClr val="FFFF00"/>
              </a:highlight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FB3E454-1329-4A5C-6285-7A955FFC39DF}"/>
              </a:ext>
            </a:extLst>
          </p:cNvPr>
          <p:cNvCxnSpPr>
            <a:cxnSpLocks/>
          </p:cNvCxnSpPr>
          <p:nvPr/>
        </p:nvCxnSpPr>
        <p:spPr>
          <a:xfrm flipV="1">
            <a:off x="2253343" y="5255653"/>
            <a:ext cx="615237" cy="91654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35DF59A1-EE9D-7F9A-7199-6413DEFFC7EA}"/>
              </a:ext>
            </a:extLst>
          </p:cNvPr>
          <p:cNvSpPr txBox="1"/>
          <p:nvPr/>
        </p:nvSpPr>
        <p:spPr>
          <a:xfrm>
            <a:off x="3994671" y="6175186"/>
            <a:ext cx="53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 err="1"/>
              <a:t>Tn</a:t>
            </a:r>
            <a:endParaRPr lang="de-DE" b="1" dirty="0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0154C7E-E2FA-F557-DAAE-5837579063D8}"/>
              </a:ext>
            </a:extLst>
          </p:cNvPr>
          <p:cNvCxnSpPr>
            <a:cxnSpLocks/>
          </p:cNvCxnSpPr>
          <p:nvPr/>
        </p:nvCxnSpPr>
        <p:spPr>
          <a:xfrm flipH="1" flipV="1">
            <a:off x="3659934" y="5296981"/>
            <a:ext cx="429792" cy="8752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7E384A4F-C56A-F877-3C06-BF9224CBACA8}"/>
              </a:ext>
            </a:extLst>
          </p:cNvPr>
          <p:cNvSpPr txBox="1"/>
          <p:nvPr/>
        </p:nvSpPr>
        <p:spPr>
          <a:xfrm>
            <a:off x="4343400" y="3962400"/>
            <a:ext cx="53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 err="1">
                <a:highlight>
                  <a:srgbClr val="FFFF00"/>
                </a:highlight>
              </a:rPr>
              <a:t>Fp</a:t>
            </a:r>
            <a:endParaRPr lang="de-DE" b="1" dirty="0">
              <a:highlight>
                <a:srgbClr val="FFFF00"/>
              </a:highlight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4CA870D0-0524-AFFE-0C40-E63D81789EEC}"/>
              </a:ext>
            </a:extLst>
          </p:cNvPr>
          <p:cNvCxnSpPr>
            <a:cxnSpLocks/>
          </p:cNvCxnSpPr>
          <p:nvPr/>
        </p:nvCxnSpPr>
        <p:spPr>
          <a:xfrm flipH="1">
            <a:off x="3715137" y="4275010"/>
            <a:ext cx="693190" cy="62066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C51D3F53-E1E3-3FD4-EF65-27F3FBB09406}"/>
              </a:ext>
            </a:extLst>
          </p:cNvPr>
          <p:cNvCxnSpPr/>
          <p:nvPr/>
        </p:nvCxnSpPr>
        <p:spPr>
          <a:xfrm>
            <a:off x="3810000" y="5444916"/>
            <a:ext cx="533400" cy="4224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6E6D6FA2-83D6-A6EB-DBE1-2043CE396BF5}"/>
              </a:ext>
            </a:extLst>
          </p:cNvPr>
          <p:cNvSpPr txBox="1"/>
          <p:nvPr/>
        </p:nvSpPr>
        <p:spPr>
          <a:xfrm>
            <a:off x="3852960" y="5486647"/>
            <a:ext cx="6640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="1" dirty="0"/>
              <a:t>1000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378B8B1-D117-EC13-815F-C72C0EEE8C8F}"/>
              </a:ext>
            </a:extLst>
          </p:cNvPr>
          <p:cNvSpPr txBox="1"/>
          <p:nvPr/>
        </p:nvSpPr>
        <p:spPr>
          <a:xfrm>
            <a:off x="4862808" y="5909073"/>
            <a:ext cx="40926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/>
              <a:t>Note</a:t>
            </a:r>
            <a:r>
              <a:rPr lang="de-DE" dirty="0"/>
              <a:t>: The total </a:t>
            </a:r>
            <a:r>
              <a:rPr lang="de-DE" dirty="0" err="1"/>
              <a:t>number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observations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1000, 200 </a:t>
            </a:r>
            <a:r>
              <a:rPr lang="de-DE" dirty="0" err="1"/>
              <a:t>are</a:t>
            </a:r>
            <a:r>
              <a:rPr lang="de-DE" dirty="0"/>
              <a:t> not </a:t>
            </a:r>
            <a:r>
              <a:rPr lang="de-DE" dirty="0" err="1"/>
              <a:t>spam</a:t>
            </a:r>
            <a:r>
              <a:rPr lang="de-DE" dirty="0"/>
              <a:t> (</a:t>
            </a:r>
            <a:r>
              <a:rPr lang="de-DE" dirty="0" err="1"/>
              <a:t>wanted</a:t>
            </a:r>
            <a:r>
              <a:rPr lang="de-DE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36433901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B73F0-27BC-1B61-A28A-8960CD149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 4">
            <a:extLst>
              <a:ext uri="{FF2B5EF4-FFF2-40B4-BE49-F238E27FC236}">
                <a16:creationId xmlns:a16="http://schemas.microsoft.com/office/drawing/2014/main" id="{B02FA168-ACE6-0884-B941-6FC297275A3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685800"/>
            <a:ext cx="8686800" cy="50590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spc="-280" dirty="0">
                <a:solidFill>
                  <a:srgbClr val="374D81"/>
                </a:solidFill>
              </a:rPr>
              <a:t>Goal-based</a:t>
            </a:r>
            <a:r>
              <a:rPr sz="3200" spc="-665" dirty="0">
                <a:solidFill>
                  <a:srgbClr val="374D81"/>
                </a:solidFill>
              </a:rPr>
              <a:t> </a:t>
            </a:r>
            <a:r>
              <a:rPr sz="3200" spc="-254" dirty="0">
                <a:solidFill>
                  <a:srgbClr val="374D81"/>
                </a:solidFill>
              </a:rPr>
              <a:t>Agents</a:t>
            </a:r>
            <a:r>
              <a:rPr sz="3200" spc="-660" dirty="0">
                <a:solidFill>
                  <a:srgbClr val="374D81"/>
                </a:solidFill>
              </a:rPr>
              <a:t> </a:t>
            </a:r>
            <a:r>
              <a:rPr sz="3200" b="0" spc="-254" dirty="0">
                <a:solidFill>
                  <a:srgbClr val="374D81"/>
                </a:solidFill>
                <a:latin typeface="Arial MT"/>
                <a:cs typeface="Arial MT"/>
              </a:rPr>
              <a:t>versus</a:t>
            </a:r>
            <a:r>
              <a:rPr sz="3200" b="0" spc="-645" dirty="0">
                <a:solidFill>
                  <a:srgbClr val="374D81"/>
                </a:solidFill>
                <a:latin typeface="Arial MT"/>
                <a:cs typeface="Arial MT"/>
              </a:rPr>
              <a:t> </a:t>
            </a:r>
            <a:r>
              <a:rPr sz="3200" spc="-275" dirty="0">
                <a:solidFill>
                  <a:srgbClr val="374D81"/>
                </a:solidFill>
              </a:rPr>
              <a:t>Cost-based</a:t>
            </a:r>
            <a:r>
              <a:rPr sz="3200" spc="-665" dirty="0">
                <a:solidFill>
                  <a:srgbClr val="374D81"/>
                </a:solidFill>
              </a:rPr>
              <a:t> </a:t>
            </a:r>
            <a:r>
              <a:rPr sz="3200" spc="-254" dirty="0">
                <a:solidFill>
                  <a:srgbClr val="374D81"/>
                </a:solidFill>
              </a:rPr>
              <a:t>Agents</a:t>
            </a:r>
            <a:r>
              <a:rPr lang="de-DE" sz="3200" spc="-254" dirty="0">
                <a:solidFill>
                  <a:srgbClr val="374D81"/>
                </a:solidFill>
              </a:rPr>
              <a:t> - </a:t>
            </a:r>
            <a:r>
              <a:rPr lang="de-DE" sz="3200" spc="-254" dirty="0" err="1">
                <a:solidFill>
                  <a:srgbClr val="374D81"/>
                </a:solidFill>
              </a:rPr>
              <a:t>cont</a:t>
            </a:r>
            <a:endParaRPr sz="3200" dirty="0">
              <a:latin typeface="Arial MT"/>
              <a:cs typeface="Arial MT"/>
            </a:endParaRP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43482D53-F82D-7C57-DFE0-FE838525F1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828800"/>
            <a:ext cx="8305800" cy="1846659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1" dirty="0" err="1"/>
              <a:t>Types</a:t>
            </a:r>
            <a:r>
              <a:rPr lang="de-DE" b="1" dirty="0"/>
              <a:t> </a:t>
            </a:r>
            <a:r>
              <a:rPr lang="de-DE" b="1" dirty="0" err="1"/>
              <a:t>of</a:t>
            </a:r>
            <a:r>
              <a:rPr lang="de-DE" b="1" dirty="0"/>
              <a:t> Errors (due </a:t>
            </a:r>
            <a:r>
              <a:rPr lang="de-DE" b="1" dirty="0" err="1"/>
              <a:t>to</a:t>
            </a:r>
            <a:r>
              <a:rPr lang="de-DE" b="1" dirty="0"/>
              <a:t> miss </a:t>
            </a:r>
            <a:r>
              <a:rPr lang="de-DE" b="1" dirty="0" err="1"/>
              <a:t>classification</a:t>
            </a:r>
            <a:r>
              <a:rPr lang="de-DE" b="1" dirty="0"/>
              <a:t>):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de-DE" b="1" dirty="0"/>
              <a:t>Spam but not </a:t>
            </a:r>
            <a:r>
              <a:rPr lang="de-DE" b="1" dirty="0" err="1"/>
              <a:t>classified</a:t>
            </a:r>
            <a:r>
              <a:rPr lang="de-DE" b="1" dirty="0"/>
              <a:t> </a:t>
            </a:r>
            <a:r>
              <a:rPr lang="de-DE" b="1" dirty="0" err="1"/>
              <a:t>as</a:t>
            </a:r>
            <a:r>
              <a:rPr lang="de-DE" b="1" dirty="0"/>
              <a:t> </a:t>
            </a:r>
            <a:r>
              <a:rPr lang="de-DE" b="1" dirty="0" err="1"/>
              <a:t>spam</a:t>
            </a:r>
            <a:r>
              <a:rPr lang="de-DE" b="1" dirty="0"/>
              <a:t>, aka </a:t>
            </a:r>
            <a:r>
              <a:rPr lang="de-DE" b="1" dirty="0" err="1"/>
              <a:t>False</a:t>
            </a:r>
            <a:r>
              <a:rPr lang="de-DE" b="1" dirty="0"/>
              <a:t> positive </a:t>
            </a:r>
            <a:r>
              <a:rPr lang="de-DE" b="1" strike="sngStrike" dirty="0"/>
              <a:t>(</a:t>
            </a:r>
            <a:r>
              <a:rPr lang="de-DE" b="1" strike="sngStrike" dirty="0" err="1"/>
              <a:t>Fn</a:t>
            </a:r>
            <a:r>
              <a:rPr lang="de-DE" b="1" strike="sngStrike" dirty="0"/>
              <a:t>) </a:t>
            </a:r>
            <a:r>
              <a:rPr lang="de-DE" b="1" dirty="0">
                <a:sym typeface="Wingdings" panose="05000000000000000000" pitchFamily="2" charset="2"/>
              </a:rPr>
              <a:t> </a:t>
            </a:r>
            <a:r>
              <a:rPr lang="de-DE" b="1" dirty="0"/>
              <a:t>(</a:t>
            </a:r>
            <a:r>
              <a:rPr lang="de-DE" b="1" dirty="0" err="1"/>
              <a:t>Fp</a:t>
            </a:r>
            <a:r>
              <a:rPr lang="de-DE" b="1" dirty="0"/>
              <a:t>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de-DE" b="1" dirty="0"/>
              <a:t>Email </a:t>
            </a:r>
            <a:r>
              <a:rPr lang="de-DE" b="1" dirty="0" err="1"/>
              <a:t>which</a:t>
            </a:r>
            <a:r>
              <a:rPr lang="de-DE" b="1" dirty="0"/>
              <a:t> </a:t>
            </a:r>
            <a:r>
              <a:rPr lang="de-DE" b="1" dirty="0" err="1"/>
              <a:t>wrongly</a:t>
            </a:r>
            <a:r>
              <a:rPr lang="de-DE" b="1" dirty="0"/>
              <a:t> </a:t>
            </a:r>
            <a:r>
              <a:rPr lang="de-DE" b="1" dirty="0" err="1"/>
              <a:t>classified</a:t>
            </a:r>
            <a:r>
              <a:rPr lang="de-DE" b="1" dirty="0"/>
              <a:t> </a:t>
            </a:r>
            <a:r>
              <a:rPr lang="de-DE" b="1" dirty="0" err="1"/>
              <a:t>as</a:t>
            </a:r>
            <a:r>
              <a:rPr lang="de-DE" b="1" dirty="0"/>
              <a:t> </a:t>
            </a:r>
            <a:r>
              <a:rPr lang="de-DE" b="1" dirty="0" err="1"/>
              <a:t>spam</a:t>
            </a:r>
            <a:r>
              <a:rPr lang="de-DE" b="1" dirty="0"/>
              <a:t> (</a:t>
            </a:r>
            <a:r>
              <a:rPr lang="de-DE" b="1" dirty="0" err="1">
                <a:highlight>
                  <a:srgbClr val="FFFF00"/>
                </a:highlight>
              </a:rPr>
              <a:t>severity</a:t>
            </a:r>
            <a:r>
              <a:rPr lang="de-DE" b="1" dirty="0"/>
              <a:t>), aka </a:t>
            </a:r>
            <a:r>
              <a:rPr lang="de-DE" b="1" dirty="0" err="1"/>
              <a:t>False</a:t>
            </a:r>
            <a:r>
              <a:rPr lang="de-DE" b="1" dirty="0"/>
              <a:t> negative </a:t>
            </a:r>
            <a:r>
              <a:rPr lang="de-DE" b="1" strike="sngStrike" dirty="0"/>
              <a:t>(</a:t>
            </a:r>
            <a:r>
              <a:rPr lang="de-DE" b="1" strike="sngStrike" dirty="0" err="1"/>
              <a:t>Fp</a:t>
            </a:r>
            <a:r>
              <a:rPr lang="de-DE" b="1" strike="sngStrike" dirty="0"/>
              <a:t>) </a:t>
            </a:r>
            <a:r>
              <a:rPr lang="de-DE" b="1" dirty="0">
                <a:sym typeface="Wingdings" panose="05000000000000000000" pitchFamily="2" charset="2"/>
              </a:rPr>
              <a:t> </a:t>
            </a:r>
            <a:r>
              <a:rPr lang="de-DE" b="1" dirty="0" err="1">
                <a:sym typeface="Wingdings" panose="05000000000000000000" pitchFamily="2" charset="2"/>
              </a:rPr>
              <a:t>Fn</a:t>
            </a:r>
            <a:endParaRPr lang="de-DE" b="1" dirty="0"/>
          </a:p>
          <a:p>
            <a:pPr lvl="1"/>
            <a:endParaRPr lang="de-DE" b="1" dirty="0"/>
          </a:p>
          <a:p>
            <a:r>
              <a:rPr lang="de-DE" b="1" dirty="0"/>
              <a:t>	</a:t>
            </a:r>
          </a:p>
          <a:p>
            <a:endParaRPr lang="de-DE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DED42C7-CD75-CB63-A8F8-31E4619EA4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5655" y="2848333"/>
            <a:ext cx="3711641" cy="273976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9A812F9-E855-7DF7-FEAF-1468E9E656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714" y="2848332"/>
            <a:ext cx="3352413" cy="273976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F8A90EB-631C-F659-3EB6-E3AAB03CDF75}"/>
              </a:ext>
            </a:extLst>
          </p:cNvPr>
          <p:cNvSpPr txBox="1"/>
          <p:nvPr/>
        </p:nvSpPr>
        <p:spPr>
          <a:xfrm>
            <a:off x="2634343" y="5426580"/>
            <a:ext cx="13494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>
                <a:solidFill>
                  <a:srgbClr val="FF0000"/>
                </a:solidFill>
              </a:rPr>
              <a:t>200</a:t>
            </a:r>
            <a:r>
              <a:rPr lang="de-DE" sz="1600" dirty="0"/>
              <a:t>       </a:t>
            </a:r>
            <a:r>
              <a:rPr lang="de-DE" b="1" dirty="0">
                <a:solidFill>
                  <a:srgbClr val="FF0000"/>
                </a:solidFill>
              </a:rPr>
              <a:t>800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B4C82D-0F2D-EB39-70A7-A9299237A4F2}"/>
              </a:ext>
            </a:extLst>
          </p:cNvPr>
          <p:cNvSpPr txBox="1"/>
          <p:nvPr/>
        </p:nvSpPr>
        <p:spPr>
          <a:xfrm>
            <a:off x="3918471" y="4521586"/>
            <a:ext cx="609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>
                <a:solidFill>
                  <a:srgbClr val="FF0000"/>
                </a:solidFill>
              </a:rPr>
              <a:t>190</a:t>
            </a:r>
          </a:p>
          <a:p>
            <a:endParaRPr lang="de-DE" dirty="0"/>
          </a:p>
          <a:p>
            <a:r>
              <a:rPr lang="de-DE" b="1" dirty="0">
                <a:solidFill>
                  <a:srgbClr val="FF0000"/>
                </a:solidFill>
              </a:rPr>
              <a:t>810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352DDD-305B-251F-D6DA-C0681CCE60B3}"/>
              </a:ext>
            </a:extLst>
          </p:cNvPr>
          <p:cNvSpPr txBox="1"/>
          <p:nvPr/>
        </p:nvSpPr>
        <p:spPr>
          <a:xfrm>
            <a:off x="8305800" y="4503250"/>
            <a:ext cx="609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>
                <a:solidFill>
                  <a:srgbClr val="FF0000"/>
                </a:solidFill>
              </a:rPr>
              <a:t>238</a:t>
            </a:r>
          </a:p>
          <a:p>
            <a:endParaRPr lang="de-DE" dirty="0"/>
          </a:p>
          <a:p>
            <a:r>
              <a:rPr lang="de-DE" b="1" dirty="0">
                <a:solidFill>
                  <a:srgbClr val="FF0000"/>
                </a:solidFill>
              </a:rPr>
              <a:t>762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6DAEA7-1B3C-3DBE-3D8F-0F0EB893F828}"/>
              </a:ext>
            </a:extLst>
          </p:cNvPr>
          <p:cNvSpPr txBox="1"/>
          <p:nvPr/>
        </p:nvSpPr>
        <p:spPr>
          <a:xfrm>
            <a:off x="6923702" y="5403432"/>
            <a:ext cx="13280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>
                <a:solidFill>
                  <a:srgbClr val="FF0000"/>
                </a:solidFill>
              </a:rPr>
              <a:t>200</a:t>
            </a:r>
            <a:r>
              <a:rPr lang="de-DE" sz="1600" dirty="0"/>
              <a:t>       </a:t>
            </a:r>
            <a:r>
              <a:rPr lang="de-DE" b="1" dirty="0">
                <a:solidFill>
                  <a:srgbClr val="FF0000"/>
                </a:solidFill>
              </a:rPr>
              <a:t>800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3CDA30-62DC-B80D-E91F-F93E442CD319}"/>
              </a:ext>
            </a:extLst>
          </p:cNvPr>
          <p:cNvSpPr txBox="1"/>
          <p:nvPr/>
        </p:nvSpPr>
        <p:spPr>
          <a:xfrm>
            <a:off x="1600200" y="3939280"/>
            <a:ext cx="53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 err="1"/>
              <a:t>Tp</a:t>
            </a:r>
            <a:endParaRPr lang="de-DE" b="1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9253664-B037-5D35-1D08-E52370C2093C}"/>
              </a:ext>
            </a:extLst>
          </p:cNvPr>
          <p:cNvCxnSpPr/>
          <p:nvPr/>
        </p:nvCxnSpPr>
        <p:spPr>
          <a:xfrm>
            <a:off x="2057400" y="4227854"/>
            <a:ext cx="685800" cy="4965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FCAC9243-A753-AAC1-F6EC-29FC8470A1BC}"/>
              </a:ext>
            </a:extLst>
          </p:cNvPr>
          <p:cNvSpPr txBox="1"/>
          <p:nvPr/>
        </p:nvSpPr>
        <p:spPr>
          <a:xfrm>
            <a:off x="1790700" y="6119350"/>
            <a:ext cx="53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 err="1">
                <a:highlight>
                  <a:srgbClr val="FFFF00"/>
                </a:highlight>
              </a:rPr>
              <a:t>Fn</a:t>
            </a:r>
            <a:endParaRPr lang="de-DE" b="1" dirty="0">
              <a:highlight>
                <a:srgbClr val="FFFF00"/>
              </a:highlight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89A2AD6-7C91-688B-92F3-CD4182DDD8A3}"/>
              </a:ext>
            </a:extLst>
          </p:cNvPr>
          <p:cNvCxnSpPr>
            <a:cxnSpLocks/>
          </p:cNvCxnSpPr>
          <p:nvPr/>
        </p:nvCxnSpPr>
        <p:spPr>
          <a:xfrm flipV="1">
            <a:off x="2253343" y="5255653"/>
            <a:ext cx="615237" cy="91654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394997A8-251E-7EEF-BA4B-6D4CB5CA017B}"/>
              </a:ext>
            </a:extLst>
          </p:cNvPr>
          <p:cNvSpPr txBox="1"/>
          <p:nvPr/>
        </p:nvSpPr>
        <p:spPr>
          <a:xfrm>
            <a:off x="3994671" y="6175186"/>
            <a:ext cx="53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 err="1"/>
              <a:t>Tn</a:t>
            </a:r>
            <a:endParaRPr lang="de-DE" b="1" dirty="0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2D33D5C-B836-0E48-49D6-3293470C6A82}"/>
              </a:ext>
            </a:extLst>
          </p:cNvPr>
          <p:cNvCxnSpPr>
            <a:cxnSpLocks/>
          </p:cNvCxnSpPr>
          <p:nvPr/>
        </p:nvCxnSpPr>
        <p:spPr>
          <a:xfrm flipH="1" flipV="1">
            <a:off x="3659934" y="5296981"/>
            <a:ext cx="429792" cy="8752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0DFEDAB4-CD84-078A-D125-1C04E715ABBE}"/>
              </a:ext>
            </a:extLst>
          </p:cNvPr>
          <p:cNvSpPr txBox="1"/>
          <p:nvPr/>
        </p:nvSpPr>
        <p:spPr>
          <a:xfrm>
            <a:off x="4343400" y="3962400"/>
            <a:ext cx="53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 err="1">
                <a:highlight>
                  <a:srgbClr val="FFFF00"/>
                </a:highlight>
              </a:rPr>
              <a:t>Fp</a:t>
            </a:r>
            <a:endParaRPr lang="de-DE" b="1" dirty="0">
              <a:highlight>
                <a:srgbClr val="FFFF00"/>
              </a:highlight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537DAD62-E890-013D-43F3-6E2ADC11B4FB}"/>
              </a:ext>
            </a:extLst>
          </p:cNvPr>
          <p:cNvCxnSpPr>
            <a:cxnSpLocks/>
          </p:cNvCxnSpPr>
          <p:nvPr/>
        </p:nvCxnSpPr>
        <p:spPr>
          <a:xfrm flipH="1">
            <a:off x="3715137" y="4275010"/>
            <a:ext cx="693190" cy="62066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34FCC07-91B7-9FC3-C92A-F98B4000DA1D}"/>
              </a:ext>
            </a:extLst>
          </p:cNvPr>
          <p:cNvCxnSpPr/>
          <p:nvPr/>
        </p:nvCxnSpPr>
        <p:spPr>
          <a:xfrm>
            <a:off x="3810000" y="5444916"/>
            <a:ext cx="533400" cy="4224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A7A8C261-6FD9-7FD1-9829-664EDB438E3D}"/>
              </a:ext>
            </a:extLst>
          </p:cNvPr>
          <p:cNvSpPr txBox="1"/>
          <p:nvPr/>
        </p:nvSpPr>
        <p:spPr>
          <a:xfrm>
            <a:off x="3852960" y="5486647"/>
            <a:ext cx="6640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="1" dirty="0"/>
              <a:t>1000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567575D-C9D5-8DC6-88DF-A2E9F0242395}"/>
              </a:ext>
            </a:extLst>
          </p:cNvPr>
          <p:cNvSpPr txBox="1"/>
          <p:nvPr/>
        </p:nvSpPr>
        <p:spPr>
          <a:xfrm>
            <a:off x="4862808" y="5909073"/>
            <a:ext cx="40926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/>
              <a:t>Note</a:t>
            </a:r>
            <a:r>
              <a:rPr lang="de-DE" dirty="0"/>
              <a:t>: The total </a:t>
            </a:r>
            <a:r>
              <a:rPr lang="de-DE" dirty="0" err="1"/>
              <a:t>number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observations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1000, 200 </a:t>
            </a:r>
            <a:r>
              <a:rPr lang="de-DE" dirty="0" err="1"/>
              <a:t>are</a:t>
            </a:r>
            <a:r>
              <a:rPr lang="de-DE" dirty="0"/>
              <a:t> not </a:t>
            </a:r>
            <a:r>
              <a:rPr lang="de-DE" dirty="0" err="1"/>
              <a:t>spam</a:t>
            </a:r>
            <a:r>
              <a:rPr lang="de-DE" dirty="0"/>
              <a:t> (</a:t>
            </a:r>
            <a:r>
              <a:rPr lang="de-DE" dirty="0" err="1"/>
              <a:t>wanted</a:t>
            </a:r>
            <a:r>
              <a:rPr lang="de-DE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37828706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 4">
            <a:extLst>
              <a:ext uri="{FF2B5EF4-FFF2-40B4-BE49-F238E27FC236}">
                <a16:creationId xmlns:a16="http://schemas.microsoft.com/office/drawing/2014/main" id="{B83C4022-289C-F540-16B3-DD42D7AC136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685800"/>
            <a:ext cx="8686800" cy="50590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de-DE" sz="3200" spc="-280" dirty="0" err="1">
                <a:solidFill>
                  <a:srgbClr val="374D81"/>
                </a:solidFill>
              </a:rPr>
              <a:t>Confusion</a:t>
            </a:r>
            <a:r>
              <a:rPr lang="de-DE" sz="3200" spc="-280" dirty="0">
                <a:solidFill>
                  <a:srgbClr val="374D81"/>
                </a:solidFill>
              </a:rPr>
              <a:t> Matrix </a:t>
            </a:r>
            <a:r>
              <a:rPr lang="de-DE" sz="3200" spc="-280" dirty="0" err="1">
                <a:solidFill>
                  <a:srgbClr val="374D81"/>
                </a:solidFill>
              </a:rPr>
              <a:t>for</a:t>
            </a:r>
            <a:r>
              <a:rPr lang="de-DE" sz="3200" spc="-280" dirty="0">
                <a:solidFill>
                  <a:srgbClr val="374D81"/>
                </a:solidFill>
              </a:rPr>
              <a:t> Spam Filter</a:t>
            </a:r>
            <a:endParaRPr sz="3200" dirty="0">
              <a:latin typeface="Arial MT"/>
              <a:cs typeface="Arial MT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15D987-57C3-47BE-2308-5B2C71258B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1" y="1438870"/>
            <a:ext cx="7772399" cy="984885"/>
          </a:xfrm>
        </p:spPr>
        <p:txBody>
          <a:bodyPr/>
          <a:lstStyle/>
          <a:p>
            <a:r>
              <a:rPr lang="de-DE" sz="2400" b="1" dirty="0"/>
              <a:t>Note</a:t>
            </a:r>
            <a:r>
              <a:rPr lang="de-DE" sz="2000" dirty="0"/>
              <a:t>: </a:t>
            </a:r>
            <a:r>
              <a:rPr lang="de-DE" sz="2000" dirty="0" err="1"/>
              <a:t>We</a:t>
            </a:r>
            <a:r>
              <a:rPr lang="de-DE" sz="2000" dirty="0"/>
              <a:t> </a:t>
            </a:r>
            <a:r>
              <a:rPr lang="de-DE" sz="2000" dirty="0" err="1"/>
              <a:t>need</a:t>
            </a:r>
            <a:r>
              <a:rPr lang="de-DE" sz="2000" dirty="0"/>
              <a:t> </a:t>
            </a:r>
            <a:r>
              <a:rPr lang="de-DE" sz="2000" dirty="0" err="1"/>
              <a:t>to</a:t>
            </a:r>
            <a:r>
              <a:rPr lang="de-DE" sz="2000" dirty="0"/>
              <a:t> </a:t>
            </a:r>
            <a:r>
              <a:rPr lang="de-DE" sz="2000" dirty="0" err="1"/>
              <a:t>identify</a:t>
            </a:r>
            <a:r>
              <a:rPr lang="de-DE" sz="2000" dirty="0"/>
              <a:t> </a:t>
            </a:r>
            <a:r>
              <a:rPr lang="en-US" sz="2000" b="0" i="0" dirty="0">
                <a:solidFill>
                  <a:srgbClr val="383838"/>
                </a:solidFill>
                <a:effectLst/>
                <a:latin typeface="Georgia" panose="02040502050405020303" pitchFamily="18" charset="0"/>
              </a:rPr>
              <a:t>our primary </a:t>
            </a:r>
            <a:r>
              <a:rPr lang="en-US" sz="2000" b="1" i="0" dirty="0">
                <a:solidFill>
                  <a:srgbClr val="383838"/>
                </a:solidFill>
                <a:effectLst/>
                <a:latin typeface="Georgia" panose="02040502050405020303" pitchFamily="18" charset="0"/>
              </a:rPr>
              <a:t>target (favorable) </a:t>
            </a:r>
            <a:r>
              <a:rPr lang="en-US" sz="2000" b="0" i="0" dirty="0">
                <a:solidFill>
                  <a:srgbClr val="383838"/>
                </a:solidFill>
                <a:effectLst/>
                <a:latin typeface="Georgia" panose="02040502050405020303" pitchFamily="18" charset="0"/>
              </a:rPr>
              <a:t>as</a:t>
            </a:r>
            <a:r>
              <a:rPr lang="en-US" sz="2000" b="1" i="0" dirty="0">
                <a:solidFill>
                  <a:srgbClr val="383838"/>
                </a:solidFill>
                <a:effectLst/>
                <a:latin typeface="Georgia" panose="02040502050405020303" pitchFamily="18" charset="0"/>
              </a:rPr>
              <a:t> positive</a:t>
            </a:r>
            <a:r>
              <a:rPr lang="en-US" sz="2000" b="0" i="0" dirty="0">
                <a:solidFill>
                  <a:srgbClr val="383838"/>
                </a:solidFill>
                <a:effectLst/>
                <a:latin typeface="Georgia" panose="02040502050405020303" pitchFamily="18" charset="0"/>
              </a:rPr>
              <a:t> and </a:t>
            </a:r>
            <a:r>
              <a:rPr lang="en-US" sz="2000" b="1" i="0" dirty="0">
                <a:solidFill>
                  <a:srgbClr val="383838"/>
                </a:solidFill>
                <a:effectLst/>
                <a:latin typeface="Georgia" panose="02040502050405020303" pitchFamily="18" charset="0"/>
              </a:rPr>
              <a:t>other</a:t>
            </a:r>
            <a:r>
              <a:rPr lang="en-US" sz="2000" b="0" i="0" dirty="0">
                <a:solidFill>
                  <a:srgbClr val="383838"/>
                </a:solidFill>
                <a:effectLst/>
                <a:latin typeface="Georgia" panose="02040502050405020303" pitchFamily="18" charset="0"/>
              </a:rPr>
              <a:t>s (unfavorable) as </a:t>
            </a:r>
            <a:r>
              <a:rPr lang="en-US" sz="2000" b="1" i="0" dirty="0">
                <a:solidFill>
                  <a:srgbClr val="383838"/>
                </a:solidFill>
                <a:effectLst/>
                <a:latin typeface="Georgia" panose="02040502050405020303" pitchFamily="18" charset="0"/>
              </a:rPr>
              <a:t>negative.</a:t>
            </a:r>
            <a:endParaRPr lang="de-DE" sz="20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A9400BC-825D-3D86-FFFD-B9AC4CD7E8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2895600"/>
            <a:ext cx="6534486" cy="320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2426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 4">
            <a:extLst>
              <a:ext uri="{FF2B5EF4-FFF2-40B4-BE49-F238E27FC236}">
                <a16:creationId xmlns:a16="http://schemas.microsoft.com/office/drawing/2014/main" id="{B83C4022-289C-F540-16B3-DD42D7AC136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685800"/>
            <a:ext cx="8686800" cy="50590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de-DE" sz="3200" spc="-280" dirty="0" err="1">
                <a:solidFill>
                  <a:srgbClr val="374D81"/>
                </a:solidFill>
              </a:rPr>
              <a:t>Reshape</a:t>
            </a:r>
            <a:r>
              <a:rPr lang="de-DE" sz="3200" spc="-280" dirty="0">
                <a:solidFill>
                  <a:srgbClr val="374D81"/>
                </a:solidFill>
              </a:rPr>
              <a:t> </a:t>
            </a:r>
            <a:r>
              <a:rPr lang="de-DE" sz="3200" spc="-280" dirty="0" err="1">
                <a:solidFill>
                  <a:srgbClr val="374D81"/>
                </a:solidFill>
              </a:rPr>
              <a:t>the</a:t>
            </a:r>
            <a:r>
              <a:rPr lang="de-DE" sz="3200" spc="-280" dirty="0">
                <a:solidFill>
                  <a:srgbClr val="374D81"/>
                </a:solidFill>
              </a:rPr>
              <a:t> </a:t>
            </a:r>
            <a:r>
              <a:rPr lang="de-DE" sz="3200" spc="-280" dirty="0" err="1">
                <a:solidFill>
                  <a:srgbClr val="374D81"/>
                </a:solidFill>
              </a:rPr>
              <a:t>Confusion</a:t>
            </a:r>
            <a:r>
              <a:rPr lang="de-DE" sz="3200" spc="-280" dirty="0">
                <a:solidFill>
                  <a:srgbClr val="374D81"/>
                </a:solidFill>
              </a:rPr>
              <a:t> Matrix</a:t>
            </a:r>
            <a:endParaRPr sz="3200" dirty="0">
              <a:latin typeface="Arial MT"/>
              <a:cs typeface="Arial MT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15D987-57C3-47BE-2308-5B2C71258B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3703" y="1524000"/>
            <a:ext cx="7611109" cy="4800600"/>
          </a:xfrm>
        </p:spPr>
        <p:txBody>
          <a:bodyPr/>
          <a:lstStyle/>
          <a:p>
            <a:endParaRPr lang="de-DE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4E69838-8762-FFF3-524A-BD13F8DE76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200" y="1837846"/>
            <a:ext cx="5410200" cy="4199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47235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 4">
            <a:extLst>
              <a:ext uri="{FF2B5EF4-FFF2-40B4-BE49-F238E27FC236}">
                <a16:creationId xmlns:a16="http://schemas.microsoft.com/office/drawing/2014/main" id="{B83C4022-289C-F540-16B3-DD42D7AC136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685800"/>
            <a:ext cx="8686800" cy="50590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de-DE" sz="3200" spc="-280" dirty="0" err="1">
                <a:solidFill>
                  <a:srgbClr val="374D81"/>
                </a:solidFill>
              </a:rPr>
              <a:t>Confusion</a:t>
            </a:r>
            <a:r>
              <a:rPr lang="de-DE" sz="3200" spc="-280" dirty="0">
                <a:solidFill>
                  <a:srgbClr val="374D81"/>
                </a:solidFill>
              </a:rPr>
              <a:t> Matrix </a:t>
            </a:r>
            <a:r>
              <a:rPr lang="de-DE" sz="3200" spc="-280" dirty="0" err="1">
                <a:solidFill>
                  <a:srgbClr val="374D81"/>
                </a:solidFill>
              </a:rPr>
              <a:t>for</a:t>
            </a:r>
            <a:r>
              <a:rPr lang="de-DE" sz="3200" spc="-280" dirty="0">
                <a:solidFill>
                  <a:srgbClr val="374D81"/>
                </a:solidFill>
              </a:rPr>
              <a:t> Corona Test Kit</a:t>
            </a:r>
            <a:endParaRPr sz="3200" dirty="0">
              <a:latin typeface="Arial MT"/>
              <a:cs typeface="Arial MT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15D987-57C3-47BE-2308-5B2C71258B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3703" y="1524000"/>
            <a:ext cx="7611109" cy="2062103"/>
          </a:xfrm>
        </p:spPr>
        <p:txBody>
          <a:bodyPr/>
          <a:lstStyle/>
          <a:p>
            <a:pPr algn="just"/>
            <a:r>
              <a:rPr lang="de-DE" sz="2400" b="1" u="sng" dirty="0" err="1"/>
              <a:t>Example</a:t>
            </a:r>
            <a:r>
              <a:rPr lang="de-DE" dirty="0"/>
              <a:t>: </a:t>
            </a:r>
            <a:r>
              <a:rPr lang="en-US" b="0" i="0" dirty="0">
                <a:solidFill>
                  <a:srgbClr val="242424"/>
                </a:solidFill>
                <a:effectLst/>
                <a:latin typeface="source-serif-pro"/>
              </a:rPr>
              <a:t>Suppose that your company has developed </a:t>
            </a:r>
            <a:r>
              <a:rPr lang="en-US" b="1" i="0" dirty="0">
                <a:solidFill>
                  <a:srgbClr val="242424"/>
                </a:solidFill>
                <a:effectLst/>
                <a:latin typeface="source-serif-pro"/>
              </a:rPr>
              <a:t>Covid-19</a:t>
            </a:r>
            <a:r>
              <a:rPr lang="en-US" b="0" i="0" dirty="0">
                <a:solidFill>
                  <a:srgbClr val="242424"/>
                </a:solidFill>
                <a:effectLst/>
                <a:latin typeface="source-serif-pro"/>
              </a:rPr>
              <a:t> testing kit. To check the validity of this kit company has randomly taken </a:t>
            </a:r>
            <a:r>
              <a:rPr lang="en-US" b="1" i="0" dirty="0">
                <a:solidFill>
                  <a:srgbClr val="242424"/>
                </a:solidFill>
                <a:effectLst/>
                <a:latin typeface="source-serif-pro"/>
              </a:rPr>
              <a:t>100 </a:t>
            </a:r>
            <a:r>
              <a:rPr lang="en-US" b="0" i="0" dirty="0">
                <a:solidFill>
                  <a:srgbClr val="242424"/>
                </a:solidFill>
                <a:effectLst/>
                <a:latin typeface="source-serif-pro"/>
              </a:rPr>
              <a:t>covid-19 suspect out of which </a:t>
            </a:r>
            <a:r>
              <a:rPr lang="en-US" b="1" i="0" dirty="0">
                <a:solidFill>
                  <a:srgbClr val="242424"/>
                </a:solidFill>
                <a:effectLst/>
                <a:latin typeface="source-serif-pro"/>
              </a:rPr>
              <a:t>60</a:t>
            </a:r>
            <a:r>
              <a:rPr lang="en-US" b="0" i="0" dirty="0">
                <a:solidFill>
                  <a:srgbClr val="242424"/>
                </a:solidFill>
                <a:effectLst/>
                <a:latin typeface="source-serif-pro"/>
              </a:rPr>
              <a:t> people were infected with covid-19 and </a:t>
            </a:r>
            <a:r>
              <a:rPr lang="en-US" b="1" i="0" dirty="0">
                <a:solidFill>
                  <a:srgbClr val="242424"/>
                </a:solidFill>
                <a:effectLst/>
                <a:latin typeface="source-serif-pro"/>
              </a:rPr>
              <a:t>40 </a:t>
            </a:r>
            <a:r>
              <a:rPr lang="en-US" b="0" i="0" dirty="0">
                <a:solidFill>
                  <a:srgbClr val="242424"/>
                </a:solidFill>
                <a:effectLst/>
                <a:latin typeface="source-serif-pro"/>
              </a:rPr>
              <a:t>people had shown negative result. But your kit was able to detect only </a:t>
            </a:r>
            <a:r>
              <a:rPr lang="en-US" b="1" i="0" dirty="0">
                <a:solidFill>
                  <a:srgbClr val="242424"/>
                </a:solidFill>
                <a:effectLst/>
                <a:latin typeface="source-serif-pro"/>
              </a:rPr>
              <a:t>20</a:t>
            </a:r>
            <a:r>
              <a:rPr lang="en-US" b="0" i="0" dirty="0">
                <a:solidFill>
                  <a:srgbClr val="242424"/>
                </a:solidFill>
                <a:effectLst/>
                <a:latin typeface="source-serif-pro"/>
              </a:rPr>
              <a:t> covid-19 infected people. </a:t>
            </a:r>
            <a:r>
              <a:rPr lang="en-US" b="0" i="0" u="sng" dirty="0">
                <a:solidFill>
                  <a:srgbClr val="242424"/>
                </a:solidFill>
                <a:effectLst/>
                <a:latin typeface="source-serif-pro"/>
              </a:rPr>
              <a:t>Let’s make confusion matrix based on this example:</a:t>
            </a:r>
            <a:endParaRPr lang="de-DE" u="sn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869164-D9C5-0575-33A5-27C6E82ABC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733800"/>
            <a:ext cx="5067560" cy="2813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31390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 4">
            <a:extLst>
              <a:ext uri="{FF2B5EF4-FFF2-40B4-BE49-F238E27FC236}">
                <a16:creationId xmlns:a16="http://schemas.microsoft.com/office/drawing/2014/main" id="{B83C4022-289C-F540-16B3-DD42D7AC136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685800"/>
            <a:ext cx="8686800" cy="50590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de-DE" sz="3200" spc="-280" dirty="0" err="1">
                <a:solidFill>
                  <a:srgbClr val="374D81"/>
                </a:solidFill>
              </a:rPr>
              <a:t>Confusion</a:t>
            </a:r>
            <a:r>
              <a:rPr lang="de-DE" sz="3200" spc="-280" dirty="0">
                <a:solidFill>
                  <a:srgbClr val="374D81"/>
                </a:solidFill>
              </a:rPr>
              <a:t> Matrix </a:t>
            </a:r>
            <a:r>
              <a:rPr lang="de-DE" sz="3200" spc="-280" dirty="0" err="1">
                <a:solidFill>
                  <a:srgbClr val="374D81"/>
                </a:solidFill>
              </a:rPr>
              <a:t>for</a:t>
            </a:r>
            <a:r>
              <a:rPr lang="de-DE" sz="3200" spc="-280" dirty="0">
                <a:solidFill>
                  <a:srgbClr val="374D81"/>
                </a:solidFill>
              </a:rPr>
              <a:t> Corona Test Kit</a:t>
            </a:r>
            <a:endParaRPr sz="3200" dirty="0">
              <a:latin typeface="Arial MT"/>
              <a:cs typeface="Arial MT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15D987-57C3-47BE-2308-5B2C71258B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3703" y="1524000"/>
            <a:ext cx="7611109" cy="2062103"/>
          </a:xfrm>
        </p:spPr>
        <p:txBody>
          <a:bodyPr/>
          <a:lstStyle/>
          <a:p>
            <a:pPr algn="just"/>
            <a:r>
              <a:rPr lang="de-DE" sz="2400" b="1" u="sng" dirty="0" err="1"/>
              <a:t>Example</a:t>
            </a:r>
            <a:r>
              <a:rPr lang="de-DE" dirty="0"/>
              <a:t>: </a:t>
            </a:r>
            <a:r>
              <a:rPr lang="en-US" dirty="0">
                <a:solidFill>
                  <a:srgbClr val="242424"/>
                </a:solidFill>
                <a:latin typeface="source-serif-pro"/>
              </a:rPr>
              <a:t>S</a:t>
            </a:r>
            <a:r>
              <a:rPr lang="en-US" b="0" i="0" dirty="0">
                <a:solidFill>
                  <a:srgbClr val="242424"/>
                </a:solidFill>
                <a:effectLst/>
                <a:latin typeface="source-serif-pro"/>
              </a:rPr>
              <a:t>uppose that your company has developed </a:t>
            </a:r>
            <a:r>
              <a:rPr lang="en-US" b="1" i="0" dirty="0">
                <a:solidFill>
                  <a:srgbClr val="242424"/>
                </a:solidFill>
                <a:effectLst/>
                <a:latin typeface="source-serif-pro"/>
              </a:rPr>
              <a:t>Covid-19</a:t>
            </a:r>
            <a:r>
              <a:rPr lang="en-US" b="0" i="0" dirty="0">
                <a:solidFill>
                  <a:srgbClr val="242424"/>
                </a:solidFill>
                <a:effectLst/>
                <a:latin typeface="source-serif-pro"/>
              </a:rPr>
              <a:t> testing kit. To check the validity of this kit company has randomly taken </a:t>
            </a:r>
            <a:r>
              <a:rPr lang="en-US" b="1" i="0" dirty="0">
                <a:solidFill>
                  <a:srgbClr val="242424"/>
                </a:solidFill>
                <a:effectLst/>
                <a:latin typeface="source-serif-pro"/>
              </a:rPr>
              <a:t>100 </a:t>
            </a:r>
            <a:r>
              <a:rPr lang="en-US" b="0" i="0" dirty="0">
                <a:solidFill>
                  <a:srgbClr val="242424"/>
                </a:solidFill>
                <a:effectLst/>
                <a:latin typeface="source-serif-pro"/>
              </a:rPr>
              <a:t>covid-19 suspect out of which </a:t>
            </a:r>
            <a:r>
              <a:rPr lang="en-US" b="1" i="0" dirty="0">
                <a:solidFill>
                  <a:srgbClr val="242424"/>
                </a:solidFill>
                <a:effectLst/>
                <a:latin typeface="source-serif-pro"/>
              </a:rPr>
              <a:t>60</a:t>
            </a:r>
            <a:r>
              <a:rPr lang="en-US" b="0" i="0" dirty="0">
                <a:solidFill>
                  <a:srgbClr val="242424"/>
                </a:solidFill>
                <a:effectLst/>
                <a:latin typeface="source-serif-pro"/>
              </a:rPr>
              <a:t> people were infected with covid-19 and </a:t>
            </a:r>
            <a:r>
              <a:rPr lang="en-US" b="1" i="0" dirty="0">
                <a:solidFill>
                  <a:srgbClr val="242424"/>
                </a:solidFill>
                <a:effectLst/>
                <a:highlight>
                  <a:srgbClr val="FFFF00"/>
                </a:highlight>
                <a:latin typeface="source-serif-pro"/>
              </a:rPr>
              <a:t>40 </a:t>
            </a:r>
            <a:r>
              <a:rPr lang="en-US" b="0" i="0" dirty="0">
                <a:solidFill>
                  <a:srgbClr val="242424"/>
                </a:solidFill>
                <a:effectLst/>
                <a:highlight>
                  <a:srgbClr val="FFFF00"/>
                </a:highlight>
                <a:latin typeface="source-serif-pro"/>
              </a:rPr>
              <a:t>people had shown negative result</a:t>
            </a:r>
            <a:r>
              <a:rPr lang="en-US" b="0" i="0" dirty="0">
                <a:solidFill>
                  <a:srgbClr val="242424"/>
                </a:solidFill>
                <a:effectLst/>
                <a:latin typeface="source-serif-pro"/>
              </a:rPr>
              <a:t>. But your kit was able to detect only </a:t>
            </a:r>
            <a:r>
              <a:rPr lang="en-US" b="1" i="0" dirty="0">
                <a:solidFill>
                  <a:srgbClr val="242424"/>
                </a:solidFill>
                <a:effectLst/>
                <a:latin typeface="source-serif-pro"/>
              </a:rPr>
              <a:t>20</a:t>
            </a:r>
            <a:r>
              <a:rPr lang="en-US" b="0" i="0" dirty="0">
                <a:solidFill>
                  <a:srgbClr val="242424"/>
                </a:solidFill>
                <a:effectLst/>
                <a:latin typeface="source-serif-pro"/>
              </a:rPr>
              <a:t> covid-19 infected people. </a:t>
            </a:r>
            <a:r>
              <a:rPr lang="en-US" b="0" i="0" u="sng" dirty="0">
                <a:solidFill>
                  <a:srgbClr val="242424"/>
                </a:solidFill>
                <a:effectLst/>
                <a:latin typeface="source-serif-pro"/>
              </a:rPr>
              <a:t>Let’s make confusion matrix based on this example:</a:t>
            </a:r>
            <a:endParaRPr lang="de-DE" u="sn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6D3E3F-F7F3-8B56-E086-DF1DC62E8E83}"/>
              </a:ext>
            </a:extLst>
          </p:cNvPr>
          <p:cNvSpPr txBox="1"/>
          <p:nvPr/>
        </p:nvSpPr>
        <p:spPr>
          <a:xfrm>
            <a:off x="1066800" y="3714967"/>
            <a:ext cx="7010400" cy="16190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b="1" i="0" dirty="0" err="1">
                <a:solidFill>
                  <a:srgbClr val="242424"/>
                </a:solidFill>
                <a:effectLst/>
                <a:latin typeface="source-serif-pro"/>
              </a:rPr>
              <a:t>i</a:t>
            </a:r>
            <a:r>
              <a:rPr lang="en-US" sz="1600" b="1" i="0" dirty="0">
                <a:solidFill>
                  <a:srgbClr val="242424"/>
                </a:solidFill>
                <a:effectLst/>
                <a:latin typeface="source-serif-pro"/>
              </a:rPr>
              <a:t>. True Positive(TP)</a:t>
            </a:r>
            <a:r>
              <a:rPr lang="en-US" sz="1600" b="0" i="0" dirty="0">
                <a:solidFill>
                  <a:srgbClr val="242424"/>
                </a:solidFill>
                <a:effectLst/>
                <a:latin typeface="source-serif-pro"/>
              </a:rPr>
              <a:t> </a:t>
            </a:r>
            <a:r>
              <a:rPr lang="en-US" sz="1600" b="1" i="0" dirty="0">
                <a:solidFill>
                  <a:srgbClr val="242424"/>
                </a:solidFill>
                <a:effectLst/>
                <a:latin typeface="source-serif-pro"/>
              </a:rPr>
              <a:t>:- </a:t>
            </a:r>
            <a:r>
              <a:rPr lang="en-US" sz="1600" b="0" i="0" dirty="0">
                <a:solidFill>
                  <a:srgbClr val="242424"/>
                </a:solidFill>
                <a:effectLst/>
                <a:latin typeface="source-serif-pro"/>
              </a:rPr>
              <a:t>Predicted Yes and They do have the disease.</a:t>
            </a:r>
          </a:p>
          <a:p>
            <a:pPr algn="just">
              <a:lnSpc>
                <a:spcPct val="150000"/>
              </a:lnSpc>
            </a:pPr>
            <a:r>
              <a:rPr lang="en-US" sz="1600" b="1" i="0" dirty="0">
                <a:solidFill>
                  <a:srgbClr val="242424"/>
                </a:solidFill>
                <a:effectLst/>
                <a:latin typeface="source-serif-pro"/>
              </a:rPr>
              <a:t>ii. False Positive (FP):-</a:t>
            </a:r>
            <a:r>
              <a:rPr lang="en-US" sz="1600" b="0" i="0" dirty="0">
                <a:solidFill>
                  <a:srgbClr val="242424"/>
                </a:solidFill>
                <a:effectLst/>
                <a:latin typeface="source-serif-pro"/>
              </a:rPr>
              <a:t> Predicted Yes but They don’t have the disease.</a:t>
            </a:r>
          </a:p>
          <a:p>
            <a:pPr algn="just">
              <a:lnSpc>
                <a:spcPct val="150000"/>
              </a:lnSpc>
            </a:pPr>
            <a:r>
              <a:rPr lang="en-US" sz="1600" b="1" i="0" dirty="0">
                <a:solidFill>
                  <a:srgbClr val="242424"/>
                </a:solidFill>
                <a:effectLst/>
                <a:latin typeface="source-serif-pro"/>
              </a:rPr>
              <a:t>iii. False Negative (FN):-</a:t>
            </a:r>
            <a:r>
              <a:rPr lang="en-US" sz="1600" b="0" i="0" dirty="0">
                <a:solidFill>
                  <a:srgbClr val="242424"/>
                </a:solidFill>
                <a:effectLst/>
                <a:latin typeface="source-serif-pro"/>
              </a:rPr>
              <a:t>Predicted No but they do have the disease.</a:t>
            </a:r>
          </a:p>
          <a:p>
            <a:pPr algn="just">
              <a:lnSpc>
                <a:spcPct val="150000"/>
              </a:lnSpc>
            </a:pPr>
            <a:r>
              <a:rPr lang="en-US" sz="1600" b="1" i="0" dirty="0">
                <a:solidFill>
                  <a:srgbClr val="242424"/>
                </a:solidFill>
                <a:effectLst/>
                <a:latin typeface="source-serif-pro"/>
              </a:rPr>
              <a:t>iv. True Negative (TN):-</a:t>
            </a:r>
            <a:r>
              <a:rPr lang="en-US" sz="1600" b="0" i="0" dirty="0">
                <a:solidFill>
                  <a:srgbClr val="242424"/>
                </a:solidFill>
                <a:effectLst/>
                <a:latin typeface="source-serif-pro"/>
              </a:rPr>
              <a:t> Predicted No and they don’t have the disease.</a:t>
            </a:r>
            <a:endParaRPr lang="en-US" b="0" i="0" dirty="0">
              <a:solidFill>
                <a:srgbClr val="242424"/>
              </a:solidFill>
              <a:effectLst/>
              <a:latin typeface="source-serif-pro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260A7CD-790B-C1AC-B358-59F2F0EEE6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5462864"/>
            <a:ext cx="3597693" cy="106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66454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 4">
            <a:extLst>
              <a:ext uri="{FF2B5EF4-FFF2-40B4-BE49-F238E27FC236}">
                <a16:creationId xmlns:a16="http://schemas.microsoft.com/office/drawing/2014/main" id="{B83C4022-289C-F540-16B3-DD42D7AC136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685800"/>
            <a:ext cx="8686800" cy="50590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de-DE" sz="3200" spc="-280" dirty="0">
                <a:solidFill>
                  <a:srgbClr val="374D81"/>
                </a:solidFill>
              </a:rPr>
              <a:t>Evaluation </a:t>
            </a:r>
            <a:r>
              <a:rPr lang="de-DE" sz="3200" spc="-280" dirty="0" err="1">
                <a:solidFill>
                  <a:srgbClr val="374D81"/>
                </a:solidFill>
              </a:rPr>
              <a:t>Metrics</a:t>
            </a:r>
            <a:endParaRPr sz="3200" dirty="0">
              <a:latin typeface="Arial MT"/>
              <a:cs typeface="Arial MT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15D987-57C3-47BE-2308-5B2C71258B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3703" y="1524000"/>
            <a:ext cx="7611109" cy="2708434"/>
          </a:xfrm>
        </p:spPr>
        <p:txBody>
          <a:bodyPr/>
          <a:lstStyle/>
          <a:p>
            <a:pPr algn="just"/>
            <a:r>
              <a:rPr lang="en-US" b="0" i="0" dirty="0">
                <a:solidFill>
                  <a:srgbClr val="242424"/>
                </a:solidFill>
                <a:effectLst/>
                <a:latin typeface="source-serif-pro"/>
              </a:rPr>
              <a:t>Let’s Understand some more parameter that might be helpful for the evaluation of binary </a:t>
            </a:r>
            <a:r>
              <a:rPr lang="en-US" b="0" i="0" dirty="0" err="1">
                <a:solidFill>
                  <a:srgbClr val="242424"/>
                </a:solidFill>
                <a:effectLst/>
                <a:latin typeface="source-serif-pro"/>
              </a:rPr>
              <a:t>clasification</a:t>
            </a:r>
            <a:r>
              <a:rPr lang="en-US" b="0" i="0" dirty="0">
                <a:solidFill>
                  <a:srgbClr val="242424"/>
                </a:solidFill>
                <a:effectLst/>
                <a:latin typeface="source-serif-pro"/>
              </a:rPr>
              <a:t> model.</a:t>
            </a:r>
          </a:p>
          <a:p>
            <a:pPr algn="just"/>
            <a:endParaRPr lang="en-US" dirty="0">
              <a:solidFill>
                <a:srgbClr val="242424"/>
              </a:solidFill>
              <a:latin typeface="source-serif-pro"/>
            </a:endParaRPr>
          </a:p>
          <a:p>
            <a:pPr marL="457200" indent="-457200" algn="l">
              <a:buAutoNum type="arabicPeriod"/>
            </a:pPr>
            <a:r>
              <a:rPr lang="en-US" b="1" i="0" dirty="0">
                <a:solidFill>
                  <a:srgbClr val="242424"/>
                </a:solidFill>
                <a:effectLst/>
                <a:latin typeface="sohne"/>
              </a:rPr>
              <a:t>Accuracy</a:t>
            </a:r>
          </a:p>
          <a:p>
            <a:pPr algn="l"/>
            <a:endParaRPr lang="en-US" b="1" i="0" dirty="0">
              <a:solidFill>
                <a:srgbClr val="242424"/>
              </a:solidFill>
              <a:effectLst/>
              <a:latin typeface="sohne"/>
            </a:endParaRPr>
          </a:p>
          <a:p>
            <a:pPr algn="l"/>
            <a:r>
              <a:rPr lang="en-US" b="0" i="0" dirty="0">
                <a:solidFill>
                  <a:srgbClr val="242424"/>
                </a:solidFill>
                <a:effectLst/>
                <a:latin typeface="source-serif-pro"/>
              </a:rPr>
              <a:t>It is the ratio of total number of </a:t>
            </a:r>
            <a:r>
              <a:rPr lang="en-US" b="1" i="0" dirty="0">
                <a:solidFill>
                  <a:srgbClr val="242424"/>
                </a:solidFill>
                <a:effectLst/>
                <a:latin typeface="source-serif-pro"/>
              </a:rPr>
              <a:t>correct classifications </a:t>
            </a:r>
            <a:r>
              <a:rPr lang="en-US" b="0" i="0" dirty="0">
                <a:solidFill>
                  <a:srgbClr val="242424"/>
                </a:solidFill>
                <a:effectLst/>
                <a:latin typeface="source-serif-pro"/>
              </a:rPr>
              <a:t>to the</a:t>
            </a:r>
            <a:r>
              <a:rPr lang="en-US" b="1" i="0" dirty="0">
                <a:solidFill>
                  <a:srgbClr val="242424"/>
                </a:solidFill>
                <a:effectLst/>
                <a:latin typeface="source-serif-pro"/>
              </a:rPr>
              <a:t> total number of classifications.</a:t>
            </a:r>
            <a:endParaRPr lang="en-US" b="0" i="0" dirty="0">
              <a:solidFill>
                <a:srgbClr val="242424"/>
              </a:solidFill>
              <a:effectLst/>
              <a:latin typeface="source-serif-pro"/>
            </a:endParaRPr>
          </a:p>
          <a:p>
            <a:pPr algn="just"/>
            <a:endParaRPr lang="de-D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DC9BCD-6AC5-6D28-1784-760910182D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3908" y="4237035"/>
            <a:ext cx="3556183" cy="2231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88282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 4">
            <a:extLst>
              <a:ext uri="{FF2B5EF4-FFF2-40B4-BE49-F238E27FC236}">
                <a16:creationId xmlns:a16="http://schemas.microsoft.com/office/drawing/2014/main" id="{B83C4022-289C-F540-16B3-DD42D7AC136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685800"/>
            <a:ext cx="8686800" cy="50590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de-DE" sz="3200" spc="-280" dirty="0">
                <a:solidFill>
                  <a:srgbClr val="374D81"/>
                </a:solidFill>
              </a:rPr>
              <a:t>Evaluation </a:t>
            </a:r>
            <a:r>
              <a:rPr lang="de-DE" sz="3200" spc="-280" dirty="0" err="1">
                <a:solidFill>
                  <a:srgbClr val="374D81"/>
                </a:solidFill>
              </a:rPr>
              <a:t>Metrics</a:t>
            </a:r>
            <a:endParaRPr sz="3200" dirty="0">
              <a:latin typeface="Arial MT"/>
              <a:cs typeface="Arial MT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15D987-57C3-47BE-2308-5B2C71258B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3703" y="1524001"/>
            <a:ext cx="7611109" cy="2362199"/>
          </a:xfrm>
        </p:spPr>
        <p:txBody>
          <a:bodyPr/>
          <a:lstStyle/>
          <a:p>
            <a:pPr marL="342900" indent="-342900" algn="just">
              <a:buFont typeface="Wingdings" panose="05000000000000000000" pitchFamily="2" charset="2"/>
              <a:buChar char="à"/>
            </a:pPr>
            <a:r>
              <a:rPr lang="en-US" b="0" i="0" dirty="0">
                <a:solidFill>
                  <a:srgbClr val="242424"/>
                </a:solidFill>
                <a:effectLst/>
                <a:latin typeface="source-serif-pro"/>
              </a:rPr>
              <a:t>The remaining “</a:t>
            </a:r>
            <a:r>
              <a:rPr lang="de-DE" dirty="0">
                <a:solidFill>
                  <a:srgbClr val="242424"/>
                </a:solidFill>
                <a:latin typeface="source-serif-pro"/>
              </a:rPr>
              <a:t>Evaluation </a:t>
            </a:r>
            <a:r>
              <a:rPr lang="de-DE" dirty="0" err="1">
                <a:solidFill>
                  <a:srgbClr val="242424"/>
                </a:solidFill>
                <a:latin typeface="source-serif-pro"/>
              </a:rPr>
              <a:t>Metrics</a:t>
            </a:r>
            <a:r>
              <a:rPr lang="de-DE" dirty="0">
                <a:solidFill>
                  <a:srgbClr val="242424"/>
                </a:solidFill>
                <a:latin typeface="source-serif-pro"/>
              </a:rPr>
              <a:t>“</a:t>
            </a:r>
            <a:r>
              <a:rPr lang="en-US" dirty="0">
                <a:solidFill>
                  <a:srgbClr val="242424"/>
                </a:solidFill>
                <a:latin typeface="source-serif-pro"/>
              </a:rPr>
              <a:t> will be covered latter on.</a:t>
            </a:r>
          </a:p>
          <a:p>
            <a:pPr algn="just"/>
            <a:endParaRPr lang="de-DE" b="1" dirty="0">
              <a:solidFill>
                <a:srgbClr val="242424"/>
              </a:solidFill>
              <a:latin typeface="sohne"/>
            </a:endParaRPr>
          </a:p>
          <a:p>
            <a:pPr lvl="1" algn="just"/>
            <a:r>
              <a:rPr lang="de-DE" sz="2400" b="1" dirty="0">
                <a:solidFill>
                  <a:srgbClr val="242424"/>
                </a:solidFill>
                <a:latin typeface="sohne"/>
              </a:rPr>
              <a:t>2. Recall / </a:t>
            </a:r>
            <a:r>
              <a:rPr lang="de-DE" sz="2400" b="1" dirty="0" err="1">
                <a:solidFill>
                  <a:srgbClr val="242424"/>
                </a:solidFill>
                <a:latin typeface="sohne"/>
              </a:rPr>
              <a:t>Sensitivity</a:t>
            </a:r>
            <a:endParaRPr lang="de-DE" sz="2400" b="1" dirty="0">
              <a:solidFill>
                <a:srgbClr val="242424"/>
              </a:solidFill>
              <a:latin typeface="sohne"/>
            </a:endParaRPr>
          </a:p>
          <a:p>
            <a:pPr lvl="1" algn="just"/>
            <a:r>
              <a:rPr lang="de-DE" sz="2400" b="1" dirty="0">
                <a:solidFill>
                  <a:srgbClr val="242424"/>
                </a:solidFill>
                <a:latin typeface="sohne"/>
              </a:rPr>
              <a:t>3. Precision</a:t>
            </a:r>
          </a:p>
          <a:p>
            <a:pPr lvl="1" algn="just"/>
            <a:r>
              <a:rPr lang="de-DE" sz="2400" b="1" dirty="0">
                <a:solidFill>
                  <a:srgbClr val="242424"/>
                </a:solidFill>
                <a:latin typeface="sohne"/>
              </a:rPr>
              <a:t>4. F1 Score</a:t>
            </a:r>
          </a:p>
          <a:p>
            <a:pPr algn="just"/>
            <a:endParaRPr lang="de-DE" b="1" i="0" dirty="0">
              <a:solidFill>
                <a:srgbClr val="242424"/>
              </a:solidFill>
              <a:effectLst/>
              <a:latin typeface="sohne"/>
            </a:endParaRPr>
          </a:p>
          <a:p>
            <a:pPr algn="just"/>
            <a:endParaRPr lang="de-DE" b="1" dirty="0">
              <a:solidFill>
                <a:srgbClr val="242424"/>
              </a:solidFill>
              <a:latin typeface="sohne"/>
            </a:endParaRPr>
          </a:p>
        </p:txBody>
      </p:sp>
    </p:spTree>
    <p:extLst>
      <p:ext uri="{BB962C8B-B14F-4D97-AF65-F5344CB8AC3E}">
        <p14:creationId xmlns:p14="http://schemas.microsoft.com/office/powerpoint/2010/main" val="40127748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ch Newsletter by Slidesgo">
  <a:themeElements>
    <a:clrScheme name="Simple Light">
      <a:dk1>
        <a:srgbClr val="FFFFFF"/>
      </a:dk1>
      <a:lt1>
        <a:srgbClr val="0A3455"/>
      </a:lt1>
      <a:dk2>
        <a:srgbClr val="6EBDC4"/>
      </a:dk2>
      <a:lt2>
        <a:srgbClr val="416D90"/>
      </a:lt2>
      <a:accent1>
        <a:srgbClr val="B4EBF0"/>
      </a:accent1>
      <a:accent2>
        <a:srgbClr val="7CC5CC"/>
      </a:accent2>
      <a:accent3>
        <a:srgbClr val="61A6B5"/>
      </a:accent3>
      <a:accent4>
        <a:srgbClr val="548FA6"/>
      </a:accent4>
      <a:accent5>
        <a:srgbClr val="2E5F80"/>
      </a:accent5>
      <a:accent6>
        <a:srgbClr val="174366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787</Words>
  <Application>Microsoft Office PowerPoint</Application>
  <PresentationFormat>Bildschirmpräsentation (4:3)</PresentationFormat>
  <Paragraphs>97</Paragraphs>
  <Slides>11</Slides>
  <Notes>7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11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11</vt:i4>
      </vt:variant>
    </vt:vector>
  </HeadingPairs>
  <TitlesOfParts>
    <vt:vector size="24" baseType="lpstr">
      <vt:lpstr>Arial</vt:lpstr>
      <vt:lpstr>Arial MT</vt:lpstr>
      <vt:lpstr>Calibri</vt:lpstr>
      <vt:lpstr>Exo 2</vt:lpstr>
      <vt:lpstr>Fira Sans Extra Condensed Medium</vt:lpstr>
      <vt:lpstr>Georgia</vt:lpstr>
      <vt:lpstr>Roboto Condensed</vt:lpstr>
      <vt:lpstr>Roboto Condensed Light</vt:lpstr>
      <vt:lpstr>sohne</vt:lpstr>
      <vt:lpstr>source-serif-pro</vt:lpstr>
      <vt:lpstr>Wingdings</vt:lpstr>
      <vt:lpstr>Office Theme</vt:lpstr>
      <vt:lpstr>Tech Newsletter by Slidesgo</vt:lpstr>
      <vt:lpstr>Confusion Matrix </vt:lpstr>
      <vt:lpstr>Course Overview:</vt:lpstr>
      <vt:lpstr>CM for Spam Filter</vt:lpstr>
      <vt:lpstr>CM for Spam Filter</vt:lpstr>
      <vt:lpstr>Goal-based Agents versus Cost-based Agents - cont</vt:lpstr>
      <vt:lpstr>Confusion Matrix for Spam Filter</vt:lpstr>
      <vt:lpstr>Reshape the Confusion Matrix</vt:lpstr>
      <vt:lpstr>Confusion Matrix for Corona Test Kit</vt:lpstr>
      <vt:lpstr>Confusion Matrix for Corona Test Kit</vt:lpstr>
      <vt:lpstr>Evaluation Metrics</vt:lpstr>
      <vt:lpstr>Evaluation Metrics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Amr.Ghoneim</dc:creator>
  <cp:lastModifiedBy>Hamed, Osama</cp:lastModifiedBy>
  <cp:revision>32</cp:revision>
  <dcterms:created xsi:type="dcterms:W3CDTF">2023-10-15T08:43:41Z</dcterms:created>
  <dcterms:modified xsi:type="dcterms:W3CDTF">2025-11-26T08:56:22Z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2020-11-09T00:00:00Z</vt:filetime>
  </property>
  <property fmtid="{D5CDD505-2E9C-101B-9397-08002B2CF9AE}" pid="3" name="Creator">
    <vt:lpwstr>Microsoft® PowerPoint® for Office 365</vt:lpwstr>
  </property>
  <property fmtid="{D5CDD505-2E9C-101B-9397-08002B2CF9AE}" pid="4" name="LastSaved">
    <vt:filetime>2023-10-15T00:00:00Z</vt:filetime>
  </property>
</Properties>
</file>