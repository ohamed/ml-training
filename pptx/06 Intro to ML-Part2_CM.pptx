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2"/>
  </p:sldMasterIdLst>
  <p:notesMasterIdLst>
    <p:notesMasterId r:id="rId14"/>
  </p:notesMasterIdLst>
  <p:sldIdLst>
    <p:sldId id="321" r:id="rId3"/>
    <p:sldId id="310" r:id="rId4"/>
    <p:sldId id="329" r:id="rId5"/>
    <p:sldId id="318" r:id="rId6"/>
    <p:sldId id="328" r:id="rId7"/>
    <p:sldId id="319" r:id="rId8"/>
    <p:sldId id="320" r:id="rId9"/>
    <p:sldId id="322" r:id="rId10"/>
    <p:sldId id="323" r:id="rId11"/>
    <p:sldId id="325" r:id="rId12"/>
    <p:sldId id="326" r:id="rId13"/>
  </p:sldIdLst>
  <p:sldSz cx="9144000" cy="6858000" type="screen4x3"/>
  <p:notesSz cx="9144000" cy="6858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7" d="100"/>
          <a:sy n="117" d="100"/>
        </p:scale>
        <p:origin x="1392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4B2A29-96CD-42B0-BDCE-1F1D42C45414}" type="datetimeFigureOut">
              <a:rPr lang="de-DE" smtClean="0"/>
              <a:t>25.11.2025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7FD71-A802-443B-81BB-E0269ADED3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2679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e2db3e8363_1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e2db3e8363_1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7FD71-A802-443B-81BB-E0269ADED34F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48484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2FB33-44F6-4BAA-C485-F71CDA6AE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13694D-DE69-5AEB-1DD6-D21F623F3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31E114-6C92-3E19-0AF0-69E33E5EE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84EB1-B1D7-1713-95D1-C0410F8AAB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7FD71-A802-443B-81BB-E0269ADED34F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77951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https://medium.com/analytics-vidhya/confusion-matrix-wont-confuse-you-anymore-90424c1bdba9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7FD71-A802-443B-81BB-E0269ADED34F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48726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https://medium.com/analytics-vidhya/confusion-matrix-wont-confuse-you-anymore-90424c1bdba9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7FD71-A802-443B-81BB-E0269ADED34F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64552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https://medium.com/analytics-vidhya/confusion-matrix-wont-confuse-you-anymore-90424c1bdba9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7FD71-A802-443B-81BB-E0269ADED34F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1520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https://medium.com/analytics-vidhya/confusion-matrix-wont-confuse-you-anymore-90424c1bdba9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7FD71-A802-443B-81BB-E0269ADED34F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3747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3570" y="13207"/>
            <a:ext cx="8896858" cy="391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1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‹Nr.›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‹Nr.›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‹Nr.›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‹Nr.›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‹Nr.›</a:t>
            </a:fld>
            <a:endParaRPr spc="-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>
  <p:cSld name="Opening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35981" y="1858265"/>
            <a:ext cx="6886800" cy="23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70681" y="3911363"/>
            <a:ext cx="4352100" cy="9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4318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385875" y="2798200"/>
            <a:ext cx="2372400" cy="12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ctrTitle" idx="2"/>
          </p:nvPr>
        </p:nvSpPr>
        <p:spPr>
          <a:xfrm>
            <a:off x="390296" y="268871"/>
            <a:ext cx="19743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690446" y="875304"/>
            <a:ext cx="16743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3" hasCustomPrompt="1"/>
          </p:nvPr>
        </p:nvSpPr>
        <p:spPr>
          <a:xfrm>
            <a:off x="2118448" y="725931"/>
            <a:ext cx="11076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4" hasCustomPrompt="1"/>
          </p:nvPr>
        </p:nvSpPr>
        <p:spPr>
          <a:xfrm>
            <a:off x="2105406" y="2021077"/>
            <a:ext cx="11076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5" hasCustomPrompt="1"/>
          </p:nvPr>
        </p:nvSpPr>
        <p:spPr>
          <a:xfrm>
            <a:off x="2105406" y="3316224"/>
            <a:ext cx="11076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6" hasCustomPrompt="1"/>
          </p:nvPr>
        </p:nvSpPr>
        <p:spPr>
          <a:xfrm>
            <a:off x="5922008" y="2790184"/>
            <a:ext cx="10722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7" hasCustomPrompt="1"/>
          </p:nvPr>
        </p:nvSpPr>
        <p:spPr>
          <a:xfrm>
            <a:off x="5922008" y="4149781"/>
            <a:ext cx="10722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8" hasCustomPrompt="1"/>
          </p:nvPr>
        </p:nvSpPr>
        <p:spPr>
          <a:xfrm>
            <a:off x="5922008" y="5509377"/>
            <a:ext cx="10722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>
            <a:spLocks noGrp="1"/>
          </p:cNvSpPr>
          <p:nvPr>
            <p:ph type="ctrTitle" idx="9"/>
          </p:nvPr>
        </p:nvSpPr>
        <p:spPr>
          <a:xfrm>
            <a:off x="390296" y="1557139"/>
            <a:ext cx="19743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3"/>
          </p:nvPr>
        </p:nvSpPr>
        <p:spPr>
          <a:xfrm>
            <a:off x="690446" y="2163569"/>
            <a:ext cx="16743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ctrTitle" idx="14"/>
          </p:nvPr>
        </p:nvSpPr>
        <p:spPr>
          <a:xfrm>
            <a:off x="390296" y="2855115"/>
            <a:ext cx="19743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5"/>
          </p:nvPr>
        </p:nvSpPr>
        <p:spPr>
          <a:xfrm>
            <a:off x="690446" y="3461541"/>
            <a:ext cx="16743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ctrTitle" idx="16"/>
          </p:nvPr>
        </p:nvSpPr>
        <p:spPr>
          <a:xfrm>
            <a:off x="6811558" y="2366907"/>
            <a:ext cx="19743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17"/>
          </p:nvPr>
        </p:nvSpPr>
        <p:spPr>
          <a:xfrm>
            <a:off x="6811558" y="2973340"/>
            <a:ext cx="16743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ctrTitle" idx="18"/>
          </p:nvPr>
        </p:nvSpPr>
        <p:spPr>
          <a:xfrm>
            <a:off x="6811558" y="3732127"/>
            <a:ext cx="19743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9"/>
          </p:nvPr>
        </p:nvSpPr>
        <p:spPr>
          <a:xfrm>
            <a:off x="6811558" y="4338556"/>
            <a:ext cx="16743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ctrTitle" idx="20"/>
          </p:nvPr>
        </p:nvSpPr>
        <p:spPr>
          <a:xfrm>
            <a:off x="6811558" y="5081804"/>
            <a:ext cx="19743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ubTitle" idx="21"/>
          </p:nvPr>
        </p:nvSpPr>
        <p:spPr>
          <a:xfrm>
            <a:off x="6811558" y="5688231"/>
            <a:ext cx="16743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6972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1">
  <p:cSld name="Section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ctrTitle"/>
          </p:nvPr>
        </p:nvSpPr>
        <p:spPr>
          <a:xfrm flipH="1">
            <a:off x="1147650" y="4113533"/>
            <a:ext cx="5005500" cy="136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1147579" y="3098467"/>
            <a:ext cx="2979300" cy="10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1"/>
          </p:nvPr>
        </p:nvSpPr>
        <p:spPr>
          <a:xfrm>
            <a:off x="1147575" y="5371945"/>
            <a:ext cx="4224900" cy="7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62166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title">
  <p:cSld name="Title + sub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ctrTitle"/>
          </p:nvPr>
        </p:nvSpPr>
        <p:spPr>
          <a:xfrm>
            <a:off x="2638350" y="501997"/>
            <a:ext cx="3867300" cy="2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1"/>
          </p:nvPr>
        </p:nvSpPr>
        <p:spPr>
          <a:xfrm>
            <a:off x="2459550" y="3085633"/>
            <a:ext cx="4224900" cy="23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5166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Title + Desig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ctrTitle"/>
          </p:nvPr>
        </p:nvSpPr>
        <p:spPr>
          <a:xfrm>
            <a:off x="1964851" y="470467"/>
            <a:ext cx="52143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32553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2">
  <p:cSld name="Section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ctrTitle"/>
          </p:nvPr>
        </p:nvSpPr>
        <p:spPr>
          <a:xfrm flipH="1">
            <a:off x="2747779" y="3514233"/>
            <a:ext cx="5195700" cy="25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4964179" y="3098467"/>
            <a:ext cx="2979300" cy="10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3" name="Google Shape;43;p7"/>
          <p:cNvSpPr txBox="1">
            <a:spLocks noGrp="1"/>
          </p:cNvSpPr>
          <p:nvPr>
            <p:ph type="subTitle" idx="1"/>
          </p:nvPr>
        </p:nvSpPr>
        <p:spPr>
          <a:xfrm>
            <a:off x="3718579" y="5373975"/>
            <a:ext cx="4224900" cy="7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51943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photo">
  <p:cSld name="Text + phot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ctrTitle"/>
          </p:nvPr>
        </p:nvSpPr>
        <p:spPr>
          <a:xfrm>
            <a:off x="1600733" y="1313637"/>
            <a:ext cx="2673600" cy="2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subTitle" idx="1"/>
          </p:nvPr>
        </p:nvSpPr>
        <p:spPr>
          <a:xfrm>
            <a:off x="1179233" y="4077900"/>
            <a:ext cx="3095100" cy="23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ctrTitle" idx="2"/>
          </p:nvPr>
        </p:nvSpPr>
        <p:spPr>
          <a:xfrm>
            <a:off x="1932090" y="470467"/>
            <a:ext cx="52143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962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">
  <p:cSld name="Number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>
            <a:spLocks noGrp="1"/>
          </p:cNvSpPr>
          <p:nvPr>
            <p:ph type="ctrTitle"/>
          </p:nvPr>
        </p:nvSpPr>
        <p:spPr>
          <a:xfrm>
            <a:off x="1964851" y="470467"/>
            <a:ext cx="52143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title" idx="2" hasCustomPrompt="1"/>
          </p:nvPr>
        </p:nvSpPr>
        <p:spPr>
          <a:xfrm>
            <a:off x="1086651" y="1966833"/>
            <a:ext cx="1795200" cy="10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9"/>
          <p:cNvSpPr txBox="1">
            <a:spLocks noGrp="1"/>
          </p:cNvSpPr>
          <p:nvPr>
            <p:ph type="subTitle" idx="1"/>
          </p:nvPr>
        </p:nvSpPr>
        <p:spPr>
          <a:xfrm flipH="1">
            <a:off x="3481677" y="2221939"/>
            <a:ext cx="3264900" cy="4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title" idx="3" hasCustomPrompt="1"/>
          </p:nvPr>
        </p:nvSpPr>
        <p:spPr>
          <a:xfrm>
            <a:off x="2298451" y="3300467"/>
            <a:ext cx="1763700" cy="10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9"/>
          <p:cNvSpPr txBox="1">
            <a:spLocks noGrp="1"/>
          </p:cNvSpPr>
          <p:nvPr>
            <p:ph type="subTitle" idx="4"/>
          </p:nvPr>
        </p:nvSpPr>
        <p:spPr>
          <a:xfrm flipH="1">
            <a:off x="4568051" y="3584567"/>
            <a:ext cx="3264900" cy="4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title" idx="5" hasCustomPrompt="1"/>
          </p:nvPr>
        </p:nvSpPr>
        <p:spPr>
          <a:xfrm>
            <a:off x="3353176" y="4684833"/>
            <a:ext cx="1795200" cy="10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9"/>
          <p:cNvSpPr txBox="1">
            <a:spLocks noGrp="1"/>
          </p:cNvSpPr>
          <p:nvPr>
            <p:ph type="subTitle" idx="6"/>
          </p:nvPr>
        </p:nvSpPr>
        <p:spPr>
          <a:xfrm flipH="1">
            <a:off x="5671490" y="4946588"/>
            <a:ext cx="3264900" cy="4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05192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Three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ctrTitle"/>
          </p:nvPr>
        </p:nvSpPr>
        <p:spPr>
          <a:xfrm>
            <a:off x="1964851" y="470467"/>
            <a:ext cx="52143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ctrTitle" idx="2"/>
          </p:nvPr>
        </p:nvSpPr>
        <p:spPr>
          <a:xfrm>
            <a:off x="561600" y="3739617"/>
            <a:ext cx="26736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ubTitle" idx="1"/>
          </p:nvPr>
        </p:nvSpPr>
        <p:spPr>
          <a:xfrm>
            <a:off x="872450" y="4120633"/>
            <a:ext cx="20520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ctrTitle" idx="3"/>
          </p:nvPr>
        </p:nvSpPr>
        <p:spPr>
          <a:xfrm>
            <a:off x="3235200" y="3739617"/>
            <a:ext cx="26736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subTitle" idx="4"/>
          </p:nvPr>
        </p:nvSpPr>
        <p:spPr>
          <a:xfrm>
            <a:off x="3462900" y="2715667"/>
            <a:ext cx="22182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ctrTitle" idx="5"/>
          </p:nvPr>
        </p:nvSpPr>
        <p:spPr>
          <a:xfrm>
            <a:off x="5908800" y="3739617"/>
            <a:ext cx="26736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ubTitle" idx="6"/>
          </p:nvPr>
        </p:nvSpPr>
        <p:spPr>
          <a:xfrm>
            <a:off x="6136500" y="4120633"/>
            <a:ext cx="22182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495723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3">
  <p:cSld name="Section 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ctrTitle"/>
          </p:nvPr>
        </p:nvSpPr>
        <p:spPr>
          <a:xfrm flipH="1">
            <a:off x="2754543" y="1796051"/>
            <a:ext cx="5195700" cy="25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4970943" y="1380284"/>
            <a:ext cx="2979300" cy="10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3725343" y="3657319"/>
            <a:ext cx="4224900" cy="7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10755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">
  <p:cSld name="Six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ctrTitle"/>
          </p:nvPr>
        </p:nvSpPr>
        <p:spPr>
          <a:xfrm>
            <a:off x="1964851" y="470467"/>
            <a:ext cx="52143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ctrTitle" idx="2"/>
          </p:nvPr>
        </p:nvSpPr>
        <p:spPr>
          <a:xfrm>
            <a:off x="464478" y="2408667"/>
            <a:ext cx="17805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subTitle" idx="1"/>
          </p:nvPr>
        </p:nvSpPr>
        <p:spPr>
          <a:xfrm>
            <a:off x="616128" y="2800999"/>
            <a:ext cx="14772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ctrTitle" idx="3"/>
          </p:nvPr>
        </p:nvSpPr>
        <p:spPr>
          <a:xfrm>
            <a:off x="2077426" y="2408667"/>
            <a:ext cx="17805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ubTitle" idx="4"/>
          </p:nvPr>
        </p:nvSpPr>
        <p:spPr>
          <a:xfrm>
            <a:off x="2229076" y="2800999"/>
            <a:ext cx="14772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ctrTitle" idx="5"/>
          </p:nvPr>
        </p:nvSpPr>
        <p:spPr>
          <a:xfrm>
            <a:off x="3690375" y="2408667"/>
            <a:ext cx="17805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ubTitle" idx="6"/>
          </p:nvPr>
        </p:nvSpPr>
        <p:spPr>
          <a:xfrm>
            <a:off x="3842025" y="2800999"/>
            <a:ext cx="14772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ctrTitle" idx="7"/>
          </p:nvPr>
        </p:nvSpPr>
        <p:spPr>
          <a:xfrm>
            <a:off x="3707117" y="4733149"/>
            <a:ext cx="17805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ubTitle" idx="8"/>
          </p:nvPr>
        </p:nvSpPr>
        <p:spPr>
          <a:xfrm>
            <a:off x="3858772" y="5186935"/>
            <a:ext cx="14772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ctrTitle" idx="9"/>
          </p:nvPr>
        </p:nvSpPr>
        <p:spPr>
          <a:xfrm>
            <a:off x="5343519" y="4733149"/>
            <a:ext cx="17805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ubTitle" idx="13"/>
          </p:nvPr>
        </p:nvSpPr>
        <p:spPr>
          <a:xfrm>
            <a:off x="5500261" y="5186935"/>
            <a:ext cx="14772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ctrTitle" idx="14"/>
          </p:nvPr>
        </p:nvSpPr>
        <p:spPr>
          <a:xfrm>
            <a:off x="6979921" y="4733149"/>
            <a:ext cx="17805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ubTitle" idx="15"/>
          </p:nvPr>
        </p:nvSpPr>
        <p:spPr>
          <a:xfrm>
            <a:off x="7141750" y="5186935"/>
            <a:ext cx="14568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36347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wo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>
            <a:spLocks noGrp="1"/>
          </p:cNvSpPr>
          <p:nvPr>
            <p:ph type="ctrTitle"/>
          </p:nvPr>
        </p:nvSpPr>
        <p:spPr>
          <a:xfrm>
            <a:off x="1964851" y="470467"/>
            <a:ext cx="52143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ctrTitle" idx="2"/>
          </p:nvPr>
        </p:nvSpPr>
        <p:spPr>
          <a:xfrm>
            <a:off x="1741950" y="3795600"/>
            <a:ext cx="12579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741950" y="2200033"/>
            <a:ext cx="21573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3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ctrTitle" idx="3"/>
          </p:nvPr>
        </p:nvSpPr>
        <p:spPr>
          <a:xfrm>
            <a:off x="5633751" y="4847067"/>
            <a:ext cx="17805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4"/>
          </p:nvPr>
        </p:nvSpPr>
        <p:spPr>
          <a:xfrm>
            <a:off x="5256958" y="3253408"/>
            <a:ext cx="21573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3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191825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2">
  <p:cSld name="Title + Design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>
            <a:spLocks noGrp="1"/>
          </p:cNvSpPr>
          <p:nvPr>
            <p:ph type="ctrTitle"/>
          </p:nvPr>
        </p:nvSpPr>
        <p:spPr>
          <a:xfrm>
            <a:off x="1964851" y="470467"/>
            <a:ext cx="52143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27597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4">
  <p:cSld name="Section 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>
            <a:spLocks noGrp="1"/>
          </p:cNvSpPr>
          <p:nvPr>
            <p:ph type="ctrTitle"/>
          </p:nvPr>
        </p:nvSpPr>
        <p:spPr>
          <a:xfrm flipH="1">
            <a:off x="1180003" y="1796051"/>
            <a:ext cx="5195700" cy="25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1180003" y="1380284"/>
            <a:ext cx="2979300" cy="10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15"/>
          <p:cNvSpPr txBox="1">
            <a:spLocks noGrp="1"/>
          </p:cNvSpPr>
          <p:nvPr>
            <p:ph type="subTitle" idx="1"/>
          </p:nvPr>
        </p:nvSpPr>
        <p:spPr>
          <a:xfrm>
            <a:off x="1180003" y="3657319"/>
            <a:ext cx="4224900" cy="7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10647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">
  <p:cSld name="Four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>
            <a:spLocks noGrp="1"/>
          </p:cNvSpPr>
          <p:nvPr>
            <p:ph type="ctrTitle"/>
          </p:nvPr>
        </p:nvSpPr>
        <p:spPr>
          <a:xfrm>
            <a:off x="1964851" y="470467"/>
            <a:ext cx="52143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16"/>
          <p:cNvSpPr txBox="1">
            <a:spLocks noGrp="1"/>
          </p:cNvSpPr>
          <p:nvPr>
            <p:ph type="ctrTitle" idx="2"/>
          </p:nvPr>
        </p:nvSpPr>
        <p:spPr>
          <a:xfrm>
            <a:off x="2285760" y="2202723"/>
            <a:ext cx="17931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subTitle" idx="1"/>
          </p:nvPr>
        </p:nvSpPr>
        <p:spPr>
          <a:xfrm>
            <a:off x="2285760" y="2595056"/>
            <a:ext cx="17082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ctrTitle" idx="3"/>
          </p:nvPr>
        </p:nvSpPr>
        <p:spPr>
          <a:xfrm>
            <a:off x="2285760" y="4760764"/>
            <a:ext cx="17931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subTitle" idx="4"/>
          </p:nvPr>
        </p:nvSpPr>
        <p:spPr>
          <a:xfrm>
            <a:off x="2285760" y="5153097"/>
            <a:ext cx="17082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ctrTitle" idx="5"/>
          </p:nvPr>
        </p:nvSpPr>
        <p:spPr>
          <a:xfrm>
            <a:off x="5047297" y="2202723"/>
            <a:ext cx="17931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subTitle" idx="6"/>
          </p:nvPr>
        </p:nvSpPr>
        <p:spPr>
          <a:xfrm>
            <a:off x="5047299" y="2595056"/>
            <a:ext cx="17931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ctrTitle" idx="7"/>
          </p:nvPr>
        </p:nvSpPr>
        <p:spPr>
          <a:xfrm>
            <a:off x="5047297" y="4760764"/>
            <a:ext cx="17931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subTitle" idx="8"/>
          </p:nvPr>
        </p:nvSpPr>
        <p:spPr>
          <a:xfrm>
            <a:off x="5047299" y="5153097"/>
            <a:ext cx="17931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280784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">
  <p:cSld name="Big title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>
            <a:spLocks noGrp="1"/>
          </p:cNvSpPr>
          <p:nvPr>
            <p:ph type="ctrTitle"/>
          </p:nvPr>
        </p:nvSpPr>
        <p:spPr>
          <a:xfrm flipH="1">
            <a:off x="1193529" y="2148200"/>
            <a:ext cx="5195700" cy="25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2pPr>
            <a:lvl3pPr lvl="2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3pPr>
            <a:lvl4pPr lvl="3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4pPr>
            <a:lvl5pPr lvl="4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5pPr>
            <a:lvl6pPr lvl="5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6pPr>
            <a:lvl7pPr lvl="6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7pPr>
            <a:lvl8pPr lvl="7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8pPr>
            <a:lvl9pPr lvl="8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105556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5">
  <p:cSld name="Section 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>
            <a:spLocks noGrp="1"/>
          </p:cNvSpPr>
          <p:nvPr>
            <p:ph type="ctrTitle"/>
          </p:nvPr>
        </p:nvSpPr>
        <p:spPr>
          <a:xfrm flipH="1">
            <a:off x="2260329" y="2925073"/>
            <a:ext cx="5195700" cy="25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2260329" y="2509307"/>
            <a:ext cx="2979300" cy="10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9" name="Google Shape;109;p18"/>
          <p:cNvSpPr txBox="1">
            <a:spLocks noGrp="1"/>
          </p:cNvSpPr>
          <p:nvPr>
            <p:ph type="subTitle" idx="1"/>
          </p:nvPr>
        </p:nvSpPr>
        <p:spPr>
          <a:xfrm>
            <a:off x="2260329" y="4634739"/>
            <a:ext cx="4224900" cy="7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12929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3">
  <p:cSld name="Title + Design 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>
            <a:spLocks noGrp="1"/>
          </p:cNvSpPr>
          <p:nvPr>
            <p:ph type="ctrTitle"/>
          </p:nvPr>
        </p:nvSpPr>
        <p:spPr>
          <a:xfrm>
            <a:off x="1964851" y="470467"/>
            <a:ext cx="52143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47271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4">
  <p:cSld name="Title + Design 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ctrTitle"/>
          </p:nvPr>
        </p:nvSpPr>
        <p:spPr>
          <a:xfrm>
            <a:off x="1964851" y="470467"/>
            <a:ext cx="52143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48261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6">
  <p:cSld name="Section 6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ctrTitle"/>
          </p:nvPr>
        </p:nvSpPr>
        <p:spPr>
          <a:xfrm flipH="1">
            <a:off x="1698072" y="2904633"/>
            <a:ext cx="5195700" cy="25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3914472" y="2488867"/>
            <a:ext cx="2979300" cy="10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17" name="Google Shape;117;p21"/>
          <p:cNvSpPr txBox="1">
            <a:spLocks noGrp="1"/>
          </p:cNvSpPr>
          <p:nvPr>
            <p:ph type="subTitle" idx="1"/>
          </p:nvPr>
        </p:nvSpPr>
        <p:spPr>
          <a:xfrm>
            <a:off x="2668872" y="4634739"/>
            <a:ext cx="4224900" cy="7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06070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5">
  <p:cSld name="Title + Design 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>
            <a:spLocks noGrp="1"/>
          </p:cNvSpPr>
          <p:nvPr>
            <p:ph type="ctrTitle"/>
          </p:nvPr>
        </p:nvSpPr>
        <p:spPr>
          <a:xfrm>
            <a:off x="1964851" y="470467"/>
            <a:ext cx="52143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84549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>
            <a:spLocks noGrp="1"/>
          </p:cNvSpPr>
          <p:nvPr>
            <p:ph type="ctrTitle"/>
          </p:nvPr>
        </p:nvSpPr>
        <p:spPr>
          <a:xfrm flipH="1">
            <a:off x="1974150" y="1548000"/>
            <a:ext cx="5195700" cy="182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23"/>
          <p:cNvSpPr txBox="1">
            <a:spLocks noGrp="1"/>
          </p:cNvSpPr>
          <p:nvPr>
            <p:ph type="subTitle" idx="1"/>
          </p:nvPr>
        </p:nvSpPr>
        <p:spPr>
          <a:xfrm>
            <a:off x="2152500" y="3326467"/>
            <a:ext cx="48390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3"/>
          <p:cNvSpPr txBox="1"/>
          <p:nvPr/>
        </p:nvSpPr>
        <p:spPr>
          <a:xfrm>
            <a:off x="625906" y="4963224"/>
            <a:ext cx="3830100" cy="2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CREDITS: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, including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, 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. </a:t>
            </a:r>
            <a:endParaRPr sz="10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Please keep this slide for attribution.</a:t>
            </a:r>
            <a:endParaRPr sz="9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9382907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>
  <p:cSld name="Title + 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body" idx="1"/>
          </p:nvPr>
        </p:nvSpPr>
        <p:spPr>
          <a:xfrm>
            <a:off x="642050" y="2846400"/>
            <a:ext cx="5308200" cy="19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ctrTitle"/>
          </p:nvPr>
        </p:nvSpPr>
        <p:spPr>
          <a:xfrm>
            <a:off x="1964851" y="470467"/>
            <a:ext cx="52143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34058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Blank slide">
    <p:bg>
      <p:bgPr>
        <a:noFill/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56480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0" name="Google Shape;130;p26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1" name="Google Shape;131;p26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9129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23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21" Type="http://schemas.openxmlformats.org/officeDocument/2006/relationships/slideLayout" Target="../slideLayouts/slideLayout26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2.xml"/><Relationship Id="rId25" Type="http://schemas.openxmlformats.org/officeDocument/2006/relationships/slideLayout" Target="../slideLayouts/slideLayout30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2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24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54582" y="609422"/>
            <a:ext cx="285369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3703" y="2035200"/>
            <a:ext cx="7611109" cy="2540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89619" y="6443989"/>
            <a:ext cx="24701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‹Nr.›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 b="1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9114499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  <p:sldLayoutId id="2147483687" r:id="rId20"/>
    <p:sldLayoutId id="2147483688" r:id="rId21"/>
    <p:sldLayoutId id="2147483689" r:id="rId22"/>
    <p:sldLayoutId id="2147483690" r:id="rId23"/>
    <p:sldLayoutId id="2147483691" r:id="rId24"/>
    <p:sldLayoutId id="2147483692" r:id="rId2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791F3E-AF00-4D42-C74F-8D4BA76421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570" y="13207"/>
            <a:ext cx="8896858" cy="738664"/>
          </a:xfrm>
        </p:spPr>
        <p:txBody>
          <a:bodyPr/>
          <a:lstStyle/>
          <a:p>
            <a:r>
              <a:rPr lang="de-DE" sz="2400" spc="-280" dirty="0" err="1">
                <a:solidFill>
                  <a:srgbClr val="374D81"/>
                </a:solidFill>
              </a:rPr>
              <a:t>Confusion</a:t>
            </a:r>
            <a:r>
              <a:rPr lang="de-DE" sz="2400" spc="-280" dirty="0">
                <a:solidFill>
                  <a:srgbClr val="374D81"/>
                </a:solidFill>
              </a:rPr>
              <a:t> Matrix</a:t>
            </a:r>
            <a:br>
              <a:rPr lang="de-DE" dirty="0"/>
            </a:br>
            <a:endParaRPr lang="de-DE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1DA983B-9EA6-2A30-D557-AE7784CED0D8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508105"/>
          </a:xfrm>
        </p:spPr>
        <p:txBody>
          <a:bodyPr/>
          <a:lstStyle/>
          <a:p>
            <a:pPr algn="ctr"/>
            <a:r>
              <a:rPr lang="de-DE" sz="4800" spc="-280" dirty="0">
                <a:solidFill>
                  <a:srgbClr val="374D81"/>
                </a:solidFill>
              </a:rPr>
              <a:t>06 - </a:t>
            </a:r>
            <a:r>
              <a:rPr lang="en" sz="4800" spc="-280" dirty="0">
                <a:solidFill>
                  <a:srgbClr val="374D81"/>
                </a:solidFill>
              </a:rPr>
              <a:t>Intro to ML </a:t>
            </a:r>
          </a:p>
          <a:p>
            <a:pPr algn="ctr"/>
            <a:r>
              <a:rPr lang="de-DE" sz="2800" spc="-280" dirty="0" err="1">
                <a:solidFill>
                  <a:srgbClr val="374D81"/>
                </a:solidFill>
              </a:rPr>
              <a:t>Confusion</a:t>
            </a:r>
            <a:r>
              <a:rPr lang="de-DE" sz="2800" spc="-280" dirty="0">
                <a:solidFill>
                  <a:srgbClr val="374D81"/>
                </a:solidFill>
              </a:rPr>
              <a:t> Matrix (CM)</a:t>
            </a:r>
            <a:endParaRPr lang="de-DE" sz="2800" dirty="0"/>
          </a:p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4346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9"/>
          <p:cNvSpPr txBox="1">
            <a:spLocks noGrp="1"/>
          </p:cNvSpPr>
          <p:nvPr>
            <p:ph type="ctrTitle"/>
          </p:nvPr>
        </p:nvSpPr>
        <p:spPr>
          <a:xfrm>
            <a:off x="1645200" y="1210100"/>
            <a:ext cx="58536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Course Overview:</a:t>
            </a:r>
            <a:endParaRPr dirty="0"/>
          </a:p>
        </p:txBody>
      </p:sp>
      <p:sp>
        <p:nvSpPr>
          <p:cNvPr id="231" name="Google Shape;231;p39"/>
          <p:cNvSpPr/>
          <p:nvPr/>
        </p:nvSpPr>
        <p:spPr>
          <a:xfrm>
            <a:off x="662850" y="2156300"/>
            <a:ext cx="15618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en" sz="1200" kern="0" dirty="0">
                <a:solidFill>
                  <a:srgbClr val="B4EBF0"/>
                </a:solidFill>
                <a:latin typeface="Exo 2"/>
                <a:cs typeface="Arial"/>
                <a:sym typeface="Exo 2"/>
              </a:rPr>
              <a:t>1.1 - Python Review</a:t>
            </a:r>
            <a:endParaRPr sz="1200" kern="0" dirty="0">
              <a:solidFill>
                <a:srgbClr val="B4EBF0"/>
              </a:solidFill>
              <a:latin typeface="Exo 2"/>
              <a:cs typeface="Arial"/>
              <a:sym typeface="Exo 2"/>
            </a:endParaRPr>
          </a:p>
        </p:txBody>
      </p:sp>
      <p:sp>
        <p:nvSpPr>
          <p:cNvPr id="232" name="Google Shape;232;p39"/>
          <p:cNvSpPr/>
          <p:nvPr/>
        </p:nvSpPr>
        <p:spPr>
          <a:xfrm>
            <a:off x="2684776" y="2166400"/>
            <a:ext cx="15618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en" sz="1200" kern="0" dirty="0">
                <a:solidFill>
                  <a:srgbClr val="B4EBF0"/>
                </a:solidFill>
                <a:latin typeface="Exo 2"/>
                <a:cs typeface="Arial"/>
                <a:sym typeface="Arial"/>
              </a:rPr>
              <a:t>1.2 - Numpy</a:t>
            </a:r>
            <a:endParaRPr sz="1200" kern="0" dirty="0">
              <a:solidFill>
                <a:srgbClr val="B4EBF0"/>
              </a:solidFill>
              <a:latin typeface="Exo 2"/>
              <a:cs typeface="Arial"/>
              <a:sym typeface="Arial"/>
            </a:endParaRPr>
          </a:p>
        </p:txBody>
      </p:sp>
      <p:cxnSp>
        <p:nvCxnSpPr>
          <p:cNvPr id="233" name="Google Shape;233;p39"/>
          <p:cNvCxnSpPr>
            <a:stCxn id="231" idx="3"/>
            <a:endCxn id="232" idx="1"/>
          </p:cNvCxnSpPr>
          <p:nvPr/>
        </p:nvCxnSpPr>
        <p:spPr>
          <a:xfrm>
            <a:off x="2224650" y="2554550"/>
            <a:ext cx="4602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4" name="Google Shape;234;p39"/>
          <p:cNvSpPr/>
          <p:nvPr/>
        </p:nvSpPr>
        <p:spPr>
          <a:xfrm>
            <a:off x="4681975" y="2156200"/>
            <a:ext cx="15618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en" sz="1200" kern="0" dirty="0">
                <a:solidFill>
                  <a:srgbClr val="B4EBF0"/>
                </a:solidFill>
                <a:latin typeface="Exo 2"/>
                <a:cs typeface="Arial"/>
                <a:sym typeface="Exo 2"/>
              </a:rPr>
              <a:t>1.3 - Pandas</a:t>
            </a:r>
            <a:endParaRPr sz="1200" kern="0" dirty="0">
              <a:solidFill>
                <a:srgbClr val="B4EBF0"/>
              </a:solidFill>
              <a:latin typeface="Exo 2"/>
              <a:cs typeface="Arial"/>
              <a:sym typeface="Exo 2"/>
            </a:endParaRPr>
          </a:p>
        </p:txBody>
      </p:sp>
      <p:sp>
        <p:nvSpPr>
          <p:cNvPr id="235" name="Google Shape;235;p39"/>
          <p:cNvSpPr/>
          <p:nvPr/>
        </p:nvSpPr>
        <p:spPr>
          <a:xfrm>
            <a:off x="6679176" y="2166500"/>
            <a:ext cx="15618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en" sz="1200" kern="0" dirty="0">
                <a:solidFill>
                  <a:srgbClr val="B4EBF0"/>
                </a:solidFill>
                <a:latin typeface="Exo 2"/>
                <a:cs typeface="Arial"/>
                <a:sym typeface="Arial"/>
              </a:rPr>
              <a:t>1.4 - Seaborn</a:t>
            </a:r>
            <a:endParaRPr sz="1200" kern="0" dirty="0">
              <a:solidFill>
                <a:srgbClr val="B4EBF0"/>
              </a:solidFill>
              <a:latin typeface="Exo 2"/>
              <a:cs typeface="Arial"/>
              <a:sym typeface="Arial"/>
            </a:endParaRPr>
          </a:p>
        </p:txBody>
      </p:sp>
      <p:cxnSp>
        <p:nvCxnSpPr>
          <p:cNvPr id="236" name="Google Shape;236;p39"/>
          <p:cNvCxnSpPr>
            <a:stCxn id="234" idx="3"/>
            <a:endCxn id="235" idx="1"/>
          </p:cNvCxnSpPr>
          <p:nvPr/>
        </p:nvCxnSpPr>
        <p:spPr>
          <a:xfrm>
            <a:off x="6243775" y="2554450"/>
            <a:ext cx="4353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7" name="Google Shape;237;p39"/>
          <p:cNvCxnSpPr/>
          <p:nvPr/>
        </p:nvCxnSpPr>
        <p:spPr>
          <a:xfrm>
            <a:off x="4234250" y="2554550"/>
            <a:ext cx="4353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8" name="Google Shape;238;p39"/>
          <p:cNvSpPr/>
          <p:nvPr/>
        </p:nvSpPr>
        <p:spPr>
          <a:xfrm>
            <a:off x="662850" y="3245325"/>
            <a:ext cx="10215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en" sz="1200" kern="0" dirty="0">
                <a:solidFill>
                  <a:srgbClr val="B4EBF0"/>
                </a:solidFill>
                <a:latin typeface="Exo 2"/>
                <a:cs typeface="Arial"/>
                <a:sym typeface="Exo 2"/>
              </a:rPr>
              <a:t>2.1 - ML Intro</a:t>
            </a:r>
            <a:endParaRPr sz="1200" kern="0" dirty="0">
              <a:solidFill>
                <a:srgbClr val="B4EBF0"/>
              </a:solidFill>
              <a:latin typeface="Exo 2"/>
              <a:cs typeface="Arial"/>
              <a:sym typeface="Exo 2"/>
            </a:endParaRPr>
          </a:p>
        </p:txBody>
      </p:sp>
      <p:sp>
        <p:nvSpPr>
          <p:cNvPr id="239" name="Google Shape;239;p39"/>
          <p:cNvSpPr/>
          <p:nvPr/>
        </p:nvSpPr>
        <p:spPr>
          <a:xfrm>
            <a:off x="1985500" y="3255425"/>
            <a:ext cx="10215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en" sz="1100" kern="0" dirty="0">
                <a:solidFill>
                  <a:srgbClr val="B4EBF0"/>
                </a:solidFill>
                <a:latin typeface="Exo 2"/>
                <a:cs typeface="Arial"/>
                <a:sym typeface="Arial"/>
              </a:rPr>
              <a:t>2.2 - Linear Regression</a:t>
            </a:r>
            <a:endParaRPr sz="1100" kern="0" dirty="0">
              <a:solidFill>
                <a:srgbClr val="B4EBF0"/>
              </a:solidFill>
              <a:latin typeface="Exo 2"/>
              <a:cs typeface="Arial"/>
              <a:sym typeface="Arial"/>
            </a:endParaRPr>
          </a:p>
        </p:txBody>
      </p:sp>
      <p:cxnSp>
        <p:nvCxnSpPr>
          <p:cNvPr id="240" name="Google Shape;240;p39"/>
          <p:cNvCxnSpPr>
            <a:stCxn id="238" idx="3"/>
            <a:endCxn id="239" idx="1"/>
          </p:cNvCxnSpPr>
          <p:nvPr/>
        </p:nvCxnSpPr>
        <p:spPr>
          <a:xfrm>
            <a:off x="1684350" y="3643575"/>
            <a:ext cx="3012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1" name="Google Shape;241;p39"/>
          <p:cNvSpPr/>
          <p:nvPr/>
        </p:nvSpPr>
        <p:spPr>
          <a:xfrm>
            <a:off x="3287163" y="3245225"/>
            <a:ext cx="10215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en" sz="1100" kern="0" dirty="0">
                <a:solidFill>
                  <a:srgbClr val="B4EBF0"/>
                </a:solidFill>
                <a:latin typeface="Exo 2"/>
                <a:ea typeface="Exo 2"/>
                <a:cs typeface="Exo 2"/>
                <a:sym typeface="Exo 2"/>
              </a:rPr>
              <a:t>2.3 - Logistic Regression</a:t>
            </a:r>
            <a:endParaRPr sz="1100" kern="0" dirty="0">
              <a:solidFill>
                <a:srgbClr val="B4EBF0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42" name="Google Shape;242;p39"/>
          <p:cNvSpPr/>
          <p:nvPr/>
        </p:nvSpPr>
        <p:spPr>
          <a:xfrm>
            <a:off x="4593637" y="3255525"/>
            <a:ext cx="10215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en" sz="1100" kern="0" dirty="0">
                <a:solidFill>
                  <a:srgbClr val="B4EBF0"/>
                </a:solidFill>
                <a:latin typeface="Exo 2"/>
                <a:cs typeface="Arial"/>
                <a:sym typeface="Arial"/>
              </a:rPr>
              <a:t>2.4 -</a:t>
            </a:r>
            <a:r>
              <a:rPr lang="de-DE" sz="1100" kern="0" dirty="0" err="1">
                <a:solidFill>
                  <a:srgbClr val="B4EBF0"/>
                </a:solidFill>
                <a:latin typeface="Exo 2"/>
                <a:cs typeface="Arial"/>
                <a:sym typeface="Arial"/>
              </a:rPr>
              <a:t>Naïve</a:t>
            </a:r>
            <a:r>
              <a:rPr lang="de-DE" sz="1100" kern="0" dirty="0">
                <a:solidFill>
                  <a:srgbClr val="B4EBF0"/>
                </a:solidFill>
                <a:latin typeface="Exo 2"/>
                <a:cs typeface="Arial"/>
                <a:sym typeface="Arial"/>
              </a:rPr>
              <a:t> Bayes </a:t>
            </a:r>
            <a:r>
              <a:rPr lang="de-DE" sz="1100" kern="0" dirty="0" err="1">
                <a:solidFill>
                  <a:srgbClr val="B4EBF0"/>
                </a:solidFill>
                <a:latin typeface="Exo 2"/>
                <a:cs typeface="Arial"/>
                <a:sym typeface="Arial"/>
              </a:rPr>
              <a:t>Classifier</a:t>
            </a:r>
            <a:endParaRPr sz="1100" kern="0" dirty="0">
              <a:solidFill>
                <a:srgbClr val="B4EBF0"/>
              </a:solidFill>
              <a:latin typeface="Exo 2"/>
              <a:cs typeface="Arial"/>
              <a:sym typeface="Arial"/>
            </a:endParaRPr>
          </a:p>
        </p:txBody>
      </p:sp>
      <p:cxnSp>
        <p:nvCxnSpPr>
          <p:cNvPr id="243" name="Google Shape;243;p39"/>
          <p:cNvCxnSpPr>
            <a:stCxn id="241" idx="3"/>
            <a:endCxn id="242" idx="1"/>
          </p:cNvCxnSpPr>
          <p:nvPr/>
        </p:nvCxnSpPr>
        <p:spPr>
          <a:xfrm>
            <a:off x="4308663" y="3643475"/>
            <a:ext cx="284974" cy="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4" name="Google Shape;244;p39"/>
          <p:cNvCxnSpPr/>
          <p:nvPr/>
        </p:nvCxnSpPr>
        <p:spPr>
          <a:xfrm>
            <a:off x="2999078" y="3643575"/>
            <a:ext cx="284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5" name="Google Shape;245;p39"/>
          <p:cNvSpPr/>
          <p:nvPr/>
        </p:nvSpPr>
        <p:spPr>
          <a:xfrm>
            <a:off x="7211180" y="3224824"/>
            <a:ext cx="10215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en" sz="1100" kern="0" dirty="0">
                <a:solidFill>
                  <a:srgbClr val="B4EBF0"/>
                </a:solidFill>
                <a:latin typeface="Exo 2"/>
                <a:cs typeface="Arial"/>
                <a:sym typeface="Exo 2"/>
              </a:rPr>
              <a:t>2.6 - Decision Trees</a:t>
            </a:r>
            <a:endParaRPr sz="1100" kern="0" dirty="0">
              <a:solidFill>
                <a:srgbClr val="B4EBF0"/>
              </a:solidFill>
              <a:latin typeface="Exo 2"/>
              <a:cs typeface="Arial"/>
              <a:sym typeface="Exo 2"/>
            </a:endParaRPr>
          </a:p>
        </p:txBody>
      </p:sp>
      <p:cxnSp>
        <p:nvCxnSpPr>
          <p:cNvPr id="247" name="Google Shape;247;p39"/>
          <p:cNvCxnSpPr>
            <a:cxnSpLocks/>
          </p:cNvCxnSpPr>
          <p:nvPr/>
        </p:nvCxnSpPr>
        <p:spPr>
          <a:xfrm>
            <a:off x="6926180" y="3627799"/>
            <a:ext cx="2850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8" name="Google Shape;248;p39"/>
          <p:cNvCxnSpPr>
            <a:cxnSpLocks/>
          </p:cNvCxnSpPr>
          <p:nvPr/>
        </p:nvCxnSpPr>
        <p:spPr>
          <a:xfrm>
            <a:off x="5619980" y="3653875"/>
            <a:ext cx="284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9" name="Google Shape;249;p39"/>
          <p:cNvSpPr/>
          <p:nvPr/>
        </p:nvSpPr>
        <p:spPr>
          <a:xfrm>
            <a:off x="662875" y="4344450"/>
            <a:ext cx="1462746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en" sz="1200" kern="0" dirty="0">
                <a:solidFill>
                  <a:srgbClr val="B4EBF0"/>
                </a:solidFill>
                <a:latin typeface="Exo 2"/>
                <a:ea typeface="Exo 2"/>
                <a:cs typeface="Exo 2"/>
                <a:sym typeface="Exo 2"/>
              </a:rPr>
              <a:t>3.1 – </a:t>
            </a:r>
            <a:r>
              <a:rPr lang="en" sz="1200" strike="sngStrike" kern="0" dirty="0">
                <a:solidFill>
                  <a:srgbClr val="B4EBF0"/>
                </a:solidFill>
                <a:latin typeface="Exo 2"/>
                <a:ea typeface="Exo 2"/>
                <a:cs typeface="Exo 2"/>
                <a:sym typeface="Exo 2"/>
              </a:rPr>
              <a:t>Ensembling Learning</a:t>
            </a:r>
            <a:endParaRPr sz="1200" strike="sngStrike" kern="0" dirty="0">
              <a:solidFill>
                <a:srgbClr val="B4EBF0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251" name="Google Shape;251;p39"/>
          <p:cNvCxnSpPr>
            <a:cxnSpLocks/>
            <a:stCxn id="249" idx="3"/>
          </p:cNvCxnSpPr>
          <p:nvPr/>
        </p:nvCxnSpPr>
        <p:spPr>
          <a:xfrm flipV="1">
            <a:off x="2125622" y="4740718"/>
            <a:ext cx="329129" cy="1982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2" name="Google Shape;252;p39"/>
          <p:cNvSpPr/>
          <p:nvPr/>
        </p:nvSpPr>
        <p:spPr>
          <a:xfrm>
            <a:off x="3889561" y="4352668"/>
            <a:ext cx="194468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en" sz="1100" kern="0" dirty="0">
                <a:solidFill>
                  <a:srgbClr val="B4EBF0"/>
                </a:solidFill>
                <a:latin typeface="Exo 2"/>
                <a:cs typeface="Arial"/>
                <a:sym typeface="Arial"/>
              </a:rPr>
              <a:t>4</a:t>
            </a:r>
            <a:r>
              <a:rPr lang="en" sz="1200" kern="0" dirty="0">
                <a:solidFill>
                  <a:srgbClr val="B4EBF0"/>
                </a:solidFill>
                <a:latin typeface="Exo 2"/>
                <a:cs typeface="Arial"/>
                <a:sym typeface="Arial"/>
              </a:rPr>
              <a:t>.* - </a:t>
            </a:r>
            <a:r>
              <a:rPr lang="en" sz="1200" strike="sngStrike" kern="0" dirty="0">
                <a:solidFill>
                  <a:srgbClr val="B4EBF0"/>
                </a:solidFill>
                <a:latin typeface="Exo 2"/>
                <a:cs typeface="Arial"/>
                <a:sym typeface="Arial"/>
              </a:rPr>
              <a:t>Natural Language Processing (NLP)</a:t>
            </a:r>
            <a:endParaRPr sz="1200" strike="sngStrike" kern="0" dirty="0">
              <a:solidFill>
                <a:srgbClr val="B4EBF0"/>
              </a:solidFill>
              <a:latin typeface="Exo 2"/>
              <a:cs typeface="Arial"/>
              <a:sym typeface="Arial"/>
            </a:endParaRPr>
          </a:p>
        </p:txBody>
      </p:sp>
      <p:cxnSp>
        <p:nvCxnSpPr>
          <p:cNvPr id="253" name="Google Shape;253;p39"/>
          <p:cNvCxnSpPr>
            <a:cxnSpLocks/>
          </p:cNvCxnSpPr>
          <p:nvPr/>
        </p:nvCxnSpPr>
        <p:spPr>
          <a:xfrm flipV="1">
            <a:off x="3512022" y="4742701"/>
            <a:ext cx="370594" cy="101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7CE7875C-AF3A-C2C2-F19E-141096FF1EEF}"/>
              </a:ext>
            </a:extLst>
          </p:cNvPr>
          <p:cNvCxnSpPr>
            <a:cxnSpLocks/>
          </p:cNvCxnSpPr>
          <p:nvPr/>
        </p:nvCxnSpPr>
        <p:spPr>
          <a:xfrm rot="5400000">
            <a:off x="4576589" y="1159511"/>
            <a:ext cx="302525" cy="60044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Google Shape;242;p39">
            <a:extLst>
              <a:ext uri="{FF2B5EF4-FFF2-40B4-BE49-F238E27FC236}">
                <a16:creationId xmlns:a16="http://schemas.microsoft.com/office/drawing/2014/main" id="{C367036A-0937-2BA9-B3D7-B66F206EBDE5}"/>
              </a:ext>
            </a:extLst>
          </p:cNvPr>
          <p:cNvSpPr/>
          <p:nvPr/>
        </p:nvSpPr>
        <p:spPr>
          <a:xfrm>
            <a:off x="5899893" y="3245224"/>
            <a:ext cx="10215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en" sz="1100" kern="0" dirty="0">
                <a:solidFill>
                  <a:srgbClr val="B4EBF0"/>
                </a:solidFill>
                <a:latin typeface="Exo 2"/>
                <a:cs typeface="Arial"/>
                <a:sym typeface="Arial"/>
              </a:rPr>
              <a:t>2.5 - </a:t>
            </a:r>
            <a:r>
              <a:rPr lang="en" sz="1100" strike="sngStrike" kern="0" dirty="0">
                <a:solidFill>
                  <a:srgbClr val="B4EBF0"/>
                </a:solidFill>
                <a:latin typeface="Exo 2"/>
                <a:cs typeface="Arial"/>
                <a:sym typeface="Arial"/>
              </a:rPr>
              <a:t>KNN</a:t>
            </a:r>
            <a:endParaRPr sz="1100" strike="sngStrike" kern="0" dirty="0">
              <a:solidFill>
                <a:srgbClr val="B4EBF0"/>
              </a:solidFill>
              <a:latin typeface="Exo 2"/>
              <a:cs typeface="Arial"/>
              <a:sym typeface="Arial"/>
            </a:endParaRPr>
          </a:p>
        </p:txBody>
      </p:sp>
      <p:sp>
        <p:nvSpPr>
          <p:cNvPr id="11" name="Google Shape;246;p39"/>
          <p:cNvSpPr/>
          <p:nvPr/>
        </p:nvSpPr>
        <p:spPr>
          <a:xfrm>
            <a:off x="2484398" y="4355052"/>
            <a:ext cx="1021500" cy="771335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en" sz="1200" kern="0" dirty="0">
                <a:solidFill>
                  <a:srgbClr val="B4EBF0"/>
                </a:solidFill>
                <a:latin typeface="Exo 2"/>
                <a:cs typeface="Arial"/>
                <a:sym typeface="Arial"/>
              </a:rPr>
              <a:t>3.2 - </a:t>
            </a:r>
            <a:r>
              <a:rPr lang="en" sz="1200" strike="sngStrike" kern="0" dirty="0">
                <a:solidFill>
                  <a:srgbClr val="B4EBF0"/>
                </a:solidFill>
                <a:latin typeface="Exo 2"/>
                <a:cs typeface="Arial"/>
                <a:sym typeface="Arial"/>
              </a:rPr>
              <a:t>Neural Networks</a:t>
            </a:r>
            <a:endParaRPr sz="1200" strike="sngStrike" kern="0" dirty="0">
              <a:solidFill>
                <a:srgbClr val="B4EBF0"/>
              </a:solidFill>
              <a:latin typeface="Exo 2"/>
              <a:cs typeface="Arial"/>
              <a:sym typeface="Arial"/>
            </a:endParaRPr>
          </a:p>
        </p:txBody>
      </p:sp>
      <p:sp>
        <p:nvSpPr>
          <p:cNvPr id="15" name="Google Shape;250;p39"/>
          <p:cNvSpPr/>
          <p:nvPr/>
        </p:nvSpPr>
        <p:spPr>
          <a:xfrm>
            <a:off x="6219840" y="4344413"/>
            <a:ext cx="21255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en" sz="1200" kern="0" dirty="0">
                <a:solidFill>
                  <a:srgbClr val="B4EBF0"/>
                </a:solidFill>
                <a:latin typeface="Exo 2"/>
                <a:cs typeface="Arial"/>
                <a:sym typeface="Arial"/>
              </a:rPr>
              <a:t>5.* Competition Tips &amp; Final Thoughts</a:t>
            </a:r>
            <a:endParaRPr sz="1200" kern="0" dirty="0">
              <a:solidFill>
                <a:srgbClr val="B4EBF0"/>
              </a:solidFill>
              <a:latin typeface="Exo 2"/>
              <a:cs typeface="Arial"/>
              <a:sym typeface="Arial"/>
            </a:endParaRPr>
          </a:p>
        </p:txBody>
      </p:sp>
      <p:cxnSp>
        <p:nvCxnSpPr>
          <p:cNvPr id="29" name="Google Shape;253;p39">
            <a:extLst>
              <a:ext uri="{FF2B5EF4-FFF2-40B4-BE49-F238E27FC236}">
                <a16:creationId xmlns:a16="http://schemas.microsoft.com/office/drawing/2014/main" id="{83D54D0B-E89E-5AFB-7532-752D8B42179B}"/>
              </a:ext>
            </a:extLst>
          </p:cNvPr>
          <p:cNvCxnSpPr>
            <a:cxnSpLocks/>
          </p:cNvCxnSpPr>
          <p:nvPr/>
        </p:nvCxnSpPr>
        <p:spPr>
          <a:xfrm flipV="1">
            <a:off x="5847310" y="4765872"/>
            <a:ext cx="370594" cy="101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E5D3D-EC0D-6939-695F-B4064745C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450" y="762000"/>
            <a:ext cx="4893818" cy="492443"/>
          </a:xfrm>
        </p:spPr>
        <p:txBody>
          <a:bodyPr/>
          <a:lstStyle/>
          <a:p>
            <a:r>
              <a:rPr lang="de-DE" sz="3200" spc="-280" dirty="0">
                <a:solidFill>
                  <a:srgbClr val="374D81"/>
                </a:solidFill>
              </a:rPr>
              <a:t>CM </a:t>
            </a:r>
            <a:r>
              <a:rPr lang="de-DE" sz="3200" spc="-280" dirty="0" err="1">
                <a:solidFill>
                  <a:srgbClr val="374D81"/>
                </a:solidFill>
              </a:rPr>
              <a:t>for</a:t>
            </a:r>
            <a:r>
              <a:rPr lang="de-DE" sz="3200" spc="-280" dirty="0">
                <a:solidFill>
                  <a:srgbClr val="374D81"/>
                </a:solidFill>
              </a:rPr>
              <a:t> Spam Filter</a:t>
            </a:r>
            <a:endParaRPr lang="en-US" sz="3200" spc="-280" dirty="0">
              <a:solidFill>
                <a:srgbClr val="374D81"/>
              </a:solidFill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7A9BB411-E486-F166-6AC6-65BF55184E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66800" y="2286000"/>
            <a:ext cx="7555398" cy="36266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endParaRPr lang="en-US" sz="1800" b="1" spc="-10" dirty="0"/>
          </a:p>
          <a:p>
            <a:pPr marL="298450" marR="5080" indent="-285750" algn="just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800" b="1" spc="-10" dirty="0">
                <a:latin typeface="Calibri"/>
                <a:cs typeface="Calibri"/>
              </a:rPr>
              <a:t>Spam filter is based on ML model</a:t>
            </a:r>
            <a:r>
              <a:rPr lang="en-US" sz="1800" b="1" spc="-5" dirty="0"/>
              <a:t>,</a:t>
            </a:r>
            <a:r>
              <a:rPr lang="en-US" sz="1800" b="1" spc="-5" dirty="0">
                <a:latin typeface="Calibri"/>
                <a:cs typeface="Calibri"/>
              </a:rPr>
              <a:t> </a:t>
            </a:r>
            <a:r>
              <a:rPr lang="en-US" sz="1800" b="1" spc="-5" dirty="0">
                <a:solidFill>
                  <a:srgbClr val="FF0000"/>
                </a:solidFill>
                <a:latin typeface="Calibri"/>
                <a:cs typeface="Calibri"/>
              </a:rPr>
              <a:t>the </a:t>
            </a:r>
            <a:r>
              <a:rPr lang="en-US" sz="1800" b="1" spc="-10" dirty="0">
                <a:solidFill>
                  <a:srgbClr val="FF0000"/>
                </a:solidFill>
                <a:latin typeface="Calibri"/>
                <a:cs typeface="Calibri"/>
              </a:rPr>
              <a:t>goal </a:t>
            </a:r>
            <a:r>
              <a:rPr lang="en-US" sz="1800" b="1" dirty="0">
                <a:solidFill>
                  <a:srgbClr val="FF0000"/>
                </a:solidFill>
                <a:latin typeface="Calibri"/>
                <a:cs typeface="Calibri"/>
              </a:rPr>
              <a:t>is to </a:t>
            </a:r>
            <a:r>
              <a:rPr lang="en-US" sz="1800" b="1" spc="-10" dirty="0">
                <a:solidFill>
                  <a:srgbClr val="FF0000"/>
                </a:solidFill>
                <a:latin typeface="Calibri"/>
                <a:cs typeface="Calibri"/>
              </a:rPr>
              <a:t>minimize the </a:t>
            </a:r>
            <a:r>
              <a:rPr lang="en-US" sz="1800" b="1" spc="-5" dirty="0">
                <a:solidFill>
                  <a:srgbClr val="FF0000"/>
                </a:solidFill>
                <a:latin typeface="Calibri"/>
                <a:cs typeface="Calibri"/>
              </a:rPr>
              <a:t>cost </a:t>
            </a:r>
            <a:r>
              <a:rPr lang="en-US" sz="1800" b="1" dirty="0">
                <a:solidFill>
                  <a:srgbClr val="FF0000"/>
                </a:solidFill>
                <a:latin typeface="Calibri"/>
                <a:cs typeface="Calibri"/>
              </a:rPr>
              <a:t>of </a:t>
            </a:r>
            <a:r>
              <a:rPr lang="en-US" sz="1800" b="1" spc="-10" dirty="0">
                <a:solidFill>
                  <a:srgbClr val="FF0000"/>
                </a:solidFill>
                <a:latin typeface="Calibri"/>
                <a:cs typeface="Calibri"/>
              </a:rPr>
              <a:t>erroneous decisions in the </a:t>
            </a:r>
            <a:r>
              <a:rPr lang="en-US" sz="1800" b="1" spc="-5" dirty="0">
                <a:solidFill>
                  <a:srgbClr val="FF0000"/>
                </a:solidFill>
                <a:latin typeface="Calibri"/>
                <a:cs typeface="Calibri"/>
              </a:rPr>
              <a:t> long term; </a:t>
            </a:r>
            <a:r>
              <a:rPr lang="en-US" sz="1800" i="1" spc="-5" dirty="0">
                <a:latin typeface="Calibri"/>
                <a:cs typeface="Calibri"/>
              </a:rPr>
              <a:t>E.g., </a:t>
            </a:r>
            <a:r>
              <a:rPr lang="en-US" sz="1800" i="1" dirty="0">
                <a:highlight>
                  <a:srgbClr val="FFFF00"/>
                </a:highlight>
                <a:latin typeface="Calibri"/>
                <a:cs typeface="Calibri"/>
              </a:rPr>
              <a:t>a </a:t>
            </a:r>
            <a:r>
              <a:rPr lang="en-US" sz="1800" i="1" spc="-5" dirty="0">
                <a:highlight>
                  <a:srgbClr val="FFFF00"/>
                </a:highlight>
                <a:latin typeface="Calibri"/>
                <a:cs typeface="Calibri"/>
              </a:rPr>
              <a:t>spam filter is an agent </a:t>
            </a:r>
            <a:r>
              <a:rPr lang="en-US" sz="1800" i="1" dirty="0">
                <a:highlight>
                  <a:srgbClr val="FFFF00"/>
                </a:highlight>
                <a:latin typeface="Calibri"/>
                <a:cs typeface="Calibri"/>
              </a:rPr>
              <a:t>that </a:t>
            </a:r>
            <a:r>
              <a:rPr lang="en-US" sz="1800" i="1" spc="-5" dirty="0">
                <a:highlight>
                  <a:srgbClr val="FFFF00"/>
                </a:highlight>
                <a:latin typeface="Calibri"/>
                <a:cs typeface="Calibri"/>
              </a:rPr>
              <a:t>puts incoming emails into wanted </a:t>
            </a:r>
            <a:r>
              <a:rPr lang="en-US" sz="1800" i="1" dirty="0">
                <a:highlight>
                  <a:srgbClr val="FFFF00"/>
                </a:highlight>
                <a:latin typeface="Calibri"/>
                <a:cs typeface="Calibri"/>
              </a:rPr>
              <a:t>or </a:t>
            </a:r>
            <a:r>
              <a:rPr lang="en-US" sz="1800" i="1" spc="-5" dirty="0">
                <a:highlight>
                  <a:srgbClr val="FFFF00"/>
                </a:highlight>
                <a:latin typeface="Calibri"/>
                <a:cs typeface="Calibri"/>
              </a:rPr>
              <a:t>unwanted (spam) categories </a:t>
            </a:r>
            <a:r>
              <a:rPr lang="en-US" sz="1800" i="1" dirty="0">
                <a:highlight>
                  <a:srgbClr val="FFFF00"/>
                </a:highlight>
                <a:latin typeface="Calibri"/>
                <a:cs typeface="Calibri"/>
              </a:rPr>
              <a:t>&amp; </a:t>
            </a:r>
            <a:r>
              <a:rPr lang="en-US" sz="1800" i="1" spc="-5" dirty="0">
                <a:highlight>
                  <a:srgbClr val="FFFF00"/>
                </a:highlight>
                <a:latin typeface="Calibri"/>
                <a:cs typeface="Calibri"/>
              </a:rPr>
              <a:t>deletes any unwanted emails</a:t>
            </a:r>
            <a:r>
              <a:rPr lang="en-US" sz="1800" i="1" spc="-5" dirty="0">
                <a:latin typeface="Calibri"/>
                <a:cs typeface="Calibri"/>
              </a:rPr>
              <a:t>. </a:t>
            </a:r>
            <a:r>
              <a:rPr lang="en-US" sz="1800" i="1" dirty="0">
                <a:latin typeface="Calibri"/>
                <a:cs typeface="Calibri"/>
              </a:rPr>
              <a:t>Its </a:t>
            </a:r>
            <a:r>
              <a:rPr lang="en-US" sz="1800" i="1" spc="-5" dirty="0">
                <a:latin typeface="Calibri"/>
                <a:cs typeface="Calibri"/>
              </a:rPr>
              <a:t>goal as </a:t>
            </a:r>
            <a:r>
              <a:rPr lang="en-US" sz="1800" i="1" dirty="0">
                <a:latin typeface="Calibri"/>
                <a:cs typeface="Calibri"/>
              </a:rPr>
              <a:t>a </a:t>
            </a:r>
            <a:r>
              <a:rPr lang="en-US" sz="1800" i="1" u="sng" spc="-5" dirty="0">
                <a:latin typeface="Calibri"/>
                <a:cs typeface="Calibri"/>
              </a:rPr>
              <a:t>goal-based </a:t>
            </a:r>
            <a:r>
              <a:rPr lang="en-US" sz="1800" i="1" u="sng" spc="-5" dirty="0"/>
              <a:t>software </a:t>
            </a:r>
            <a:r>
              <a:rPr lang="en-US" sz="1800" i="1" u="sng" spc="-5" dirty="0">
                <a:latin typeface="Calibri"/>
                <a:cs typeface="Calibri"/>
              </a:rPr>
              <a:t>agent</a:t>
            </a:r>
            <a:r>
              <a:rPr lang="en-US" sz="1800" i="1" spc="-5" dirty="0">
                <a:latin typeface="Calibri"/>
                <a:cs typeface="Calibri"/>
              </a:rPr>
              <a:t> is </a:t>
            </a:r>
            <a:r>
              <a:rPr lang="en-US" sz="1800" i="1" dirty="0">
                <a:latin typeface="Calibri"/>
                <a:cs typeface="Calibri"/>
              </a:rPr>
              <a:t>to </a:t>
            </a:r>
            <a:r>
              <a:rPr lang="en-US" sz="1800" i="1" spc="-5" dirty="0">
                <a:latin typeface="Calibri"/>
                <a:cs typeface="Calibri"/>
              </a:rPr>
              <a:t>put </a:t>
            </a:r>
            <a:r>
              <a:rPr lang="en-US" sz="1800" i="1" dirty="0">
                <a:latin typeface="Calibri"/>
                <a:cs typeface="Calibri"/>
              </a:rPr>
              <a:t>all emails </a:t>
            </a:r>
            <a:r>
              <a:rPr lang="en-US" sz="1800" i="1" spc="-5" dirty="0">
                <a:latin typeface="Calibri"/>
                <a:cs typeface="Calibri"/>
              </a:rPr>
              <a:t>in </a:t>
            </a:r>
            <a:r>
              <a:rPr lang="en-US" sz="1800" i="1" dirty="0">
                <a:latin typeface="Calibri"/>
                <a:cs typeface="Calibri"/>
              </a:rPr>
              <a:t>the </a:t>
            </a:r>
            <a:r>
              <a:rPr lang="en-US" sz="1800" i="1" spc="-5" dirty="0">
                <a:latin typeface="Calibri"/>
                <a:cs typeface="Calibri"/>
              </a:rPr>
              <a:t>right category. </a:t>
            </a:r>
            <a:r>
              <a:rPr lang="en-US" sz="1800" i="1" dirty="0">
                <a:latin typeface="Calibri"/>
                <a:cs typeface="Calibri"/>
              </a:rPr>
              <a:t>In the </a:t>
            </a:r>
            <a:r>
              <a:rPr lang="en-US" sz="1800" i="1" spc="-5" dirty="0">
                <a:latin typeface="Calibri"/>
                <a:cs typeface="Calibri"/>
              </a:rPr>
              <a:t>course </a:t>
            </a:r>
            <a:r>
              <a:rPr lang="en-US" sz="1800" i="1" dirty="0">
                <a:latin typeface="Calibri"/>
                <a:cs typeface="Calibri"/>
              </a:rPr>
              <a:t>of this not-so- </a:t>
            </a:r>
            <a:r>
              <a:rPr lang="en-US" sz="1800" i="1" spc="5" dirty="0">
                <a:latin typeface="Calibri"/>
                <a:cs typeface="Calibri"/>
              </a:rPr>
              <a:t> </a:t>
            </a:r>
            <a:r>
              <a:rPr lang="en-US" sz="1800" i="1" spc="-5" dirty="0">
                <a:latin typeface="Calibri"/>
                <a:cs typeface="Calibri"/>
              </a:rPr>
              <a:t>simple</a:t>
            </a:r>
            <a:r>
              <a:rPr lang="en-US" sz="1800" i="1" dirty="0">
                <a:latin typeface="Calibri"/>
                <a:cs typeface="Calibri"/>
              </a:rPr>
              <a:t> </a:t>
            </a:r>
            <a:r>
              <a:rPr lang="en-US" sz="1800" i="1" spc="-5" dirty="0">
                <a:latin typeface="Calibri"/>
                <a:cs typeface="Calibri"/>
              </a:rPr>
              <a:t>task,</a:t>
            </a:r>
            <a:r>
              <a:rPr lang="en-US" sz="1800" i="1" dirty="0">
                <a:latin typeface="Calibri"/>
                <a:cs typeface="Calibri"/>
              </a:rPr>
              <a:t> the</a:t>
            </a:r>
            <a:r>
              <a:rPr lang="en-US" sz="1800" i="1" spc="5" dirty="0">
                <a:latin typeface="Calibri"/>
                <a:cs typeface="Calibri"/>
              </a:rPr>
              <a:t> </a:t>
            </a:r>
            <a:r>
              <a:rPr lang="en-US" sz="1800" i="1" spc="-5" dirty="0">
                <a:latin typeface="Calibri"/>
                <a:cs typeface="Calibri"/>
              </a:rPr>
              <a:t>agent</a:t>
            </a:r>
            <a:r>
              <a:rPr lang="en-US" sz="1800" i="1" dirty="0">
                <a:latin typeface="Calibri"/>
                <a:cs typeface="Calibri"/>
              </a:rPr>
              <a:t> </a:t>
            </a:r>
            <a:r>
              <a:rPr lang="en-US" sz="1800" i="1" spc="-5" dirty="0">
                <a:latin typeface="Calibri"/>
                <a:cs typeface="Calibri"/>
              </a:rPr>
              <a:t>can</a:t>
            </a:r>
            <a:r>
              <a:rPr lang="en-US" sz="1800" i="1" dirty="0">
                <a:latin typeface="Calibri"/>
                <a:cs typeface="Calibri"/>
              </a:rPr>
              <a:t> </a:t>
            </a:r>
            <a:r>
              <a:rPr lang="en-US" sz="1800" i="1" spc="-5" dirty="0">
                <a:latin typeface="Calibri"/>
                <a:cs typeface="Calibri"/>
              </a:rPr>
              <a:t>occasionally</a:t>
            </a:r>
            <a:r>
              <a:rPr lang="en-US" sz="1800" i="1" dirty="0">
                <a:latin typeface="Calibri"/>
                <a:cs typeface="Calibri"/>
              </a:rPr>
              <a:t> make</a:t>
            </a:r>
            <a:r>
              <a:rPr lang="en-US" sz="1800" i="1" spc="5" dirty="0">
                <a:latin typeface="Calibri"/>
                <a:cs typeface="Calibri"/>
              </a:rPr>
              <a:t> </a:t>
            </a:r>
            <a:r>
              <a:rPr lang="en-US" sz="1800" i="1" spc="-5" dirty="0">
                <a:latin typeface="Calibri"/>
                <a:cs typeface="Calibri"/>
              </a:rPr>
              <a:t>mistakes.</a:t>
            </a:r>
            <a:r>
              <a:rPr lang="en-US" sz="1800" i="1" dirty="0">
                <a:latin typeface="Calibri"/>
                <a:cs typeface="Calibri"/>
              </a:rPr>
              <a:t> </a:t>
            </a:r>
            <a:r>
              <a:rPr lang="en-US" sz="1800" i="1" spc="-5" dirty="0">
                <a:latin typeface="Calibri"/>
                <a:cs typeface="Calibri"/>
              </a:rPr>
              <a:t>Because</a:t>
            </a:r>
            <a:r>
              <a:rPr lang="en-US" sz="1800" i="1" dirty="0">
                <a:latin typeface="Calibri"/>
                <a:cs typeface="Calibri"/>
              </a:rPr>
              <a:t> </a:t>
            </a:r>
            <a:r>
              <a:rPr lang="en-US" sz="1800" i="1" spc="-5" dirty="0">
                <a:latin typeface="Calibri"/>
                <a:cs typeface="Calibri"/>
              </a:rPr>
              <a:t>its</a:t>
            </a:r>
            <a:r>
              <a:rPr lang="en-US" sz="1800" i="1" dirty="0">
                <a:latin typeface="Calibri"/>
                <a:cs typeface="Calibri"/>
              </a:rPr>
              <a:t> </a:t>
            </a:r>
            <a:r>
              <a:rPr lang="en-US" sz="1800" i="1" spc="-5" dirty="0">
                <a:latin typeface="Calibri"/>
                <a:cs typeface="Calibri"/>
              </a:rPr>
              <a:t>goal</a:t>
            </a:r>
            <a:r>
              <a:rPr lang="en-US" sz="1800" i="1" spc="395" dirty="0">
                <a:latin typeface="Calibri"/>
                <a:cs typeface="Calibri"/>
              </a:rPr>
              <a:t> </a:t>
            </a:r>
            <a:r>
              <a:rPr lang="en-US" sz="1800" i="1" spc="-5" dirty="0">
                <a:latin typeface="Calibri"/>
                <a:cs typeface="Calibri"/>
              </a:rPr>
              <a:t>is</a:t>
            </a:r>
            <a:r>
              <a:rPr lang="en-US" sz="1800" i="1" spc="395" dirty="0">
                <a:latin typeface="Calibri"/>
                <a:cs typeface="Calibri"/>
              </a:rPr>
              <a:t> </a:t>
            </a:r>
            <a:r>
              <a:rPr lang="en-US" sz="1800" i="1" spc="-5" dirty="0">
                <a:latin typeface="Calibri"/>
                <a:cs typeface="Calibri"/>
              </a:rPr>
              <a:t>to </a:t>
            </a:r>
            <a:r>
              <a:rPr lang="en-US" sz="1800" i="1" dirty="0">
                <a:latin typeface="Calibri"/>
                <a:cs typeface="Calibri"/>
              </a:rPr>
              <a:t> </a:t>
            </a:r>
            <a:r>
              <a:rPr lang="en-US" sz="1800" i="1" spc="-5" dirty="0">
                <a:latin typeface="Calibri"/>
                <a:cs typeface="Calibri"/>
              </a:rPr>
              <a:t>classify</a:t>
            </a:r>
            <a:r>
              <a:rPr lang="en-US" sz="1800" i="1" dirty="0">
                <a:latin typeface="Calibri"/>
                <a:cs typeface="Calibri"/>
              </a:rPr>
              <a:t> all</a:t>
            </a:r>
            <a:r>
              <a:rPr lang="en-US" sz="1800" i="1" spc="5" dirty="0">
                <a:latin typeface="Calibri"/>
                <a:cs typeface="Calibri"/>
              </a:rPr>
              <a:t> </a:t>
            </a:r>
            <a:r>
              <a:rPr lang="en-US" sz="1800" i="1" dirty="0">
                <a:latin typeface="Calibri"/>
                <a:cs typeface="Calibri"/>
              </a:rPr>
              <a:t>emails</a:t>
            </a:r>
            <a:r>
              <a:rPr lang="en-US" sz="1800" i="1" spc="5" dirty="0">
                <a:latin typeface="Calibri"/>
                <a:cs typeface="Calibri"/>
              </a:rPr>
              <a:t> </a:t>
            </a:r>
            <a:r>
              <a:rPr lang="en-US" sz="1800" i="1" spc="-5" dirty="0">
                <a:latin typeface="Calibri"/>
                <a:cs typeface="Calibri"/>
              </a:rPr>
              <a:t>correctly,</a:t>
            </a:r>
            <a:r>
              <a:rPr lang="en-US" sz="1800" i="1" dirty="0">
                <a:latin typeface="Calibri"/>
                <a:cs typeface="Calibri"/>
              </a:rPr>
              <a:t> </a:t>
            </a:r>
            <a:r>
              <a:rPr lang="en-US" sz="1800" i="1" spc="-5" dirty="0">
                <a:latin typeface="Calibri"/>
                <a:cs typeface="Calibri"/>
              </a:rPr>
              <a:t>it</a:t>
            </a:r>
            <a:r>
              <a:rPr lang="en-US" sz="1800" i="1" dirty="0">
                <a:latin typeface="Calibri"/>
                <a:cs typeface="Calibri"/>
              </a:rPr>
              <a:t> </a:t>
            </a:r>
            <a:r>
              <a:rPr lang="en-US" sz="1800" i="1" spc="-5" dirty="0">
                <a:latin typeface="Calibri"/>
                <a:cs typeface="Calibri"/>
              </a:rPr>
              <a:t>will</a:t>
            </a:r>
            <a:r>
              <a:rPr lang="en-US" sz="1800" i="1" dirty="0">
                <a:latin typeface="Calibri"/>
                <a:cs typeface="Calibri"/>
              </a:rPr>
              <a:t> </a:t>
            </a:r>
            <a:r>
              <a:rPr lang="en-US" sz="1800" i="1" spc="-5" dirty="0">
                <a:latin typeface="Calibri"/>
                <a:cs typeface="Calibri"/>
              </a:rPr>
              <a:t>attempt</a:t>
            </a:r>
            <a:r>
              <a:rPr lang="en-US" sz="1800" i="1" dirty="0">
                <a:latin typeface="Calibri"/>
                <a:cs typeface="Calibri"/>
              </a:rPr>
              <a:t> </a:t>
            </a:r>
            <a:r>
              <a:rPr lang="en-US" sz="1800" i="1" spc="-5" dirty="0">
                <a:latin typeface="Calibri"/>
                <a:cs typeface="Calibri"/>
              </a:rPr>
              <a:t>to</a:t>
            </a:r>
            <a:r>
              <a:rPr lang="en-US" sz="1800" i="1" dirty="0">
                <a:latin typeface="Calibri"/>
                <a:cs typeface="Calibri"/>
              </a:rPr>
              <a:t> make</a:t>
            </a:r>
            <a:r>
              <a:rPr lang="en-US" sz="1800" i="1" spc="5" dirty="0">
                <a:latin typeface="Calibri"/>
                <a:cs typeface="Calibri"/>
              </a:rPr>
              <a:t> </a:t>
            </a:r>
            <a:r>
              <a:rPr lang="en-US" sz="1800" i="1" spc="-5" dirty="0">
                <a:latin typeface="Calibri"/>
                <a:cs typeface="Calibri"/>
              </a:rPr>
              <a:t>as</a:t>
            </a:r>
            <a:r>
              <a:rPr lang="en-US" sz="1800" i="1" dirty="0">
                <a:latin typeface="Calibri"/>
                <a:cs typeface="Calibri"/>
              </a:rPr>
              <a:t> </a:t>
            </a:r>
            <a:r>
              <a:rPr lang="en-US" sz="1800" i="1" dirty="0">
                <a:highlight>
                  <a:srgbClr val="FFFF00"/>
                </a:highlight>
                <a:latin typeface="Calibri"/>
                <a:cs typeface="Calibri"/>
              </a:rPr>
              <a:t>few</a:t>
            </a:r>
            <a:r>
              <a:rPr lang="en-US" sz="1800" i="1" spc="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US" sz="1800" i="1" u="sng" spc="-5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  <a:cs typeface="Calibri"/>
              </a:rPr>
              <a:t>errors</a:t>
            </a:r>
            <a:r>
              <a:rPr lang="en-US" sz="1800" i="1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US" sz="1800" i="1" spc="-5" dirty="0">
                <a:highlight>
                  <a:srgbClr val="FFFF00"/>
                </a:highlight>
                <a:latin typeface="Calibri"/>
                <a:cs typeface="Calibri"/>
              </a:rPr>
              <a:t>as</a:t>
            </a:r>
            <a:r>
              <a:rPr lang="en-US" sz="1800" i="1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US" sz="1800" i="1" spc="-5" dirty="0">
                <a:highlight>
                  <a:srgbClr val="FFFF00"/>
                </a:highlight>
                <a:latin typeface="Calibri"/>
                <a:cs typeface="Calibri"/>
              </a:rPr>
              <a:t>possible</a:t>
            </a:r>
            <a:r>
              <a:rPr lang="en-US" sz="1800" i="1" spc="-5" dirty="0">
                <a:latin typeface="Calibri"/>
                <a:cs typeface="Calibri"/>
              </a:rPr>
              <a:t>. </a:t>
            </a:r>
            <a:r>
              <a:rPr lang="en-US" sz="1800" i="1" dirty="0">
                <a:latin typeface="Calibri"/>
                <a:cs typeface="Calibri"/>
              </a:rPr>
              <a:t> </a:t>
            </a:r>
            <a:r>
              <a:rPr lang="en-US" sz="1800" i="1" spc="-5" dirty="0">
                <a:latin typeface="Calibri"/>
                <a:cs typeface="Calibri"/>
              </a:rPr>
              <a:t>However,</a:t>
            </a:r>
            <a:r>
              <a:rPr lang="en-US" sz="1800" i="1" dirty="0">
                <a:latin typeface="Calibri"/>
                <a:cs typeface="Calibri"/>
              </a:rPr>
              <a:t> that</a:t>
            </a:r>
            <a:r>
              <a:rPr lang="en-US" sz="1800" i="1" spc="5" dirty="0">
                <a:latin typeface="Calibri"/>
                <a:cs typeface="Calibri"/>
              </a:rPr>
              <a:t> </a:t>
            </a:r>
            <a:r>
              <a:rPr lang="en-US" sz="1800" i="1" dirty="0">
                <a:latin typeface="Calibri"/>
                <a:cs typeface="Calibri"/>
              </a:rPr>
              <a:t>is</a:t>
            </a:r>
            <a:r>
              <a:rPr lang="en-US" sz="1800" i="1" spc="5" dirty="0">
                <a:latin typeface="Calibri"/>
                <a:cs typeface="Calibri"/>
              </a:rPr>
              <a:t> </a:t>
            </a:r>
            <a:r>
              <a:rPr lang="en-US" sz="1800" i="1" spc="-5" dirty="0">
                <a:latin typeface="Calibri"/>
                <a:cs typeface="Calibri"/>
              </a:rPr>
              <a:t>not</a:t>
            </a:r>
            <a:r>
              <a:rPr lang="en-US" sz="1800" i="1" dirty="0">
                <a:latin typeface="Calibri"/>
                <a:cs typeface="Calibri"/>
              </a:rPr>
              <a:t> always</a:t>
            </a:r>
            <a:r>
              <a:rPr lang="en-US" sz="1800" i="1" spc="5" dirty="0">
                <a:latin typeface="Calibri"/>
                <a:cs typeface="Calibri"/>
              </a:rPr>
              <a:t> </a:t>
            </a:r>
            <a:r>
              <a:rPr lang="en-US" sz="1800" i="1" spc="-5" dirty="0">
                <a:latin typeface="Calibri"/>
                <a:cs typeface="Calibri"/>
              </a:rPr>
              <a:t>what</a:t>
            </a:r>
            <a:r>
              <a:rPr lang="en-US" sz="1800" i="1" dirty="0">
                <a:latin typeface="Calibri"/>
                <a:cs typeface="Calibri"/>
              </a:rPr>
              <a:t> the</a:t>
            </a:r>
            <a:r>
              <a:rPr lang="en-US" sz="1800" i="1" spc="5" dirty="0">
                <a:latin typeface="Calibri"/>
                <a:cs typeface="Calibri"/>
              </a:rPr>
              <a:t> </a:t>
            </a:r>
            <a:r>
              <a:rPr lang="en-US" sz="1800" i="1" spc="-5" dirty="0">
                <a:latin typeface="Calibri"/>
                <a:cs typeface="Calibri"/>
              </a:rPr>
              <a:t>user</a:t>
            </a:r>
            <a:r>
              <a:rPr lang="en-US" sz="1800" i="1" dirty="0">
                <a:latin typeface="Calibri"/>
                <a:cs typeface="Calibri"/>
              </a:rPr>
              <a:t> has</a:t>
            </a:r>
            <a:r>
              <a:rPr lang="en-US" sz="1800" i="1" spc="5" dirty="0">
                <a:latin typeface="Calibri"/>
                <a:cs typeface="Calibri"/>
              </a:rPr>
              <a:t> </a:t>
            </a:r>
            <a:r>
              <a:rPr lang="en-US" sz="1800" i="1" spc="-5" dirty="0">
                <a:latin typeface="Calibri"/>
                <a:cs typeface="Calibri"/>
              </a:rPr>
              <a:t>in</a:t>
            </a:r>
            <a:r>
              <a:rPr lang="en-US" sz="1800" i="1" dirty="0">
                <a:latin typeface="Calibri"/>
                <a:cs typeface="Calibri"/>
              </a:rPr>
              <a:t> mind.</a:t>
            </a:r>
            <a:r>
              <a:rPr lang="en-US" sz="1800" i="1" spc="5" dirty="0">
                <a:latin typeface="Calibri"/>
                <a:cs typeface="Calibri"/>
              </a:rPr>
              <a:t> </a:t>
            </a:r>
            <a:r>
              <a:rPr lang="en-US" sz="1800" i="1" spc="-5" dirty="0">
                <a:latin typeface="Calibri"/>
                <a:cs typeface="Calibri"/>
              </a:rPr>
              <a:t>Let</a:t>
            </a:r>
            <a:r>
              <a:rPr lang="en-US" sz="1800" i="1" dirty="0">
                <a:latin typeface="Calibri"/>
                <a:cs typeface="Calibri"/>
              </a:rPr>
              <a:t> </a:t>
            </a:r>
            <a:r>
              <a:rPr lang="en-US" sz="1800" i="1" spc="-5" dirty="0">
                <a:latin typeface="Calibri"/>
                <a:cs typeface="Calibri"/>
              </a:rPr>
              <a:t>us</a:t>
            </a:r>
            <a:r>
              <a:rPr lang="en-US" sz="1800" i="1" spc="395" dirty="0">
                <a:latin typeface="Calibri"/>
                <a:cs typeface="Calibri"/>
              </a:rPr>
              <a:t> </a:t>
            </a:r>
            <a:r>
              <a:rPr lang="en-US" sz="1800" i="1" spc="-5" dirty="0">
                <a:latin typeface="Calibri"/>
                <a:cs typeface="Calibri"/>
              </a:rPr>
              <a:t>compare</a:t>
            </a:r>
            <a:r>
              <a:rPr lang="en-US" sz="1800" i="1" spc="395" dirty="0">
                <a:latin typeface="Calibri"/>
                <a:cs typeface="Calibri"/>
              </a:rPr>
              <a:t> </a:t>
            </a:r>
            <a:r>
              <a:rPr lang="en-US" sz="1800" i="1" spc="-5" dirty="0">
                <a:latin typeface="Calibri"/>
                <a:cs typeface="Calibri"/>
              </a:rPr>
              <a:t>the </a:t>
            </a:r>
            <a:r>
              <a:rPr lang="en-US" sz="1800" i="1" dirty="0">
                <a:latin typeface="Calibri"/>
                <a:cs typeface="Calibri"/>
              </a:rPr>
              <a:t> </a:t>
            </a:r>
            <a:r>
              <a:rPr lang="en-US" sz="1800" i="1" spc="-5" dirty="0">
                <a:latin typeface="Calibri"/>
                <a:cs typeface="Calibri"/>
              </a:rPr>
              <a:t>following</a:t>
            </a:r>
            <a:r>
              <a:rPr lang="en-US" sz="1800" i="1" dirty="0">
                <a:latin typeface="Calibri"/>
                <a:cs typeface="Calibri"/>
              </a:rPr>
              <a:t> </a:t>
            </a:r>
            <a:r>
              <a:rPr lang="en-US" sz="1800" i="1" spc="-5" dirty="0">
                <a:latin typeface="Calibri"/>
                <a:cs typeface="Calibri"/>
              </a:rPr>
              <a:t>two</a:t>
            </a:r>
            <a:r>
              <a:rPr lang="en-US" sz="1800" i="1" dirty="0">
                <a:latin typeface="Calibri"/>
                <a:cs typeface="Calibri"/>
              </a:rPr>
              <a:t> </a:t>
            </a:r>
            <a:r>
              <a:rPr lang="en-US" sz="1800" i="1" spc="-5" dirty="0">
                <a:latin typeface="Calibri"/>
                <a:cs typeface="Calibri"/>
              </a:rPr>
              <a:t>agents.</a:t>
            </a:r>
            <a:r>
              <a:rPr lang="en-US" sz="1800" i="1" dirty="0">
                <a:latin typeface="Calibri"/>
                <a:cs typeface="Calibri"/>
              </a:rPr>
              <a:t> </a:t>
            </a:r>
            <a:r>
              <a:rPr lang="en-US" sz="1800" i="1" spc="-5" dirty="0">
                <a:latin typeface="Calibri"/>
                <a:cs typeface="Calibri"/>
              </a:rPr>
              <a:t>Out of</a:t>
            </a:r>
            <a:r>
              <a:rPr lang="en-US" sz="1800" i="1" spc="395" dirty="0">
                <a:latin typeface="Calibri"/>
                <a:cs typeface="Calibri"/>
              </a:rPr>
              <a:t> </a:t>
            </a:r>
            <a:r>
              <a:rPr lang="en-US" sz="1800" i="1" spc="-5" dirty="0">
                <a:latin typeface="Calibri"/>
                <a:cs typeface="Calibri"/>
              </a:rPr>
              <a:t>1,000 </a:t>
            </a:r>
            <a:r>
              <a:rPr lang="en-US" sz="1800" i="1" dirty="0">
                <a:latin typeface="Calibri"/>
                <a:cs typeface="Calibri"/>
              </a:rPr>
              <a:t>emails, </a:t>
            </a:r>
            <a:r>
              <a:rPr lang="en-US" sz="1800" b="1" i="1" dirty="0">
                <a:latin typeface="Calibri"/>
                <a:cs typeface="Calibri"/>
              </a:rPr>
              <a:t>Agent 1 (or MLA 1)</a:t>
            </a:r>
            <a:r>
              <a:rPr lang="en-US" sz="1800" i="1" dirty="0">
                <a:latin typeface="Calibri"/>
                <a:cs typeface="Calibri"/>
              </a:rPr>
              <a:t> </a:t>
            </a:r>
            <a:r>
              <a:rPr lang="en-US" sz="1800" i="1" dirty="0">
                <a:highlight>
                  <a:srgbClr val="FFFF00"/>
                </a:highlight>
                <a:latin typeface="Calibri"/>
                <a:cs typeface="Calibri"/>
              </a:rPr>
              <a:t>makes </a:t>
            </a:r>
            <a:r>
              <a:rPr lang="en-US" sz="1800" i="1" spc="-5" dirty="0">
                <a:highlight>
                  <a:srgbClr val="FFFF00"/>
                </a:highlight>
                <a:latin typeface="Calibri"/>
                <a:cs typeface="Calibri"/>
              </a:rPr>
              <a:t>only 12 </a:t>
            </a:r>
            <a:r>
              <a:rPr lang="en-US" sz="1800" i="1" u="sng" spc="-5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  <a:cs typeface="Calibri"/>
              </a:rPr>
              <a:t>errors</a:t>
            </a:r>
            <a:r>
              <a:rPr lang="en-US" sz="1800" i="1" spc="-5" dirty="0">
                <a:latin typeface="Calibri"/>
                <a:cs typeface="Calibri"/>
              </a:rPr>
              <a:t>.</a:t>
            </a:r>
            <a:r>
              <a:rPr lang="en-US" sz="1800" i="1" spc="395" dirty="0">
                <a:latin typeface="Calibri"/>
                <a:cs typeface="Calibri"/>
              </a:rPr>
              <a:t> </a:t>
            </a:r>
            <a:r>
              <a:rPr lang="en-US" sz="1800" b="1" i="1" dirty="0">
                <a:latin typeface="Calibri"/>
                <a:cs typeface="Calibri"/>
              </a:rPr>
              <a:t>Agent 2 (MLA 2)</a:t>
            </a:r>
            <a:r>
              <a:rPr lang="en-US" sz="1800" i="1" dirty="0">
                <a:latin typeface="Calibri"/>
                <a:cs typeface="Calibri"/>
              </a:rPr>
              <a:t> </a:t>
            </a:r>
            <a:r>
              <a:rPr lang="en-US" sz="1800" i="1" spc="-395" dirty="0">
                <a:latin typeface="Calibri"/>
                <a:cs typeface="Calibri"/>
              </a:rPr>
              <a:t> </a:t>
            </a:r>
            <a:r>
              <a:rPr lang="en-US" sz="1800" i="1" dirty="0">
                <a:latin typeface="Calibri"/>
                <a:cs typeface="Calibri"/>
              </a:rPr>
              <a:t>on the </a:t>
            </a:r>
            <a:r>
              <a:rPr lang="en-US" sz="1800" i="1" spc="-5" dirty="0">
                <a:latin typeface="Calibri"/>
                <a:cs typeface="Calibri"/>
              </a:rPr>
              <a:t>other hand </a:t>
            </a:r>
            <a:r>
              <a:rPr lang="en-US" sz="1800" i="1" dirty="0">
                <a:highlight>
                  <a:srgbClr val="FFFF00"/>
                </a:highlight>
                <a:latin typeface="Calibri"/>
                <a:cs typeface="Calibri"/>
              </a:rPr>
              <a:t>makes </a:t>
            </a:r>
            <a:r>
              <a:rPr lang="en-US" sz="1800" i="1" spc="-5" dirty="0">
                <a:highlight>
                  <a:srgbClr val="FFFF00"/>
                </a:highlight>
                <a:latin typeface="Calibri"/>
                <a:cs typeface="Calibri"/>
              </a:rPr>
              <a:t>38 </a:t>
            </a:r>
            <a:r>
              <a:rPr lang="en-US" sz="1800" i="1" u="sng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  <a:cs typeface="Calibri"/>
              </a:rPr>
              <a:t>errors</a:t>
            </a:r>
            <a:r>
              <a:rPr lang="en-US" sz="1800" i="1" dirty="0">
                <a:latin typeface="Calibri"/>
                <a:cs typeface="Calibri"/>
              </a:rPr>
              <a:t> with the </a:t>
            </a:r>
            <a:r>
              <a:rPr lang="en-US" sz="1800" i="1" spc="-5" dirty="0">
                <a:latin typeface="Calibri"/>
                <a:cs typeface="Calibri"/>
              </a:rPr>
              <a:t>same 1,000 emails. </a:t>
            </a:r>
            <a:r>
              <a:rPr lang="en-US" sz="1800" i="1" dirty="0">
                <a:latin typeface="Calibri"/>
                <a:cs typeface="Calibri"/>
              </a:rPr>
              <a:t>Is </a:t>
            </a:r>
            <a:r>
              <a:rPr lang="en-US" sz="1800" i="1" spc="-5" dirty="0">
                <a:latin typeface="Calibri"/>
                <a:cs typeface="Calibri"/>
              </a:rPr>
              <a:t>it therefore worse </a:t>
            </a:r>
            <a:r>
              <a:rPr lang="en-US" sz="1800" i="1" spc="-395" dirty="0">
                <a:latin typeface="Calibri"/>
                <a:cs typeface="Calibri"/>
              </a:rPr>
              <a:t> </a:t>
            </a:r>
            <a:r>
              <a:rPr lang="en-US" sz="1800" i="1" dirty="0">
                <a:latin typeface="Calibri"/>
                <a:cs typeface="Calibri"/>
              </a:rPr>
              <a:t>than </a:t>
            </a:r>
            <a:r>
              <a:rPr lang="en-US" sz="1800" b="1" i="1" spc="-5" dirty="0">
                <a:latin typeface="Calibri"/>
                <a:cs typeface="Calibri"/>
              </a:rPr>
              <a:t>Agent 1</a:t>
            </a:r>
            <a:r>
              <a:rPr lang="en-US" sz="1800" i="1" spc="-5" dirty="0">
                <a:latin typeface="Calibri"/>
                <a:cs typeface="Calibri"/>
              </a:rPr>
              <a:t>? </a:t>
            </a:r>
            <a:r>
              <a:rPr lang="en-US" sz="1800" i="1" spc="-10" dirty="0">
                <a:latin typeface="Calibri"/>
                <a:cs typeface="Calibri"/>
              </a:rPr>
              <a:t>The </a:t>
            </a:r>
            <a:r>
              <a:rPr lang="en-US" sz="1800" i="1" u="sng" spc="-5" dirty="0">
                <a:solidFill>
                  <a:srgbClr val="FF0000"/>
                </a:solidFill>
                <a:latin typeface="Calibri"/>
                <a:cs typeface="Calibri"/>
              </a:rPr>
              <a:t>errors</a:t>
            </a:r>
            <a:r>
              <a:rPr lang="en-US" sz="1800" i="1" spc="-5" dirty="0">
                <a:latin typeface="Calibri"/>
                <a:cs typeface="Calibri"/>
              </a:rPr>
              <a:t> </a:t>
            </a:r>
            <a:r>
              <a:rPr lang="en-US" sz="1800" i="1" dirty="0">
                <a:latin typeface="Calibri"/>
                <a:cs typeface="Calibri"/>
              </a:rPr>
              <a:t>of </a:t>
            </a:r>
            <a:r>
              <a:rPr lang="en-US" sz="1800" i="1" spc="-5" dirty="0">
                <a:latin typeface="Calibri"/>
                <a:cs typeface="Calibri"/>
              </a:rPr>
              <a:t>both agents are shown in </a:t>
            </a:r>
            <a:r>
              <a:rPr lang="en-US" sz="1800" i="1" dirty="0">
                <a:latin typeface="Calibri"/>
                <a:cs typeface="Calibri"/>
              </a:rPr>
              <a:t>more </a:t>
            </a:r>
            <a:r>
              <a:rPr lang="en-US" sz="1800" i="1" spc="-5" dirty="0">
                <a:latin typeface="Calibri"/>
                <a:cs typeface="Calibri"/>
              </a:rPr>
              <a:t>detail in </a:t>
            </a:r>
            <a:r>
              <a:rPr lang="en-US" sz="1800" i="1" dirty="0">
                <a:latin typeface="Calibri"/>
                <a:cs typeface="Calibri"/>
              </a:rPr>
              <a:t>the </a:t>
            </a:r>
            <a:r>
              <a:rPr lang="en-US" sz="1800" i="1" spc="-5" dirty="0">
                <a:latin typeface="Calibri"/>
                <a:cs typeface="Calibri"/>
              </a:rPr>
              <a:t>following </a:t>
            </a:r>
            <a:r>
              <a:rPr lang="en-US" sz="1800" i="1" dirty="0">
                <a:latin typeface="Calibri"/>
                <a:cs typeface="Calibri"/>
              </a:rPr>
              <a:t> </a:t>
            </a:r>
            <a:r>
              <a:rPr lang="en-US" sz="1800" i="1" spc="-5" dirty="0">
                <a:latin typeface="Calibri"/>
                <a:cs typeface="Calibri"/>
              </a:rPr>
              <a:t>confusion</a:t>
            </a:r>
            <a:r>
              <a:rPr lang="en-US" sz="1800" i="1" spc="20" dirty="0">
                <a:latin typeface="Calibri"/>
                <a:cs typeface="Calibri"/>
              </a:rPr>
              <a:t> </a:t>
            </a:r>
            <a:r>
              <a:rPr lang="en-US" sz="1800" i="1" spc="-5" dirty="0">
                <a:latin typeface="Calibri"/>
                <a:cs typeface="Calibri"/>
              </a:rPr>
              <a:t>matrix:</a:t>
            </a:r>
            <a:endParaRPr lang="en-US" sz="1800" dirty="0">
              <a:latin typeface="Calibri"/>
              <a:cs typeface="Calibri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55E5837-DDFB-3CB1-342E-363DA31F58C2}"/>
              </a:ext>
            </a:extLst>
          </p:cNvPr>
          <p:cNvSpPr txBox="1"/>
          <p:nvPr/>
        </p:nvSpPr>
        <p:spPr>
          <a:xfrm>
            <a:off x="1066800" y="1507671"/>
            <a:ext cx="7555398" cy="936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8450" marR="5080" indent="-285750" algn="just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b="1" spc="-10" dirty="0"/>
              <a:t>Reminder: ML is taken from intelligent agents.</a:t>
            </a:r>
          </a:p>
          <a:p>
            <a:pPr marL="298450" marR="5080" indent="-285750" algn="just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b="1" spc="-10" dirty="0"/>
              <a:t>ML algorithm (MLA) is a software agent.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03871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4">
            <a:extLst>
              <a:ext uri="{FF2B5EF4-FFF2-40B4-BE49-F238E27FC236}">
                <a16:creationId xmlns:a16="http://schemas.microsoft.com/office/drawing/2014/main" id="{B83C4022-289C-F540-16B3-DD42D7AC1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685800"/>
            <a:ext cx="86868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de-DE" sz="3200" spc="-280" dirty="0">
                <a:solidFill>
                  <a:srgbClr val="374D81"/>
                </a:solidFill>
              </a:rPr>
              <a:t>CM </a:t>
            </a:r>
            <a:r>
              <a:rPr lang="de-DE" sz="3200" spc="-280" dirty="0" err="1">
                <a:solidFill>
                  <a:srgbClr val="374D81"/>
                </a:solidFill>
              </a:rPr>
              <a:t>for</a:t>
            </a:r>
            <a:r>
              <a:rPr lang="de-DE" sz="3200" spc="-280" dirty="0">
                <a:solidFill>
                  <a:srgbClr val="374D81"/>
                </a:solidFill>
              </a:rPr>
              <a:t> Spam Filter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D6100D7-F7EF-E8E6-A72A-2D94DFEE8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28800"/>
            <a:ext cx="8305800" cy="184665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 err="1"/>
              <a:t>Types</a:t>
            </a:r>
            <a:r>
              <a:rPr lang="de-DE" b="1" dirty="0"/>
              <a:t> </a:t>
            </a:r>
            <a:r>
              <a:rPr lang="de-DE" b="1" dirty="0" err="1"/>
              <a:t>of</a:t>
            </a:r>
            <a:r>
              <a:rPr lang="de-DE" b="1" dirty="0"/>
              <a:t> Errors (due </a:t>
            </a:r>
            <a:r>
              <a:rPr lang="de-DE" b="1" dirty="0" err="1"/>
              <a:t>to</a:t>
            </a:r>
            <a:r>
              <a:rPr lang="de-DE" b="1" dirty="0"/>
              <a:t> miss </a:t>
            </a:r>
            <a:r>
              <a:rPr lang="de-DE" b="1" dirty="0" err="1"/>
              <a:t>classification</a:t>
            </a:r>
            <a:r>
              <a:rPr lang="de-DE" b="1" dirty="0"/>
              <a:t>):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b="1" dirty="0"/>
              <a:t>Spam but not </a:t>
            </a:r>
            <a:r>
              <a:rPr lang="de-DE" b="1" dirty="0" err="1"/>
              <a:t>classified</a:t>
            </a:r>
            <a:r>
              <a:rPr lang="de-DE" b="1" dirty="0"/>
              <a:t> </a:t>
            </a:r>
            <a:r>
              <a:rPr lang="de-DE" b="1" dirty="0" err="1"/>
              <a:t>as</a:t>
            </a:r>
            <a:r>
              <a:rPr lang="de-DE" b="1" dirty="0"/>
              <a:t> </a:t>
            </a:r>
            <a:r>
              <a:rPr lang="de-DE" b="1" dirty="0" err="1"/>
              <a:t>spam</a:t>
            </a:r>
            <a:r>
              <a:rPr lang="de-DE" b="1" dirty="0"/>
              <a:t>, aka </a:t>
            </a:r>
            <a:r>
              <a:rPr lang="de-DE" b="1" dirty="0" err="1"/>
              <a:t>False</a:t>
            </a:r>
            <a:r>
              <a:rPr lang="de-DE" b="1" dirty="0"/>
              <a:t> positive </a:t>
            </a:r>
            <a:r>
              <a:rPr lang="de-DE" b="1" strike="sngStrike" dirty="0"/>
              <a:t>(</a:t>
            </a:r>
            <a:r>
              <a:rPr lang="de-DE" b="1" strike="sngStrike" dirty="0" err="1"/>
              <a:t>Fn</a:t>
            </a:r>
            <a:r>
              <a:rPr lang="de-DE" b="1" strike="sngStrike" dirty="0"/>
              <a:t>) </a:t>
            </a:r>
            <a:r>
              <a:rPr lang="de-DE" b="1" dirty="0">
                <a:sym typeface="Wingdings" panose="05000000000000000000" pitchFamily="2" charset="2"/>
              </a:rPr>
              <a:t> </a:t>
            </a:r>
            <a:r>
              <a:rPr lang="de-DE" b="1" dirty="0"/>
              <a:t>(</a:t>
            </a:r>
            <a:r>
              <a:rPr lang="de-DE" b="1" dirty="0" err="1"/>
              <a:t>Fp</a:t>
            </a:r>
            <a:r>
              <a:rPr lang="de-DE" b="1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b="1" dirty="0"/>
              <a:t>Email </a:t>
            </a:r>
            <a:r>
              <a:rPr lang="de-DE" b="1" dirty="0" err="1"/>
              <a:t>which</a:t>
            </a:r>
            <a:r>
              <a:rPr lang="de-DE" b="1" dirty="0"/>
              <a:t> </a:t>
            </a:r>
            <a:r>
              <a:rPr lang="de-DE" b="1" dirty="0" err="1"/>
              <a:t>wrongly</a:t>
            </a:r>
            <a:r>
              <a:rPr lang="de-DE" b="1" dirty="0"/>
              <a:t> </a:t>
            </a:r>
            <a:r>
              <a:rPr lang="de-DE" b="1" dirty="0" err="1"/>
              <a:t>classified</a:t>
            </a:r>
            <a:r>
              <a:rPr lang="de-DE" b="1" dirty="0"/>
              <a:t> </a:t>
            </a:r>
            <a:r>
              <a:rPr lang="de-DE" b="1" dirty="0" err="1"/>
              <a:t>as</a:t>
            </a:r>
            <a:r>
              <a:rPr lang="de-DE" b="1" dirty="0"/>
              <a:t> </a:t>
            </a:r>
            <a:r>
              <a:rPr lang="de-DE" b="1" dirty="0" err="1"/>
              <a:t>spam</a:t>
            </a:r>
            <a:r>
              <a:rPr lang="de-DE" b="1" dirty="0"/>
              <a:t> (</a:t>
            </a:r>
            <a:r>
              <a:rPr lang="de-DE" b="1" dirty="0" err="1">
                <a:highlight>
                  <a:srgbClr val="FFFF00"/>
                </a:highlight>
              </a:rPr>
              <a:t>severity</a:t>
            </a:r>
            <a:r>
              <a:rPr lang="de-DE" b="1" dirty="0"/>
              <a:t>), aka </a:t>
            </a:r>
            <a:r>
              <a:rPr lang="de-DE" b="1" dirty="0" err="1"/>
              <a:t>False</a:t>
            </a:r>
            <a:r>
              <a:rPr lang="de-DE" b="1" dirty="0"/>
              <a:t> negative </a:t>
            </a:r>
            <a:r>
              <a:rPr lang="de-DE" b="1" strike="sngStrike" dirty="0"/>
              <a:t>(</a:t>
            </a:r>
            <a:r>
              <a:rPr lang="de-DE" b="1" strike="sngStrike" dirty="0" err="1"/>
              <a:t>Fp</a:t>
            </a:r>
            <a:r>
              <a:rPr lang="de-DE" b="1" strike="sngStrike" dirty="0"/>
              <a:t>) </a:t>
            </a:r>
            <a:r>
              <a:rPr lang="de-DE" b="1" dirty="0">
                <a:sym typeface="Wingdings" panose="05000000000000000000" pitchFamily="2" charset="2"/>
              </a:rPr>
              <a:t> </a:t>
            </a:r>
            <a:r>
              <a:rPr lang="de-DE" b="1" dirty="0" err="1">
                <a:sym typeface="Wingdings" panose="05000000000000000000" pitchFamily="2" charset="2"/>
              </a:rPr>
              <a:t>Fn</a:t>
            </a:r>
            <a:endParaRPr lang="de-DE" b="1" dirty="0"/>
          </a:p>
          <a:p>
            <a:pPr lvl="1"/>
            <a:endParaRPr lang="de-DE" b="1" dirty="0"/>
          </a:p>
          <a:p>
            <a:r>
              <a:rPr lang="de-DE" b="1" dirty="0"/>
              <a:t>	</a:t>
            </a:r>
          </a:p>
          <a:p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72F096-B171-908C-EB4E-CF378DF75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655" y="2848333"/>
            <a:ext cx="3711641" cy="27397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D214F4-2B30-A00D-7053-AEC0736F99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714" y="2848332"/>
            <a:ext cx="3352413" cy="27397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68CD02-75E8-0349-A739-2BAE5497ECB2}"/>
              </a:ext>
            </a:extLst>
          </p:cNvPr>
          <p:cNvSpPr txBox="1"/>
          <p:nvPr/>
        </p:nvSpPr>
        <p:spPr>
          <a:xfrm>
            <a:off x="2634343" y="5426580"/>
            <a:ext cx="1349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200</a:t>
            </a:r>
            <a:r>
              <a:rPr lang="de-DE" sz="1600" dirty="0"/>
              <a:t>       </a:t>
            </a:r>
            <a:r>
              <a:rPr lang="de-DE" b="1" dirty="0">
                <a:solidFill>
                  <a:srgbClr val="FF0000"/>
                </a:solidFill>
              </a:rPr>
              <a:t>800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2962B6-AD8B-762F-5C71-C4152F8B0231}"/>
              </a:ext>
            </a:extLst>
          </p:cNvPr>
          <p:cNvSpPr txBox="1"/>
          <p:nvPr/>
        </p:nvSpPr>
        <p:spPr>
          <a:xfrm>
            <a:off x="3918471" y="4521586"/>
            <a:ext cx="60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190</a:t>
            </a:r>
          </a:p>
          <a:p>
            <a:endParaRPr lang="de-DE" dirty="0"/>
          </a:p>
          <a:p>
            <a:r>
              <a:rPr lang="de-DE" b="1" dirty="0">
                <a:solidFill>
                  <a:srgbClr val="FF0000"/>
                </a:solidFill>
              </a:rPr>
              <a:t>810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71A915-F75F-56FA-5EFB-24E58DB45212}"/>
              </a:ext>
            </a:extLst>
          </p:cNvPr>
          <p:cNvSpPr txBox="1"/>
          <p:nvPr/>
        </p:nvSpPr>
        <p:spPr>
          <a:xfrm>
            <a:off x="8305800" y="4503250"/>
            <a:ext cx="60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238</a:t>
            </a:r>
          </a:p>
          <a:p>
            <a:endParaRPr lang="de-DE" dirty="0"/>
          </a:p>
          <a:p>
            <a:r>
              <a:rPr lang="de-DE" b="1" dirty="0">
                <a:solidFill>
                  <a:srgbClr val="FF0000"/>
                </a:solidFill>
              </a:rPr>
              <a:t>762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791645-F259-5751-7B3A-4F0FC067E4A9}"/>
              </a:ext>
            </a:extLst>
          </p:cNvPr>
          <p:cNvSpPr txBox="1"/>
          <p:nvPr/>
        </p:nvSpPr>
        <p:spPr>
          <a:xfrm>
            <a:off x="6923702" y="5403432"/>
            <a:ext cx="1328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200</a:t>
            </a:r>
            <a:r>
              <a:rPr lang="de-DE" sz="1600" dirty="0"/>
              <a:t>       </a:t>
            </a:r>
            <a:r>
              <a:rPr lang="de-DE" b="1" dirty="0">
                <a:solidFill>
                  <a:srgbClr val="FF0000"/>
                </a:solidFill>
              </a:rPr>
              <a:t>800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968588-E748-FB06-2372-3F204FDEEB30}"/>
              </a:ext>
            </a:extLst>
          </p:cNvPr>
          <p:cNvSpPr txBox="1"/>
          <p:nvPr/>
        </p:nvSpPr>
        <p:spPr>
          <a:xfrm>
            <a:off x="1600200" y="393928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/>
              <a:t>Tp</a:t>
            </a:r>
            <a:endParaRPr lang="de-DE" b="1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15E2EBD-F0AD-C67B-99F9-E98DF04F249C}"/>
              </a:ext>
            </a:extLst>
          </p:cNvPr>
          <p:cNvCxnSpPr/>
          <p:nvPr/>
        </p:nvCxnSpPr>
        <p:spPr>
          <a:xfrm>
            <a:off x="2057400" y="4227854"/>
            <a:ext cx="685800" cy="496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A79E4B9-9E87-A4CD-8EEF-F3DC1DB1253E}"/>
              </a:ext>
            </a:extLst>
          </p:cNvPr>
          <p:cNvSpPr txBox="1"/>
          <p:nvPr/>
        </p:nvSpPr>
        <p:spPr>
          <a:xfrm>
            <a:off x="1790700" y="611935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>
                <a:highlight>
                  <a:srgbClr val="FFFF00"/>
                </a:highlight>
              </a:rPr>
              <a:t>Fn</a:t>
            </a:r>
            <a:endParaRPr lang="de-DE" b="1" dirty="0">
              <a:highlight>
                <a:srgbClr val="FFFF00"/>
              </a:highlight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B3E454-1329-4A5C-6285-7A955FFC39DF}"/>
              </a:ext>
            </a:extLst>
          </p:cNvPr>
          <p:cNvCxnSpPr>
            <a:cxnSpLocks/>
          </p:cNvCxnSpPr>
          <p:nvPr/>
        </p:nvCxnSpPr>
        <p:spPr>
          <a:xfrm flipV="1">
            <a:off x="2253343" y="5255653"/>
            <a:ext cx="615237" cy="9165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5DF59A1-EE9D-7F9A-7199-6413DEFFC7EA}"/>
              </a:ext>
            </a:extLst>
          </p:cNvPr>
          <p:cNvSpPr txBox="1"/>
          <p:nvPr/>
        </p:nvSpPr>
        <p:spPr>
          <a:xfrm>
            <a:off x="3994671" y="6175186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/>
              <a:t>Tn</a:t>
            </a:r>
            <a:endParaRPr lang="de-DE" b="1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0154C7E-E2FA-F557-DAAE-5837579063D8}"/>
              </a:ext>
            </a:extLst>
          </p:cNvPr>
          <p:cNvCxnSpPr>
            <a:cxnSpLocks/>
          </p:cNvCxnSpPr>
          <p:nvPr/>
        </p:nvCxnSpPr>
        <p:spPr>
          <a:xfrm flipH="1" flipV="1">
            <a:off x="3659934" y="5296981"/>
            <a:ext cx="429792" cy="875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E384A4F-C56A-F877-3C06-BF9224CBACA8}"/>
              </a:ext>
            </a:extLst>
          </p:cNvPr>
          <p:cNvSpPr txBox="1"/>
          <p:nvPr/>
        </p:nvSpPr>
        <p:spPr>
          <a:xfrm>
            <a:off x="4343400" y="39624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>
                <a:highlight>
                  <a:srgbClr val="FFFF00"/>
                </a:highlight>
              </a:rPr>
              <a:t>Fp</a:t>
            </a:r>
            <a:endParaRPr lang="de-DE" b="1" dirty="0">
              <a:highlight>
                <a:srgbClr val="FFFF00"/>
              </a:highlight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CA870D0-0524-AFFE-0C40-E63D81789EEC}"/>
              </a:ext>
            </a:extLst>
          </p:cNvPr>
          <p:cNvCxnSpPr>
            <a:cxnSpLocks/>
          </p:cNvCxnSpPr>
          <p:nvPr/>
        </p:nvCxnSpPr>
        <p:spPr>
          <a:xfrm flipH="1">
            <a:off x="3715137" y="4275010"/>
            <a:ext cx="693190" cy="6206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51D3F53-E1E3-3FD4-EF65-27F3FBB09406}"/>
              </a:ext>
            </a:extLst>
          </p:cNvPr>
          <p:cNvCxnSpPr/>
          <p:nvPr/>
        </p:nvCxnSpPr>
        <p:spPr>
          <a:xfrm>
            <a:off x="3810000" y="5444916"/>
            <a:ext cx="533400" cy="4224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E6D6FA2-83D6-A6EB-DBE1-2043CE396BF5}"/>
              </a:ext>
            </a:extLst>
          </p:cNvPr>
          <p:cNvSpPr txBox="1"/>
          <p:nvPr/>
        </p:nvSpPr>
        <p:spPr>
          <a:xfrm>
            <a:off x="3852960" y="5486647"/>
            <a:ext cx="6640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/>
              <a:t>1000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78B8B1-D117-EC13-815F-C72C0EEE8C8F}"/>
              </a:ext>
            </a:extLst>
          </p:cNvPr>
          <p:cNvSpPr txBox="1"/>
          <p:nvPr/>
        </p:nvSpPr>
        <p:spPr>
          <a:xfrm>
            <a:off x="4862808" y="5909073"/>
            <a:ext cx="4092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Note</a:t>
            </a:r>
            <a:r>
              <a:rPr lang="de-DE" dirty="0"/>
              <a:t>: The total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observations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1000, 200 </a:t>
            </a:r>
            <a:r>
              <a:rPr lang="de-DE" dirty="0" err="1"/>
              <a:t>are</a:t>
            </a:r>
            <a:r>
              <a:rPr lang="de-DE" dirty="0"/>
              <a:t> not </a:t>
            </a:r>
            <a:r>
              <a:rPr lang="de-DE" dirty="0" err="1"/>
              <a:t>spam</a:t>
            </a:r>
            <a:r>
              <a:rPr lang="de-DE" dirty="0"/>
              <a:t> (</a:t>
            </a:r>
            <a:r>
              <a:rPr lang="de-DE" dirty="0" err="1"/>
              <a:t>wanted</a:t>
            </a:r>
            <a:r>
              <a:rPr lang="de-DE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643390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B73F0-27BC-1B61-A28A-8960CD149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4">
            <a:extLst>
              <a:ext uri="{FF2B5EF4-FFF2-40B4-BE49-F238E27FC236}">
                <a16:creationId xmlns:a16="http://schemas.microsoft.com/office/drawing/2014/main" id="{B02FA168-ACE6-0884-B941-6FC297275A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685800"/>
            <a:ext cx="86868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80" dirty="0">
                <a:solidFill>
                  <a:srgbClr val="374D81"/>
                </a:solidFill>
              </a:rPr>
              <a:t>Goal-based</a:t>
            </a:r>
            <a:r>
              <a:rPr sz="3200" spc="-665" dirty="0">
                <a:solidFill>
                  <a:srgbClr val="374D81"/>
                </a:solidFill>
              </a:rPr>
              <a:t> </a:t>
            </a:r>
            <a:r>
              <a:rPr sz="3200" spc="-254" dirty="0">
                <a:solidFill>
                  <a:srgbClr val="374D81"/>
                </a:solidFill>
              </a:rPr>
              <a:t>Agents</a:t>
            </a:r>
            <a:r>
              <a:rPr sz="3200" spc="-660" dirty="0">
                <a:solidFill>
                  <a:srgbClr val="374D81"/>
                </a:solidFill>
              </a:rPr>
              <a:t> </a:t>
            </a:r>
            <a:r>
              <a:rPr sz="3200" b="0" spc="-254" dirty="0">
                <a:solidFill>
                  <a:srgbClr val="374D81"/>
                </a:solidFill>
                <a:latin typeface="Arial MT"/>
                <a:cs typeface="Arial MT"/>
              </a:rPr>
              <a:t>versus</a:t>
            </a:r>
            <a:r>
              <a:rPr sz="3200" b="0" spc="-645" dirty="0">
                <a:solidFill>
                  <a:srgbClr val="374D81"/>
                </a:solidFill>
                <a:latin typeface="Arial MT"/>
                <a:cs typeface="Arial MT"/>
              </a:rPr>
              <a:t> </a:t>
            </a:r>
            <a:r>
              <a:rPr sz="3200" spc="-275" dirty="0">
                <a:solidFill>
                  <a:srgbClr val="374D81"/>
                </a:solidFill>
              </a:rPr>
              <a:t>Cost-based</a:t>
            </a:r>
            <a:r>
              <a:rPr sz="3200" spc="-665" dirty="0">
                <a:solidFill>
                  <a:srgbClr val="374D81"/>
                </a:solidFill>
              </a:rPr>
              <a:t> </a:t>
            </a:r>
            <a:r>
              <a:rPr sz="3200" spc="-254" dirty="0">
                <a:solidFill>
                  <a:srgbClr val="374D81"/>
                </a:solidFill>
              </a:rPr>
              <a:t>Agents</a:t>
            </a:r>
            <a:r>
              <a:rPr lang="de-DE" sz="3200" spc="-254" dirty="0">
                <a:solidFill>
                  <a:srgbClr val="374D81"/>
                </a:solidFill>
              </a:rPr>
              <a:t> - </a:t>
            </a:r>
            <a:r>
              <a:rPr lang="de-DE" sz="3200" spc="-254" dirty="0" err="1">
                <a:solidFill>
                  <a:srgbClr val="374D81"/>
                </a:solidFill>
              </a:rPr>
              <a:t>cont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3482D53-F82D-7C57-DFE0-FE838525F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28800"/>
            <a:ext cx="8305800" cy="184665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 err="1"/>
              <a:t>Types</a:t>
            </a:r>
            <a:r>
              <a:rPr lang="de-DE" b="1" dirty="0"/>
              <a:t> </a:t>
            </a:r>
            <a:r>
              <a:rPr lang="de-DE" b="1" dirty="0" err="1"/>
              <a:t>of</a:t>
            </a:r>
            <a:r>
              <a:rPr lang="de-DE" b="1" dirty="0"/>
              <a:t> Errors (due </a:t>
            </a:r>
            <a:r>
              <a:rPr lang="de-DE" b="1" dirty="0" err="1"/>
              <a:t>to</a:t>
            </a:r>
            <a:r>
              <a:rPr lang="de-DE" b="1" dirty="0"/>
              <a:t> miss </a:t>
            </a:r>
            <a:r>
              <a:rPr lang="de-DE" b="1" dirty="0" err="1"/>
              <a:t>classification</a:t>
            </a:r>
            <a:r>
              <a:rPr lang="de-DE" b="1" dirty="0"/>
              <a:t>):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b="1" dirty="0"/>
              <a:t>Spam but not </a:t>
            </a:r>
            <a:r>
              <a:rPr lang="de-DE" b="1" dirty="0" err="1"/>
              <a:t>classified</a:t>
            </a:r>
            <a:r>
              <a:rPr lang="de-DE" b="1" dirty="0"/>
              <a:t> </a:t>
            </a:r>
            <a:r>
              <a:rPr lang="de-DE" b="1" dirty="0" err="1"/>
              <a:t>as</a:t>
            </a:r>
            <a:r>
              <a:rPr lang="de-DE" b="1" dirty="0"/>
              <a:t> </a:t>
            </a:r>
            <a:r>
              <a:rPr lang="de-DE" b="1" dirty="0" err="1"/>
              <a:t>spam</a:t>
            </a:r>
            <a:r>
              <a:rPr lang="de-DE" b="1" dirty="0"/>
              <a:t>, aka </a:t>
            </a:r>
            <a:r>
              <a:rPr lang="de-DE" b="1" dirty="0" err="1"/>
              <a:t>False</a:t>
            </a:r>
            <a:r>
              <a:rPr lang="de-DE" b="1" dirty="0"/>
              <a:t> positive </a:t>
            </a:r>
            <a:r>
              <a:rPr lang="de-DE" b="1" strike="sngStrike" dirty="0"/>
              <a:t>(</a:t>
            </a:r>
            <a:r>
              <a:rPr lang="de-DE" b="1" strike="sngStrike" dirty="0" err="1"/>
              <a:t>Fn</a:t>
            </a:r>
            <a:r>
              <a:rPr lang="de-DE" b="1" strike="sngStrike" dirty="0"/>
              <a:t>) </a:t>
            </a:r>
            <a:r>
              <a:rPr lang="de-DE" b="1" dirty="0">
                <a:sym typeface="Wingdings" panose="05000000000000000000" pitchFamily="2" charset="2"/>
              </a:rPr>
              <a:t> </a:t>
            </a:r>
            <a:r>
              <a:rPr lang="de-DE" b="1" dirty="0"/>
              <a:t>(</a:t>
            </a:r>
            <a:r>
              <a:rPr lang="de-DE" b="1" dirty="0" err="1"/>
              <a:t>Fp</a:t>
            </a:r>
            <a:r>
              <a:rPr lang="de-DE" b="1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b="1" dirty="0"/>
              <a:t>Email </a:t>
            </a:r>
            <a:r>
              <a:rPr lang="de-DE" b="1" dirty="0" err="1"/>
              <a:t>which</a:t>
            </a:r>
            <a:r>
              <a:rPr lang="de-DE" b="1" dirty="0"/>
              <a:t> </a:t>
            </a:r>
            <a:r>
              <a:rPr lang="de-DE" b="1" dirty="0" err="1"/>
              <a:t>wrongly</a:t>
            </a:r>
            <a:r>
              <a:rPr lang="de-DE" b="1" dirty="0"/>
              <a:t> </a:t>
            </a:r>
            <a:r>
              <a:rPr lang="de-DE" b="1" dirty="0" err="1"/>
              <a:t>classified</a:t>
            </a:r>
            <a:r>
              <a:rPr lang="de-DE" b="1" dirty="0"/>
              <a:t> </a:t>
            </a:r>
            <a:r>
              <a:rPr lang="de-DE" b="1" dirty="0" err="1"/>
              <a:t>as</a:t>
            </a:r>
            <a:r>
              <a:rPr lang="de-DE" b="1" dirty="0"/>
              <a:t> </a:t>
            </a:r>
            <a:r>
              <a:rPr lang="de-DE" b="1" dirty="0" err="1"/>
              <a:t>spam</a:t>
            </a:r>
            <a:r>
              <a:rPr lang="de-DE" b="1" dirty="0"/>
              <a:t> (</a:t>
            </a:r>
            <a:r>
              <a:rPr lang="de-DE" b="1" dirty="0" err="1">
                <a:highlight>
                  <a:srgbClr val="FFFF00"/>
                </a:highlight>
              </a:rPr>
              <a:t>severity</a:t>
            </a:r>
            <a:r>
              <a:rPr lang="de-DE" b="1" dirty="0"/>
              <a:t>), aka </a:t>
            </a:r>
            <a:r>
              <a:rPr lang="de-DE" b="1" dirty="0" err="1"/>
              <a:t>False</a:t>
            </a:r>
            <a:r>
              <a:rPr lang="de-DE" b="1" dirty="0"/>
              <a:t> negative </a:t>
            </a:r>
            <a:r>
              <a:rPr lang="de-DE" b="1" strike="sngStrike" dirty="0"/>
              <a:t>(</a:t>
            </a:r>
            <a:r>
              <a:rPr lang="de-DE" b="1" strike="sngStrike" dirty="0" err="1"/>
              <a:t>Fp</a:t>
            </a:r>
            <a:r>
              <a:rPr lang="de-DE" b="1" strike="sngStrike" dirty="0"/>
              <a:t>) </a:t>
            </a:r>
            <a:r>
              <a:rPr lang="de-DE" b="1" dirty="0">
                <a:sym typeface="Wingdings" panose="05000000000000000000" pitchFamily="2" charset="2"/>
              </a:rPr>
              <a:t> </a:t>
            </a:r>
            <a:r>
              <a:rPr lang="de-DE" b="1" dirty="0" err="1">
                <a:sym typeface="Wingdings" panose="05000000000000000000" pitchFamily="2" charset="2"/>
              </a:rPr>
              <a:t>Fn</a:t>
            </a:r>
            <a:endParaRPr lang="de-DE" b="1" dirty="0"/>
          </a:p>
          <a:p>
            <a:pPr lvl="1"/>
            <a:endParaRPr lang="de-DE" b="1" dirty="0"/>
          </a:p>
          <a:p>
            <a:r>
              <a:rPr lang="de-DE" b="1" dirty="0"/>
              <a:t>	</a:t>
            </a:r>
          </a:p>
          <a:p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ED42C7-CD75-CB63-A8F8-31E4619EA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655" y="2848333"/>
            <a:ext cx="3711641" cy="27397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A812F9-E855-7DF7-FEAF-1468E9E656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714" y="2848332"/>
            <a:ext cx="3352413" cy="27397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8A90EB-631C-F659-3EB6-E3AAB03CDF75}"/>
              </a:ext>
            </a:extLst>
          </p:cNvPr>
          <p:cNvSpPr txBox="1"/>
          <p:nvPr/>
        </p:nvSpPr>
        <p:spPr>
          <a:xfrm>
            <a:off x="2634343" y="5426580"/>
            <a:ext cx="1349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200</a:t>
            </a:r>
            <a:r>
              <a:rPr lang="de-DE" sz="1600" dirty="0"/>
              <a:t>       </a:t>
            </a:r>
            <a:r>
              <a:rPr lang="de-DE" b="1" dirty="0">
                <a:solidFill>
                  <a:srgbClr val="FF0000"/>
                </a:solidFill>
              </a:rPr>
              <a:t>800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B4C82D-0F2D-EB39-70A7-A9299237A4F2}"/>
              </a:ext>
            </a:extLst>
          </p:cNvPr>
          <p:cNvSpPr txBox="1"/>
          <p:nvPr/>
        </p:nvSpPr>
        <p:spPr>
          <a:xfrm>
            <a:off x="3918471" y="4521586"/>
            <a:ext cx="60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190</a:t>
            </a:r>
          </a:p>
          <a:p>
            <a:endParaRPr lang="de-DE" dirty="0"/>
          </a:p>
          <a:p>
            <a:r>
              <a:rPr lang="de-DE" b="1" dirty="0">
                <a:solidFill>
                  <a:srgbClr val="FF0000"/>
                </a:solidFill>
              </a:rPr>
              <a:t>810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352DDD-305B-251F-D6DA-C0681CCE60B3}"/>
              </a:ext>
            </a:extLst>
          </p:cNvPr>
          <p:cNvSpPr txBox="1"/>
          <p:nvPr/>
        </p:nvSpPr>
        <p:spPr>
          <a:xfrm>
            <a:off x="8305800" y="4503250"/>
            <a:ext cx="60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238</a:t>
            </a:r>
          </a:p>
          <a:p>
            <a:endParaRPr lang="de-DE" dirty="0"/>
          </a:p>
          <a:p>
            <a:r>
              <a:rPr lang="de-DE" b="1" dirty="0">
                <a:solidFill>
                  <a:srgbClr val="FF0000"/>
                </a:solidFill>
              </a:rPr>
              <a:t>762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6DAEA7-1B3C-3DBE-3D8F-0F0EB893F828}"/>
              </a:ext>
            </a:extLst>
          </p:cNvPr>
          <p:cNvSpPr txBox="1"/>
          <p:nvPr/>
        </p:nvSpPr>
        <p:spPr>
          <a:xfrm>
            <a:off x="6923702" y="5403432"/>
            <a:ext cx="1328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200</a:t>
            </a:r>
            <a:r>
              <a:rPr lang="de-DE" sz="1600" dirty="0"/>
              <a:t>       </a:t>
            </a:r>
            <a:r>
              <a:rPr lang="de-DE" b="1" dirty="0">
                <a:solidFill>
                  <a:srgbClr val="FF0000"/>
                </a:solidFill>
              </a:rPr>
              <a:t>800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3CDA30-62DC-B80D-E91F-F93E442CD319}"/>
              </a:ext>
            </a:extLst>
          </p:cNvPr>
          <p:cNvSpPr txBox="1"/>
          <p:nvPr/>
        </p:nvSpPr>
        <p:spPr>
          <a:xfrm>
            <a:off x="1600200" y="393928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/>
              <a:t>Tp</a:t>
            </a:r>
            <a:endParaRPr lang="de-DE" b="1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253664-B037-5D35-1D08-E52370C2093C}"/>
              </a:ext>
            </a:extLst>
          </p:cNvPr>
          <p:cNvCxnSpPr/>
          <p:nvPr/>
        </p:nvCxnSpPr>
        <p:spPr>
          <a:xfrm>
            <a:off x="2057400" y="4227854"/>
            <a:ext cx="685800" cy="496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CAC9243-A753-AAC1-F6EC-29FC8470A1BC}"/>
              </a:ext>
            </a:extLst>
          </p:cNvPr>
          <p:cNvSpPr txBox="1"/>
          <p:nvPr/>
        </p:nvSpPr>
        <p:spPr>
          <a:xfrm>
            <a:off x="1790700" y="611935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>
                <a:highlight>
                  <a:srgbClr val="FFFF00"/>
                </a:highlight>
              </a:rPr>
              <a:t>Fn</a:t>
            </a:r>
            <a:endParaRPr lang="de-DE" b="1" dirty="0">
              <a:highlight>
                <a:srgbClr val="FFFF00"/>
              </a:highlight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89A2AD6-7C91-688B-92F3-CD4182DDD8A3}"/>
              </a:ext>
            </a:extLst>
          </p:cNvPr>
          <p:cNvCxnSpPr>
            <a:cxnSpLocks/>
          </p:cNvCxnSpPr>
          <p:nvPr/>
        </p:nvCxnSpPr>
        <p:spPr>
          <a:xfrm flipV="1">
            <a:off x="2253343" y="5255653"/>
            <a:ext cx="615237" cy="9165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94997A8-251E-7EEF-BA4B-6D4CB5CA017B}"/>
              </a:ext>
            </a:extLst>
          </p:cNvPr>
          <p:cNvSpPr txBox="1"/>
          <p:nvPr/>
        </p:nvSpPr>
        <p:spPr>
          <a:xfrm>
            <a:off x="3994671" y="6175186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/>
              <a:t>Tn</a:t>
            </a:r>
            <a:endParaRPr lang="de-DE" b="1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2D33D5C-B836-0E48-49D6-3293470C6A82}"/>
              </a:ext>
            </a:extLst>
          </p:cNvPr>
          <p:cNvCxnSpPr>
            <a:cxnSpLocks/>
          </p:cNvCxnSpPr>
          <p:nvPr/>
        </p:nvCxnSpPr>
        <p:spPr>
          <a:xfrm flipH="1" flipV="1">
            <a:off x="3659934" y="5296981"/>
            <a:ext cx="429792" cy="875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DFEDAB4-CD84-078A-D125-1C04E715ABBE}"/>
              </a:ext>
            </a:extLst>
          </p:cNvPr>
          <p:cNvSpPr txBox="1"/>
          <p:nvPr/>
        </p:nvSpPr>
        <p:spPr>
          <a:xfrm>
            <a:off x="4343400" y="39624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>
                <a:highlight>
                  <a:srgbClr val="FFFF00"/>
                </a:highlight>
              </a:rPr>
              <a:t>Fp</a:t>
            </a:r>
            <a:endParaRPr lang="de-DE" b="1" dirty="0">
              <a:highlight>
                <a:srgbClr val="FFFF00"/>
              </a:highlight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37DAD62-E890-013D-43F3-6E2ADC11B4FB}"/>
              </a:ext>
            </a:extLst>
          </p:cNvPr>
          <p:cNvCxnSpPr>
            <a:cxnSpLocks/>
          </p:cNvCxnSpPr>
          <p:nvPr/>
        </p:nvCxnSpPr>
        <p:spPr>
          <a:xfrm flipH="1">
            <a:off x="3715137" y="4275010"/>
            <a:ext cx="693190" cy="6206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34FCC07-91B7-9FC3-C92A-F98B4000DA1D}"/>
              </a:ext>
            </a:extLst>
          </p:cNvPr>
          <p:cNvCxnSpPr/>
          <p:nvPr/>
        </p:nvCxnSpPr>
        <p:spPr>
          <a:xfrm>
            <a:off x="3810000" y="5444916"/>
            <a:ext cx="533400" cy="4224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7A8C261-6FD9-7FD1-9829-664EDB438E3D}"/>
              </a:ext>
            </a:extLst>
          </p:cNvPr>
          <p:cNvSpPr txBox="1"/>
          <p:nvPr/>
        </p:nvSpPr>
        <p:spPr>
          <a:xfrm>
            <a:off x="3852960" y="5486647"/>
            <a:ext cx="6640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/>
              <a:t>1000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67575D-C9D5-8DC6-88DF-A2E9F0242395}"/>
              </a:ext>
            </a:extLst>
          </p:cNvPr>
          <p:cNvSpPr txBox="1"/>
          <p:nvPr/>
        </p:nvSpPr>
        <p:spPr>
          <a:xfrm>
            <a:off x="4862808" y="5909073"/>
            <a:ext cx="4092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Note</a:t>
            </a:r>
            <a:r>
              <a:rPr lang="de-DE" dirty="0"/>
              <a:t>: The total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observations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1000, 200 </a:t>
            </a:r>
            <a:r>
              <a:rPr lang="de-DE" dirty="0" err="1"/>
              <a:t>are</a:t>
            </a:r>
            <a:r>
              <a:rPr lang="de-DE" dirty="0"/>
              <a:t> not </a:t>
            </a:r>
            <a:r>
              <a:rPr lang="de-DE" dirty="0" err="1"/>
              <a:t>spam</a:t>
            </a:r>
            <a:r>
              <a:rPr lang="de-DE" dirty="0"/>
              <a:t> (</a:t>
            </a:r>
            <a:r>
              <a:rPr lang="de-DE" dirty="0" err="1"/>
              <a:t>wanted</a:t>
            </a:r>
            <a:r>
              <a:rPr lang="de-DE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782870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4">
            <a:extLst>
              <a:ext uri="{FF2B5EF4-FFF2-40B4-BE49-F238E27FC236}">
                <a16:creationId xmlns:a16="http://schemas.microsoft.com/office/drawing/2014/main" id="{B83C4022-289C-F540-16B3-DD42D7AC1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685800"/>
            <a:ext cx="86868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de-DE" sz="3200" spc="-280" dirty="0" err="1">
                <a:solidFill>
                  <a:srgbClr val="374D81"/>
                </a:solidFill>
              </a:rPr>
              <a:t>Confusion</a:t>
            </a:r>
            <a:r>
              <a:rPr lang="de-DE" sz="3200" spc="-280" dirty="0">
                <a:solidFill>
                  <a:srgbClr val="374D81"/>
                </a:solidFill>
              </a:rPr>
              <a:t> Matrix </a:t>
            </a:r>
            <a:r>
              <a:rPr lang="de-DE" sz="3200" spc="-280" dirty="0" err="1">
                <a:solidFill>
                  <a:srgbClr val="374D81"/>
                </a:solidFill>
              </a:rPr>
              <a:t>for</a:t>
            </a:r>
            <a:r>
              <a:rPr lang="de-DE" sz="3200" spc="-280" dirty="0">
                <a:solidFill>
                  <a:srgbClr val="374D81"/>
                </a:solidFill>
              </a:rPr>
              <a:t> Spam Filter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15D987-57C3-47BE-2308-5B2C71258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1" y="1438870"/>
            <a:ext cx="7772399" cy="984885"/>
          </a:xfrm>
        </p:spPr>
        <p:txBody>
          <a:bodyPr/>
          <a:lstStyle/>
          <a:p>
            <a:r>
              <a:rPr lang="de-DE" sz="2400" b="1" dirty="0"/>
              <a:t>Note</a:t>
            </a:r>
            <a:r>
              <a:rPr lang="de-DE" sz="2000" dirty="0"/>
              <a:t>: </a:t>
            </a:r>
            <a:r>
              <a:rPr lang="de-DE" sz="2000" dirty="0" err="1"/>
              <a:t>We</a:t>
            </a:r>
            <a:r>
              <a:rPr lang="de-DE" sz="2000" dirty="0"/>
              <a:t> </a:t>
            </a:r>
            <a:r>
              <a:rPr lang="de-DE" sz="2000" dirty="0" err="1"/>
              <a:t>need</a:t>
            </a:r>
            <a:r>
              <a:rPr lang="de-DE" sz="2000" dirty="0"/>
              <a:t> 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identify</a:t>
            </a:r>
            <a:r>
              <a:rPr lang="de-DE" sz="2000" dirty="0"/>
              <a:t> </a:t>
            </a:r>
            <a:r>
              <a:rPr lang="en-US" sz="2000" b="0" i="0" dirty="0"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our primary </a:t>
            </a:r>
            <a:r>
              <a:rPr lang="en-US" sz="2000" b="1" i="0" dirty="0"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target (favorable) </a:t>
            </a:r>
            <a:r>
              <a:rPr lang="en-US" sz="2000" b="0" i="0" dirty="0"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as</a:t>
            </a:r>
            <a:r>
              <a:rPr lang="en-US" sz="2000" b="1" i="0" dirty="0"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 positive</a:t>
            </a:r>
            <a:r>
              <a:rPr lang="en-US" sz="2000" b="0" i="0" dirty="0"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 and </a:t>
            </a:r>
            <a:r>
              <a:rPr lang="en-US" sz="2000" b="1" i="0" dirty="0"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other</a:t>
            </a:r>
            <a:r>
              <a:rPr lang="en-US" sz="2000" b="0" i="0" dirty="0"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s (unfavorable) as </a:t>
            </a:r>
            <a:r>
              <a:rPr lang="en-US" sz="2000" b="1" i="0" dirty="0"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negative.</a:t>
            </a:r>
            <a:endParaRPr lang="de-DE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A9400BC-825D-3D86-FFFD-B9AC4CD7E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895600"/>
            <a:ext cx="6534486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42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4">
            <a:extLst>
              <a:ext uri="{FF2B5EF4-FFF2-40B4-BE49-F238E27FC236}">
                <a16:creationId xmlns:a16="http://schemas.microsoft.com/office/drawing/2014/main" id="{B83C4022-289C-F540-16B3-DD42D7AC1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685800"/>
            <a:ext cx="86868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de-DE" sz="3200" spc="-280" dirty="0" err="1">
                <a:solidFill>
                  <a:srgbClr val="374D81"/>
                </a:solidFill>
              </a:rPr>
              <a:t>Reshape</a:t>
            </a:r>
            <a:r>
              <a:rPr lang="de-DE" sz="3200" spc="-280" dirty="0">
                <a:solidFill>
                  <a:srgbClr val="374D81"/>
                </a:solidFill>
              </a:rPr>
              <a:t> </a:t>
            </a:r>
            <a:r>
              <a:rPr lang="de-DE" sz="3200" spc="-280" dirty="0" err="1">
                <a:solidFill>
                  <a:srgbClr val="374D81"/>
                </a:solidFill>
              </a:rPr>
              <a:t>the</a:t>
            </a:r>
            <a:r>
              <a:rPr lang="de-DE" sz="3200" spc="-280" dirty="0">
                <a:solidFill>
                  <a:srgbClr val="374D81"/>
                </a:solidFill>
              </a:rPr>
              <a:t> </a:t>
            </a:r>
            <a:r>
              <a:rPr lang="de-DE" sz="3200" spc="-280" dirty="0" err="1">
                <a:solidFill>
                  <a:srgbClr val="374D81"/>
                </a:solidFill>
              </a:rPr>
              <a:t>Confusion</a:t>
            </a:r>
            <a:r>
              <a:rPr lang="de-DE" sz="3200" spc="-280" dirty="0">
                <a:solidFill>
                  <a:srgbClr val="374D81"/>
                </a:solidFill>
              </a:rPr>
              <a:t> Matrix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15D987-57C3-47BE-2308-5B2C71258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3703" y="1524000"/>
            <a:ext cx="7611109" cy="4800600"/>
          </a:xfrm>
        </p:spPr>
        <p:txBody>
          <a:bodyPr/>
          <a:lstStyle/>
          <a:p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E69838-8762-FFF3-524A-BD13F8DE7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837846"/>
            <a:ext cx="5410200" cy="419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723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4">
            <a:extLst>
              <a:ext uri="{FF2B5EF4-FFF2-40B4-BE49-F238E27FC236}">
                <a16:creationId xmlns:a16="http://schemas.microsoft.com/office/drawing/2014/main" id="{B83C4022-289C-F540-16B3-DD42D7AC1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685800"/>
            <a:ext cx="86868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de-DE" sz="3200" spc="-280" dirty="0" err="1">
                <a:solidFill>
                  <a:srgbClr val="374D81"/>
                </a:solidFill>
              </a:rPr>
              <a:t>Confusion</a:t>
            </a:r>
            <a:r>
              <a:rPr lang="de-DE" sz="3200" spc="-280" dirty="0">
                <a:solidFill>
                  <a:srgbClr val="374D81"/>
                </a:solidFill>
              </a:rPr>
              <a:t> Matrix </a:t>
            </a:r>
            <a:r>
              <a:rPr lang="de-DE" sz="3200" spc="-280" dirty="0" err="1">
                <a:solidFill>
                  <a:srgbClr val="374D81"/>
                </a:solidFill>
              </a:rPr>
              <a:t>for</a:t>
            </a:r>
            <a:r>
              <a:rPr lang="de-DE" sz="3200" spc="-280" dirty="0">
                <a:solidFill>
                  <a:srgbClr val="374D81"/>
                </a:solidFill>
              </a:rPr>
              <a:t> Corona Test Kit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15D987-57C3-47BE-2308-5B2C71258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3703" y="1524000"/>
            <a:ext cx="7611109" cy="2062103"/>
          </a:xfrm>
        </p:spPr>
        <p:txBody>
          <a:bodyPr/>
          <a:lstStyle/>
          <a:p>
            <a:pPr algn="just"/>
            <a:r>
              <a:rPr lang="de-DE" sz="2400" b="1" u="sng" dirty="0" err="1"/>
              <a:t>Example</a:t>
            </a:r>
            <a:r>
              <a:rPr lang="de-DE" dirty="0"/>
              <a:t>: 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Suppose that your company has developed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Covid-19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testing kit. To check the validity of this kit company has randomly taken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100 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covid-19 suspect out of which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60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people were infected with covid-19 and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40 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people had shown negative result. But your kit was able to detect only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20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covid-19 infected people. </a:t>
            </a:r>
            <a:r>
              <a:rPr lang="en-US" b="0" i="0" u="sng" dirty="0">
                <a:solidFill>
                  <a:srgbClr val="242424"/>
                </a:solidFill>
                <a:effectLst/>
                <a:latin typeface="source-serif-pro"/>
              </a:rPr>
              <a:t>Let’s make confusion matrix based on this example:</a:t>
            </a:r>
            <a:endParaRPr lang="de-DE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869164-D9C5-0575-33A5-27C6E82AB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733800"/>
            <a:ext cx="5067560" cy="281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139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4">
            <a:extLst>
              <a:ext uri="{FF2B5EF4-FFF2-40B4-BE49-F238E27FC236}">
                <a16:creationId xmlns:a16="http://schemas.microsoft.com/office/drawing/2014/main" id="{B83C4022-289C-F540-16B3-DD42D7AC1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685800"/>
            <a:ext cx="86868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de-DE" sz="3200" spc="-280" dirty="0" err="1">
                <a:solidFill>
                  <a:srgbClr val="374D81"/>
                </a:solidFill>
              </a:rPr>
              <a:t>Confusion</a:t>
            </a:r>
            <a:r>
              <a:rPr lang="de-DE" sz="3200" spc="-280" dirty="0">
                <a:solidFill>
                  <a:srgbClr val="374D81"/>
                </a:solidFill>
              </a:rPr>
              <a:t> Matrix </a:t>
            </a:r>
            <a:r>
              <a:rPr lang="de-DE" sz="3200" spc="-280" dirty="0" err="1">
                <a:solidFill>
                  <a:srgbClr val="374D81"/>
                </a:solidFill>
              </a:rPr>
              <a:t>for</a:t>
            </a:r>
            <a:r>
              <a:rPr lang="de-DE" sz="3200" spc="-280" dirty="0">
                <a:solidFill>
                  <a:srgbClr val="374D81"/>
                </a:solidFill>
              </a:rPr>
              <a:t> Corona Test Kit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15D987-57C3-47BE-2308-5B2C71258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3703" y="1524000"/>
            <a:ext cx="7611109" cy="2062103"/>
          </a:xfrm>
        </p:spPr>
        <p:txBody>
          <a:bodyPr/>
          <a:lstStyle/>
          <a:p>
            <a:pPr algn="just"/>
            <a:r>
              <a:rPr lang="de-DE" sz="2400" b="1" u="sng" dirty="0" err="1"/>
              <a:t>Example</a:t>
            </a:r>
            <a:r>
              <a:rPr lang="de-DE" dirty="0"/>
              <a:t>: </a:t>
            </a:r>
            <a:r>
              <a:rPr lang="en-US" dirty="0">
                <a:solidFill>
                  <a:srgbClr val="242424"/>
                </a:solidFill>
                <a:latin typeface="source-serif-pro"/>
              </a:rPr>
              <a:t>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uppose that your company has developed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Covid-19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testing kit. To check the validity of this kit company has randomly taken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100 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covid-19 suspect out of which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60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people were infected with covid-19 and </a:t>
            </a:r>
            <a:r>
              <a:rPr lang="en-US" b="1" i="0" dirty="0">
                <a:solidFill>
                  <a:srgbClr val="242424"/>
                </a:solidFill>
                <a:effectLst/>
                <a:highlight>
                  <a:srgbClr val="FFFF00"/>
                </a:highlight>
                <a:latin typeface="source-serif-pro"/>
              </a:rPr>
              <a:t>40 </a:t>
            </a: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00"/>
                </a:highlight>
                <a:latin typeface="source-serif-pro"/>
              </a:rPr>
              <a:t>people had shown negative result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. But your kit was able to detect only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20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covid-19 infected people. </a:t>
            </a:r>
            <a:r>
              <a:rPr lang="en-US" b="0" i="0" u="sng" dirty="0">
                <a:solidFill>
                  <a:srgbClr val="242424"/>
                </a:solidFill>
                <a:effectLst/>
                <a:latin typeface="source-serif-pro"/>
              </a:rPr>
              <a:t>Let’s make confusion matrix based on this example:</a:t>
            </a:r>
            <a:endParaRPr lang="de-DE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6D3E3F-F7F3-8B56-E086-DF1DC62E8E83}"/>
              </a:ext>
            </a:extLst>
          </p:cNvPr>
          <p:cNvSpPr txBox="1"/>
          <p:nvPr/>
        </p:nvSpPr>
        <p:spPr>
          <a:xfrm>
            <a:off x="1066800" y="3714967"/>
            <a:ext cx="7010400" cy="1619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i="0" dirty="0" err="1">
                <a:solidFill>
                  <a:srgbClr val="242424"/>
                </a:solidFill>
                <a:effectLst/>
                <a:latin typeface="source-serif-pro"/>
              </a:rPr>
              <a:t>i</a:t>
            </a:r>
            <a:r>
              <a:rPr lang="en-US" sz="1600" b="1" i="0" dirty="0">
                <a:solidFill>
                  <a:srgbClr val="242424"/>
                </a:solidFill>
                <a:effectLst/>
                <a:latin typeface="source-serif-pro"/>
              </a:rPr>
              <a:t>. True Positive(TP)</a:t>
            </a:r>
            <a:r>
              <a:rPr lang="en-US" sz="1600" b="0" i="0" dirty="0">
                <a:solidFill>
                  <a:srgbClr val="242424"/>
                </a:solidFill>
                <a:effectLst/>
                <a:latin typeface="source-serif-pro"/>
              </a:rPr>
              <a:t> </a:t>
            </a:r>
            <a:r>
              <a:rPr lang="en-US" sz="1600" b="1" i="0" dirty="0">
                <a:solidFill>
                  <a:srgbClr val="242424"/>
                </a:solidFill>
                <a:effectLst/>
                <a:latin typeface="source-serif-pro"/>
              </a:rPr>
              <a:t>:- </a:t>
            </a:r>
            <a:r>
              <a:rPr lang="en-US" sz="1600" b="0" i="0" dirty="0">
                <a:solidFill>
                  <a:srgbClr val="242424"/>
                </a:solidFill>
                <a:effectLst/>
                <a:latin typeface="source-serif-pro"/>
              </a:rPr>
              <a:t>Predicted Yes and They do have the disease.</a:t>
            </a:r>
          </a:p>
          <a:p>
            <a:pPr algn="just">
              <a:lnSpc>
                <a:spcPct val="150000"/>
              </a:lnSpc>
            </a:pPr>
            <a:r>
              <a:rPr lang="en-US" sz="1600" b="1" i="0" dirty="0">
                <a:solidFill>
                  <a:srgbClr val="242424"/>
                </a:solidFill>
                <a:effectLst/>
                <a:latin typeface="source-serif-pro"/>
              </a:rPr>
              <a:t>ii. False Positive (FP):-</a:t>
            </a:r>
            <a:r>
              <a:rPr lang="en-US" sz="1600" b="0" i="0" dirty="0">
                <a:solidFill>
                  <a:srgbClr val="242424"/>
                </a:solidFill>
                <a:effectLst/>
                <a:latin typeface="source-serif-pro"/>
              </a:rPr>
              <a:t> Predicted Yes but They don’t have the disease.</a:t>
            </a:r>
          </a:p>
          <a:p>
            <a:pPr algn="just">
              <a:lnSpc>
                <a:spcPct val="150000"/>
              </a:lnSpc>
            </a:pPr>
            <a:r>
              <a:rPr lang="en-US" sz="1600" b="1" i="0" dirty="0">
                <a:solidFill>
                  <a:srgbClr val="242424"/>
                </a:solidFill>
                <a:effectLst/>
                <a:latin typeface="source-serif-pro"/>
              </a:rPr>
              <a:t>iii. False Negative (FN):-</a:t>
            </a:r>
            <a:r>
              <a:rPr lang="en-US" sz="1600" b="0" i="0" dirty="0">
                <a:solidFill>
                  <a:srgbClr val="242424"/>
                </a:solidFill>
                <a:effectLst/>
                <a:latin typeface="source-serif-pro"/>
              </a:rPr>
              <a:t>Predicted No but they do have the disease.</a:t>
            </a:r>
          </a:p>
          <a:p>
            <a:pPr algn="just">
              <a:lnSpc>
                <a:spcPct val="150000"/>
              </a:lnSpc>
            </a:pPr>
            <a:r>
              <a:rPr lang="en-US" sz="1600" b="1" i="0" dirty="0">
                <a:solidFill>
                  <a:srgbClr val="242424"/>
                </a:solidFill>
                <a:effectLst/>
                <a:latin typeface="source-serif-pro"/>
              </a:rPr>
              <a:t>iv. True Negative (TN):-</a:t>
            </a:r>
            <a:r>
              <a:rPr lang="en-US" sz="1600" b="0" i="0" dirty="0">
                <a:solidFill>
                  <a:srgbClr val="242424"/>
                </a:solidFill>
                <a:effectLst/>
                <a:latin typeface="source-serif-pro"/>
              </a:rPr>
              <a:t> Predicted No and they don’t have the disease.</a:t>
            </a:r>
            <a:endParaRPr lang="en-US" b="0" i="0" dirty="0">
              <a:solidFill>
                <a:srgbClr val="242424"/>
              </a:solidFill>
              <a:effectLst/>
              <a:latin typeface="source-serif-pro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60A7CD-790B-C1AC-B358-59F2F0EEE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5462864"/>
            <a:ext cx="3597693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645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4">
            <a:extLst>
              <a:ext uri="{FF2B5EF4-FFF2-40B4-BE49-F238E27FC236}">
                <a16:creationId xmlns:a16="http://schemas.microsoft.com/office/drawing/2014/main" id="{B83C4022-289C-F540-16B3-DD42D7AC1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685800"/>
            <a:ext cx="86868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de-DE" sz="3200" spc="-280" dirty="0">
                <a:solidFill>
                  <a:srgbClr val="374D81"/>
                </a:solidFill>
              </a:rPr>
              <a:t>Evaluation </a:t>
            </a:r>
            <a:r>
              <a:rPr lang="de-DE" sz="3200" spc="-280" dirty="0" err="1">
                <a:solidFill>
                  <a:srgbClr val="374D81"/>
                </a:solidFill>
              </a:rPr>
              <a:t>Metrics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15D987-57C3-47BE-2308-5B2C71258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3703" y="1524000"/>
            <a:ext cx="7611109" cy="2708434"/>
          </a:xfrm>
        </p:spPr>
        <p:txBody>
          <a:bodyPr/>
          <a:lstStyle/>
          <a:p>
            <a:pPr algn="just"/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Let’s Understand some more parameter that might be helpful for the evaluation of binary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clasification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 model.</a:t>
            </a:r>
          </a:p>
          <a:p>
            <a:pPr algn="just"/>
            <a:endParaRPr lang="en-US" dirty="0">
              <a:solidFill>
                <a:srgbClr val="242424"/>
              </a:solidFill>
              <a:latin typeface="source-serif-pro"/>
            </a:endParaRPr>
          </a:p>
          <a:p>
            <a:pPr marL="457200" indent="-457200" algn="l">
              <a:buAutoNum type="arabicPeriod"/>
            </a:pPr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Accuracy</a:t>
            </a:r>
          </a:p>
          <a:p>
            <a:pPr algn="l"/>
            <a:endParaRPr lang="en-US" b="1" i="0" dirty="0">
              <a:solidFill>
                <a:srgbClr val="242424"/>
              </a:solidFill>
              <a:effectLst/>
              <a:latin typeface="sohne"/>
            </a:endParaRPr>
          </a:p>
          <a:p>
            <a:pPr algn="l"/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It is the ratio of total number of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correct classifications 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to the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 total number of classifications.</a:t>
            </a:r>
            <a:endParaRPr lang="en-US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just"/>
            <a:endParaRPr lang="de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DC9BCD-6AC5-6D28-1784-760910182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908" y="4237035"/>
            <a:ext cx="3556183" cy="223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828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4">
            <a:extLst>
              <a:ext uri="{FF2B5EF4-FFF2-40B4-BE49-F238E27FC236}">
                <a16:creationId xmlns:a16="http://schemas.microsoft.com/office/drawing/2014/main" id="{B83C4022-289C-F540-16B3-DD42D7AC1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685800"/>
            <a:ext cx="86868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de-DE" sz="3200" spc="-280" dirty="0">
                <a:solidFill>
                  <a:srgbClr val="374D81"/>
                </a:solidFill>
              </a:rPr>
              <a:t>Evaluation </a:t>
            </a:r>
            <a:r>
              <a:rPr lang="de-DE" sz="3200" spc="-280" dirty="0" err="1">
                <a:solidFill>
                  <a:srgbClr val="374D81"/>
                </a:solidFill>
              </a:rPr>
              <a:t>Metrics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15D987-57C3-47BE-2308-5B2C71258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3703" y="1524001"/>
            <a:ext cx="7611109" cy="2362199"/>
          </a:xfrm>
        </p:spPr>
        <p:txBody>
          <a:bodyPr/>
          <a:lstStyle/>
          <a:p>
            <a:pPr marL="342900" indent="-342900" algn="just">
              <a:buFont typeface="Wingdings" panose="05000000000000000000" pitchFamily="2" charset="2"/>
              <a:buChar char="à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The remaining “</a:t>
            </a:r>
            <a:r>
              <a:rPr lang="de-DE" dirty="0">
                <a:solidFill>
                  <a:srgbClr val="242424"/>
                </a:solidFill>
                <a:latin typeface="source-serif-pro"/>
              </a:rPr>
              <a:t>Evaluation </a:t>
            </a:r>
            <a:r>
              <a:rPr lang="de-DE" dirty="0" err="1">
                <a:solidFill>
                  <a:srgbClr val="242424"/>
                </a:solidFill>
                <a:latin typeface="source-serif-pro"/>
              </a:rPr>
              <a:t>Metrics</a:t>
            </a:r>
            <a:r>
              <a:rPr lang="de-DE" dirty="0">
                <a:solidFill>
                  <a:srgbClr val="242424"/>
                </a:solidFill>
                <a:latin typeface="source-serif-pro"/>
              </a:rPr>
              <a:t>“</a:t>
            </a:r>
            <a:r>
              <a:rPr lang="en-US" dirty="0">
                <a:solidFill>
                  <a:srgbClr val="242424"/>
                </a:solidFill>
                <a:latin typeface="source-serif-pro"/>
              </a:rPr>
              <a:t> will be covered latter on.</a:t>
            </a:r>
          </a:p>
          <a:p>
            <a:pPr algn="just"/>
            <a:endParaRPr lang="de-DE" b="1" dirty="0">
              <a:solidFill>
                <a:srgbClr val="242424"/>
              </a:solidFill>
              <a:latin typeface="sohne"/>
            </a:endParaRPr>
          </a:p>
          <a:p>
            <a:pPr lvl="1" algn="just"/>
            <a:r>
              <a:rPr lang="de-DE" sz="2400" b="1" dirty="0">
                <a:solidFill>
                  <a:srgbClr val="242424"/>
                </a:solidFill>
                <a:latin typeface="sohne"/>
              </a:rPr>
              <a:t>2. Recall / </a:t>
            </a:r>
            <a:r>
              <a:rPr lang="de-DE" sz="2400" b="1" dirty="0" err="1">
                <a:solidFill>
                  <a:srgbClr val="242424"/>
                </a:solidFill>
                <a:latin typeface="sohne"/>
              </a:rPr>
              <a:t>Sensitivity</a:t>
            </a:r>
            <a:endParaRPr lang="de-DE" sz="2400" b="1" dirty="0">
              <a:solidFill>
                <a:srgbClr val="242424"/>
              </a:solidFill>
              <a:latin typeface="sohne"/>
            </a:endParaRPr>
          </a:p>
          <a:p>
            <a:pPr lvl="1" algn="just"/>
            <a:r>
              <a:rPr lang="de-DE" sz="2400" b="1" dirty="0">
                <a:solidFill>
                  <a:srgbClr val="242424"/>
                </a:solidFill>
                <a:latin typeface="sohne"/>
              </a:rPr>
              <a:t>3. Precision</a:t>
            </a:r>
          </a:p>
          <a:p>
            <a:pPr lvl="1" algn="just"/>
            <a:r>
              <a:rPr lang="de-DE" sz="2400" b="1" dirty="0">
                <a:solidFill>
                  <a:srgbClr val="242424"/>
                </a:solidFill>
                <a:latin typeface="sohne"/>
              </a:rPr>
              <a:t>4. F1 Score</a:t>
            </a:r>
          </a:p>
          <a:p>
            <a:pPr algn="just"/>
            <a:endParaRPr lang="de-DE" b="1" i="0" dirty="0">
              <a:solidFill>
                <a:srgbClr val="242424"/>
              </a:solidFill>
              <a:effectLst/>
              <a:latin typeface="sohne"/>
            </a:endParaRPr>
          </a:p>
          <a:p>
            <a:pPr algn="just"/>
            <a:endParaRPr lang="de-DE" b="1" dirty="0">
              <a:solidFill>
                <a:srgbClr val="242424"/>
              </a:solidFill>
              <a:latin typeface="sohne"/>
            </a:endParaRPr>
          </a:p>
        </p:txBody>
      </p:sp>
    </p:spTree>
    <p:extLst>
      <p:ext uri="{BB962C8B-B14F-4D97-AF65-F5344CB8AC3E}">
        <p14:creationId xmlns:p14="http://schemas.microsoft.com/office/powerpoint/2010/main" val="4012774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ch Newsletter by Slidesgo">
  <a:themeElements>
    <a:clrScheme name="Simple Light">
      <a:dk1>
        <a:srgbClr val="FFFFFF"/>
      </a:dk1>
      <a:lt1>
        <a:srgbClr val="0A3455"/>
      </a:lt1>
      <a:dk2>
        <a:srgbClr val="6EBDC4"/>
      </a:dk2>
      <a:lt2>
        <a:srgbClr val="416D90"/>
      </a:lt2>
      <a:accent1>
        <a:srgbClr val="B4EBF0"/>
      </a:accent1>
      <a:accent2>
        <a:srgbClr val="7CC5CC"/>
      </a:accent2>
      <a:accent3>
        <a:srgbClr val="61A6B5"/>
      </a:accent3>
      <a:accent4>
        <a:srgbClr val="548FA6"/>
      </a:accent4>
      <a:accent5>
        <a:srgbClr val="2E5F80"/>
      </a:accent5>
      <a:accent6>
        <a:srgbClr val="174366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788</Words>
  <Application>Microsoft Office PowerPoint</Application>
  <PresentationFormat>Bildschirmpräsentation (4:3)</PresentationFormat>
  <Paragraphs>96</Paragraphs>
  <Slides>11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11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11</vt:i4>
      </vt:variant>
    </vt:vector>
  </HeadingPairs>
  <TitlesOfParts>
    <vt:vector size="24" baseType="lpstr">
      <vt:lpstr>Arial</vt:lpstr>
      <vt:lpstr>Arial MT</vt:lpstr>
      <vt:lpstr>Calibri</vt:lpstr>
      <vt:lpstr>Exo 2</vt:lpstr>
      <vt:lpstr>Fira Sans Extra Condensed Medium</vt:lpstr>
      <vt:lpstr>Georgia</vt:lpstr>
      <vt:lpstr>Roboto Condensed</vt:lpstr>
      <vt:lpstr>Roboto Condensed Light</vt:lpstr>
      <vt:lpstr>sohne</vt:lpstr>
      <vt:lpstr>source-serif-pro</vt:lpstr>
      <vt:lpstr>Wingdings</vt:lpstr>
      <vt:lpstr>Office Theme</vt:lpstr>
      <vt:lpstr>Tech Newsletter by Slidesgo</vt:lpstr>
      <vt:lpstr>Confusion Matrix </vt:lpstr>
      <vt:lpstr>Course Overview:</vt:lpstr>
      <vt:lpstr>CM for Spam Filter</vt:lpstr>
      <vt:lpstr>CM for Spam Filter</vt:lpstr>
      <vt:lpstr>Goal-based Agents versus Cost-based Agents - cont</vt:lpstr>
      <vt:lpstr>Confusion Matrix for Spam Filter</vt:lpstr>
      <vt:lpstr>Reshape the Confusion Matrix</vt:lpstr>
      <vt:lpstr>Confusion Matrix for Corona Test Kit</vt:lpstr>
      <vt:lpstr>Confusion Matrix for Corona Test Kit</vt:lpstr>
      <vt:lpstr>Evaluation Metrics</vt:lpstr>
      <vt:lpstr>Evaluation Metrics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Amr.Ghoneim</dc:creator>
  <cp:lastModifiedBy>Hamed, Osama</cp:lastModifiedBy>
  <cp:revision>30</cp:revision>
  <dcterms:created xsi:type="dcterms:W3CDTF">2023-10-15T08:43:41Z</dcterms:created>
  <dcterms:modified xsi:type="dcterms:W3CDTF">2025-11-25T07:57:52Z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2020-11-09T00:00:00Z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2023-10-15T00:00:00Z</vt:filetime>
  </property>
</Properties>
</file>