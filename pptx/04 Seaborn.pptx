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4"/>
  </p:notesMasterIdLst>
  <p:sldIdLst>
    <p:sldId id="256" r:id="rId2"/>
    <p:sldId id="31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311" r:id="rId33"/>
  </p:sldIdLst>
  <p:sldSz cx="9144000" cy="5143500" type="screen16x9"/>
  <p:notesSz cx="6858000" cy="9144000"/>
  <p:embeddedFontLst>
    <p:embeddedFont>
      <p:font typeface="Exo 2" panose="020B0604020202020204" charset="0"/>
      <p:regular r:id="rId35"/>
      <p:bold r:id="rId36"/>
      <p:italic r:id="rId37"/>
      <p:boldItalic r:id="rId38"/>
    </p:embeddedFont>
    <p:embeddedFont>
      <p:font typeface="Fira Sans Extra Condensed Medium" panose="020B0604020202020204" charset="0"/>
      <p:regular r:id="rId39"/>
      <p:bold r:id="rId40"/>
      <p:italic r:id="rId41"/>
      <p:boldItalic r:id="rId42"/>
    </p:embeddedFont>
    <p:embeddedFont>
      <p:font typeface="Roboto Condensed" panose="02000000000000000000" pitchFamily="2" charset="0"/>
      <p:regular r:id="rId43"/>
      <p:bold r:id="rId44"/>
      <p:italic r:id="rId45"/>
      <p:boldItalic r:id="rId46"/>
    </p:embeddedFont>
    <p:embeddedFont>
      <p:font typeface="Roboto Condensed Light" panose="02000000000000000000" pitchFamily="2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4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7D625C-7C52-47B6-A632-3CCF031A635B}">
  <a:tblStyle styleId="{AC7D625C-7C52-47B6-A632-3CCF031A635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200" y="102"/>
      </p:cViewPr>
      <p:guideLst>
        <p:guide orient="horz" pos="154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font" Target="fonts/font16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font" Target="fonts/font14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40422e07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40422e07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d24c799c7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d24c799c7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58d3b44f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58d3b44f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e946baac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e946baac8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e946baac8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e946baac8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e946baac8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e946baac8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e946baac85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e946baac85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e946baac85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e946baac85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e6e71cbe6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e6e71cbe6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e6e71cbe6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e6e71cbe6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e6e71cbe65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e6e71cbe65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e6e71cbe65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e6e71cbe65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58d3b44f08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58d3b44f08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e6e71cbe65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e6e71cbe65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58d3b44f08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58d3b44f08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e6e71cbe65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e6e71cbe65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e6e71cbe65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e6e71cbe65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e6e71cbe65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e6e71cbe65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e71cbe6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e71cbe6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e6e71cbe65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e6e71cbe65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58d3b44f08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58d3b44f08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ed24c799c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ed24c799c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ed24c799c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ed24c799c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ed24c799c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ed24c799c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ed24c799c7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ed24c799c7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ed24c799c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ed24c799c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58d3b44f08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58d3b44f08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ed24c799c7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ed24c799c7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ed2bb9ade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ed2bb9ade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18000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CUSTOM_30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2260329" y="3476054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7" r:id="rId5"/>
    <p:sldLayoutId id="2147483661" r:id="rId6"/>
    <p:sldLayoutId id="2147483664" r:id="rId7"/>
    <p:sldLayoutId id="2147483670" r:id="rId8"/>
    <p:sldLayoutId id="214748367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Machine Learning</a:t>
            </a:r>
            <a:endParaRPr dirty="0"/>
          </a:p>
        </p:txBody>
      </p:sp>
      <p:sp>
        <p:nvSpPr>
          <p:cNvPr id="141" name="Google Shape;141;p30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04 - Seaborn</a:t>
            </a:r>
            <a:endParaRPr/>
          </a:p>
        </p:txBody>
      </p:sp>
      <p:cxnSp>
        <p:nvCxnSpPr>
          <p:cNvPr id="142" name="Google Shape;142;p30"/>
          <p:cNvCxnSpPr/>
          <p:nvPr/>
        </p:nvCxnSpPr>
        <p:spPr>
          <a:xfrm>
            <a:off x="7145675" y="3176000"/>
            <a:ext cx="2086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2.5 - KNN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48" name="Google Shape;148;p31"/>
          <p:cNvSpPr txBox="1">
            <a:spLocks noGrp="1"/>
          </p:cNvSpPr>
          <p:nvPr>
            <p:ph type="ctrTitle" idx="2"/>
          </p:nvPr>
        </p:nvSpPr>
        <p:spPr>
          <a:xfrm>
            <a:off x="390296" y="4354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 PLOTS</a:t>
            </a:r>
            <a:endParaRPr/>
          </a:p>
        </p:txBody>
      </p:sp>
      <p:sp>
        <p:nvSpPr>
          <p:cNvPr id="149" name="Google Shape;149;p31"/>
          <p:cNvSpPr txBox="1">
            <a:spLocks noGrp="1"/>
          </p:cNvSpPr>
          <p:nvPr>
            <p:ph type="ctrTitle" idx="9"/>
          </p:nvPr>
        </p:nvSpPr>
        <p:spPr>
          <a:xfrm>
            <a:off x="390296" y="1402117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MATRIX PLOTS</a:t>
            </a:r>
            <a:endParaRPr/>
          </a:p>
        </p:txBody>
      </p:sp>
      <p:sp>
        <p:nvSpPr>
          <p:cNvPr id="150" name="Google Shape;150;p31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51" name="Google Shape;151;p31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2" name="Google Shape;152;p31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53" name="Google Shape;153;p31"/>
          <p:cNvCxnSpPr/>
          <p:nvPr/>
        </p:nvCxnSpPr>
        <p:spPr>
          <a:xfrm>
            <a:off x="3297225" y="0"/>
            <a:ext cx="0" cy="2393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31"/>
          <p:cNvCxnSpPr/>
          <p:nvPr/>
        </p:nvCxnSpPr>
        <p:spPr>
          <a:xfrm>
            <a:off x="5861950" y="3131400"/>
            <a:ext cx="0" cy="203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31"/>
          <p:cNvSpPr txBox="1">
            <a:spLocks noGrp="1"/>
          </p:cNvSpPr>
          <p:nvPr>
            <p:ph type="title" idx="6"/>
          </p:nvPr>
        </p:nvSpPr>
        <p:spPr>
          <a:xfrm>
            <a:off x="5922008" y="313141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56" name="Google Shape;156;p31"/>
          <p:cNvSpPr txBox="1">
            <a:spLocks noGrp="1"/>
          </p:cNvSpPr>
          <p:nvPr>
            <p:ph type="title" idx="7"/>
          </p:nvPr>
        </p:nvSpPr>
        <p:spPr>
          <a:xfrm>
            <a:off x="5922008" y="4151111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57" name="Google Shape;157;p31"/>
          <p:cNvSpPr txBox="1">
            <a:spLocks noGrp="1"/>
          </p:cNvSpPr>
          <p:nvPr>
            <p:ph type="ctrTitle" idx="14"/>
          </p:nvPr>
        </p:nvSpPr>
        <p:spPr>
          <a:xfrm>
            <a:off x="358296" y="2368811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PLOTS</a:t>
            </a:r>
            <a:endParaRPr/>
          </a:p>
        </p:txBody>
      </p:sp>
      <p:sp>
        <p:nvSpPr>
          <p:cNvPr id="158" name="Google Shape;158;p31"/>
          <p:cNvSpPr txBox="1">
            <a:spLocks noGrp="1"/>
          </p:cNvSpPr>
          <p:nvPr>
            <p:ph type="ctrTitle" idx="16"/>
          </p:nvPr>
        </p:nvSpPr>
        <p:spPr>
          <a:xfrm>
            <a:off x="6811558" y="313140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GRIDS AND STYLE</a:t>
            </a:r>
            <a:endParaRPr/>
          </a:p>
        </p:txBody>
      </p:sp>
      <p:sp>
        <p:nvSpPr>
          <p:cNvPr id="159" name="Google Shape;159;p31"/>
          <p:cNvSpPr txBox="1">
            <a:spLocks noGrp="1"/>
          </p:cNvSpPr>
          <p:nvPr>
            <p:ph type="ctrTitle" idx="18"/>
          </p:nvPr>
        </p:nvSpPr>
        <p:spPr>
          <a:xfrm>
            <a:off x="6811558" y="4151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 PLOTS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2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module for data 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VISUALIZATION, </a:t>
            </a:r>
            <a:r>
              <a:rPr lang="en" dirty="0"/>
              <a:t>not 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COMPREHENSION or MODIFICATION.</a:t>
            </a:r>
            <a:endParaRPr b="1" dirty="0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Seaborn will put your data on graphs - good for beautifying your reports or finding out rudimentary trends.</a:t>
            </a:r>
            <a:endParaRPr dirty="0"/>
          </a:p>
        </p:txBody>
      </p:sp>
      <p:sp>
        <p:nvSpPr>
          <p:cNvPr id="165" name="Google Shape;165;p3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Seaborn?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3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 PLOTS</a:t>
            </a:r>
            <a:endParaRPr/>
          </a:p>
        </p:txBody>
      </p:sp>
      <p:sp>
        <p:nvSpPr>
          <p:cNvPr id="171" name="Google Shape;171;p33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172" name="Google Shape;172;p33"/>
          <p:cNvCxnSpPr/>
          <p:nvPr/>
        </p:nvCxnSpPr>
        <p:spPr>
          <a:xfrm>
            <a:off x="0" y="4028275"/>
            <a:ext cx="156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They show the distribution of data across certain intervals (like a histogram or a bar graph)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Source: Towards Data Science</a:t>
            </a:r>
            <a:endParaRPr/>
          </a:p>
        </p:txBody>
      </p:sp>
      <p:sp>
        <p:nvSpPr>
          <p:cNvPr id="178" name="Google Shape;178;p3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DISTRIBUTION PLOTS?</a:t>
            </a:r>
            <a:endParaRPr/>
          </a:p>
        </p:txBody>
      </p:sp>
      <p:pic>
        <p:nvPicPr>
          <p:cNvPr id="179" name="Google Shape;179;p34"/>
          <p:cNvPicPr preferRelativeResize="0"/>
          <p:nvPr/>
        </p:nvPicPr>
        <p:blipFill rotWithShape="1">
          <a:blip r:embed="rId3">
            <a:alphaModFix/>
          </a:blip>
          <a:srcRect r="7235"/>
          <a:stretch/>
        </p:blipFill>
        <p:spPr>
          <a:xfrm>
            <a:off x="3270300" y="2687900"/>
            <a:ext cx="2679950" cy="202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sns.distplot(data) - shows you the distribution of values in a certain series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You can remove the KDE line and change the amount of divisions with kde=False or bins=num.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185" name="Google Shape;185;p35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sns.distplot()</a:t>
            </a:r>
            <a:endParaRPr/>
          </a:p>
        </p:txBody>
      </p:sp>
      <p:pic>
        <p:nvPicPr>
          <p:cNvPr id="186" name="Google Shape;18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4850" y="2946700"/>
            <a:ext cx="2888950" cy="1770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>
            <a:spLocks noGrp="1"/>
          </p:cNvSpPr>
          <p:nvPr>
            <p:ph type="body" idx="1"/>
          </p:nvPr>
        </p:nvSpPr>
        <p:spPr>
          <a:xfrm>
            <a:off x="210725" y="2177925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sns.scatterplot(data, x, y) - creates a scatter plot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is a DataFrame, while x is the name of one column/row,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and y is the name of another column.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When writing x and y inputs make sure to say x=’column name’,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 = ‘column name’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2" name="Google Shape;192;p3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sns.scatterplot()</a:t>
            </a:r>
            <a:endParaRPr/>
          </a:p>
        </p:txBody>
      </p:sp>
      <p:pic>
        <p:nvPicPr>
          <p:cNvPr id="193" name="Google Shape;193;p36" descr="seaborn.scatter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6950" y="1150200"/>
            <a:ext cx="4124325" cy="3182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7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sns.jointplot (x=, y=, data=dataset, kind=)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Uses two datasets to create a graph that uses dots or hues to show the relationship and frequency of two concurrent values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kind can mean anything from “scatter” to “hist” - it’s the type of plot</a:t>
            </a:r>
            <a:endParaRPr/>
          </a:p>
        </p:txBody>
      </p:sp>
      <p:sp>
        <p:nvSpPr>
          <p:cNvPr id="199" name="Google Shape;199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sns.jointplot()</a:t>
            </a:r>
            <a:endParaRPr/>
          </a:p>
        </p:txBody>
      </p:sp>
      <p:pic>
        <p:nvPicPr>
          <p:cNvPr id="200" name="Google Shape;20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7675" y="1373901"/>
            <a:ext cx="3230425" cy="267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Syntax: sns.lineplot(x=, y=, data)  </a:t>
            </a:r>
            <a:endParaRPr/>
          </a:p>
        </p:txBody>
      </p:sp>
      <p:sp>
        <p:nvSpPr>
          <p:cNvPr id="206" name="Google Shape;206;p3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sns.lineplot()</a:t>
            </a:r>
            <a:endParaRPr/>
          </a:p>
        </p:txBody>
      </p:sp>
      <p:pic>
        <p:nvPicPr>
          <p:cNvPr id="207" name="Google Shape;207;p38" descr="seaborn.line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0500" y="1980144"/>
            <a:ext cx="2760875" cy="205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sns.histplot(data)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histogram - similar to matplotlib’s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plt.hist()</a:t>
            </a:r>
            <a:endParaRPr/>
          </a:p>
        </p:txBody>
      </p:sp>
      <p:sp>
        <p:nvSpPr>
          <p:cNvPr id="213" name="Google Shape;213;p3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sns.histplot()</a:t>
            </a:r>
            <a:endParaRPr/>
          </a:p>
        </p:txBody>
      </p:sp>
      <p:pic>
        <p:nvPicPr>
          <p:cNvPr id="214" name="Google Shape;214;p39" descr="seaborn.hist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3950" y="1039238"/>
            <a:ext cx="4857750" cy="3667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sns.pairplot(data)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correlative graphs for all data in the datasets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column has its own entry in the matrix - and the diagonal holds the graphs with the same column relations</a:t>
            </a:r>
            <a:endParaRPr/>
          </a:p>
        </p:txBody>
      </p:sp>
      <p:sp>
        <p:nvSpPr>
          <p:cNvPr id="220" name="Google Shape;220;p4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sns.pairplot()</a:t>
            </a:r>
            <a:endParaRPr/>
          </a:p>
        </p:txBody>
      </p:sp>
      <p:pic>
        <p:nvPicPr>
          <p:cNvPr id="221" name="Google Shape;221;p40" descr="seaborn.pairplot — seaborn 0.11.1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3725" y="1159675"/>
            <a:ext cx="3796226" cy="379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sns.rugplot(data=, x=)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density indicator plot at the bottom of the graph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41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sns.rugplot()</a:t>
            </a:r>
            <a:endParaRPr/>
          </a:p>
        </p:txBody>
      </p:sp>
      <p:pic>
        <p:nvPicPr>
          <p:cNvPr id="228" name="Google Shape;228;p41"/>
          <p:cNvPicPr preferRelativeResize="0"/>
          <p:nvPr/>
        </p:nvPicPr>
        <p:blipFill rotWithShape="1">
          <a:blip r:embed="rId3">
            <a:alphaModFix/>
          </a:blip>
          <a:srcRect r="23570"/>
          <a:stretch/>
        </p:blipFill>
        <p:spPr>
          <a:xfrm>
            <a:off x="4429300" y="987825"/>
            <a:ext cx="4238325" cy="355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sns.kdeplot(data=, x=)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plot with the sum of all kernel density estimation plots (value of probability density)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4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sns.kdeplot()</a:t>
            </a:r>
            <a:endParaRPr/>
          </a:p>
        </p:txBody>
      </p:sp>
      <p:pic>
        <p:nvPicPr>
          <p:cNvPr id="235" name="Google Shape;235;p42"/>
          <p:cNvPicPr preferRelativeResize="0"/>
          <p:nvPr/>
        </p:nvPicPr>
        <p:blipFill rotWithShape="1">
          <a:blip r:embed="rId3">
            <a:alphaModFix/>
          </a:blip>
          <a:srcRect r="23570"/>
          <a:stretch/>
        </p:blipFill>
        <p:spPr>
          <a:xfrm>
            <a:off x="3909050" y="2749863"/>
            <a:ext cx="2500600" cy="2096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09050" y="899585"/>
            <a:ext cx="2500600" cy="1850277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42"/>
          <p:cNvSpPr txBox="1"/>
          <p:nvPr/>
        </p:nvSpPr>
        <p:spPr>
          <a:xfrm>
            <a:off x="6663325" y="1081800"/>
            <a:ext cx="20376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Turns this (representation of KDE of all points)</a:t>
            </a: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… into this (sum of all those graphs)</a:t>
            </a:r>
            <a:endParaRPr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MATRIX PLOTS</a:t>
            </a:r>
            <a:endParaRPr/>
          </a:p>
        </p:txBody>
      </p:sp>
      <p:sp>
        <p:nvSpPr>
          <p:cNvPr id="243" name="Google Shape;243;p43"/>
          <p:cNvSpPr txBox="1">
            <a:spLocks noGrp="1"/>
          </p:cNvSpPr>
          <p:nvPr>
            <p:ph type="title" idx="2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244" name="Google Shape;244;p43"/>
          <p:cNvCxnSpPr/>
          <p:nvPr/>
        </p:nvCxnSpPr>
        <p:spPr>
          <a:xfrm>
            <a:off x="7578325" y="4028400"/>
            <a:ext cx="1565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>
            <a:spLocks noGrp="1"/>
          </p:cNvSpPr>
          <p:nvPr>
            <p:ph type="body" idx="1"/>
          </p:nvPr>
        </p:nvSpPr>
        <p:spPr>
          <a:xfrm>
            <a:off x="668600" y="117245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sns.heatmap(data) 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Visualizes data with different gradients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Data Tips: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For ratio-based heatmaps, use data.corr()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For value based heatmaps with only using two columns in a dataframe, create a pivot table: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Syntax: df.pivot_table(values=, index=, column=)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4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sns.heatmap()</a:t>
            </a:r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01150" y="1390650"/>
            <a:ext cx="4191000" cy="23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PLOTS</a:t>
            </a:r>
            <a:endParaRPr/>
          </a:p>
        </p:txBody>
      </p:sp>
      <p:sp>
        <p:nvSpPr>
          <p:cNvPr id="257" name="Google Shape;257;p45"/>
          <p:cNvSpPr txBox="1">
            <a:spLocks noGrp="1"/>
          </p:cNvSpPr>
          <p:nvPr>
            <p:ph type="title" idx="2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258" name="Google Shape;258;p45"/>
          <p:cNvCxnSpPr/>
          <p:nvPr/>
        </p:nvCxnSpPr>
        <p:spPr>
          <a:xfrm>
            <a:off x="7626825" y="2744700"/>
            <a:ext cx="1560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sns.barplot(x=[column name], y=[column name], data=[dataframe name]) -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aggregates data based of the mean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4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sns.barplot()</a:t>
            </a:r>
            <a:endParaRPr/>
          </a:p>
        </p:txBody>
      </p:sp>
      <p:pic>
        <p:nvPicPr>
          <p:cNvPr id="265" name="Google Shape;26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2525" y="1630650"/>
            <a:ext cx="3486150" cy="230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sns.countplot(x=[column name], data=[dataframe name]) -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Similar to bar plot - but gives value count data instead of aggregation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4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sns.countplot()</a:t>
            </a:r>
            <a:endParaRPr/>
          </a:p>
        </p:txBody>
      </p:sp>
      <p:pic>
        <p:nvPicPr>
          <p:cNvPr id="272" name="Google Shape;272;p47"/>
          <p:cNvPicPr preferRelativeResize="0"/>
          <p:nvPr/>
        </p:nvPicPr>
        <p:blipFill rotWithShape="1">
          <a:blip r:embed="rId3">
            <a:alphaModFix/>
          </a:blip>
          <a:srcRect r="31313"/>
          <a:stretch/>
        </p:blipFill>
        <p:spPr>
          <a:xfrm>
            <a:off x="4592525" y="1544350"/>
            <a:ext cx="3663625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sns.boxplot(x=[column name], y=[column name], data=[dataframe name])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Creates a box-and-whisker plot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Useful tip - you can do entire dataframes instead of x and y specifications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4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sns.boxplot()</a:t>
            </a:r>
            <a:endParaRPr/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3">
            <a:alphaModFix/>
          </a:blip>
          <a:srcRect r="17837"/>
          <a:stretch/>
        </p:blipFill>
        <p:spPr>
          <a:xfrm>
            <a:off x="4247400" y="1553600"/>
            <a:ext cx="3756550" cy="2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Syntax: sns.violinplot(x=[column name], y=[column name], data=[dataframe name]) -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Graph that uses thickness to represent occurrences and has a KDE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4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sns.violinplot()</a:t>
            </a:r>
            <a:endParaRPr/>
          </a:p>
        </p:txBody>
      </p:sp>
      <p:pic>
        <p:nvPicPr>
          <p:cNvPr id="286" name="Google Shape;28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54563" y="1609513"/>
            <a:ext cx="3495675" cy="242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809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Syntax: sns.stripplot(x=[column name], y=columnname, data=[dataframe name]) 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creates a small strip of dots for visualisation</a:t>
            </a:r>
            <a:endParaRPr dirty="0"/>
          </a:p>
        </p:txBody>
      </p:sp>
      <p:sp>
        <p:nvSpPr>
          <p:cNvPr id="292" name="Google Shape;292;p5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sns.stripplot()</a:t>
            </a:r>
            <a:endParaRPr/>
          </a:p>
        </p:txBody>
      </p:sp>
      <p:pic>
        <p:nvPicPr>
          <p:cNvPr id="293" name="Google Shape;293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9400" y="1102975"/>
            <a:ext cx="5195008" cy="3539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1"/>
          <p:cNvSpPr txBox="1">
            <a:spLocks noGrp="1"/>
          </p:cNvSpPr>
          <p:nvPr>
            <p:ph type="ctrTitle"/>
          </p:nvPr>
        </p:nvSpPr>
        <p:spPr>
          <a:xfrm flipH="1">
            <a:off x="118000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GRIDS AND STYLE</a:t>
            </a:r>
            <a:endParaRPr/>
          </a:p>
        </p:txBody>
      </p:sp>
      <p:sp>
        <p:nvSpPr>
          <p:cNvPr id="299" name="Google Shape;299;p51"/>
          <p:cNvSpPr txBox="1">
            <a:spLocks noGrp="1"/>
          </p:cNvSpPr>
          <p:nvPr>
            <p:ph type="title" idx="2"/>
          </p:nvPr>
        </p:nvSpPr>
        <p:spPr>
          <a:xfrm flipH="1">
            <a:off x="118000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cxnSp>
        <p:nvCxnSpPr>
          <p:cNvPr id="300" name="Google Shape;300;p51"/>
          <p:cNvCxnSpPr/>
          <p:nvPr/>
        </p:nvCxnSpPr>
        <p:spPr>
          <a:xfrm>
            <a:off x="0" y="2737950"/>
            <a:ext cx="1676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2"/>
          <p:cNvSpPr txBox="1">
            <a:spLocks noGrp="1"/>
          </p:cNvSpPr>
          <p:nvPr>
            <p:ph type="body" idx="1"/>
          </p:nvPr>
        </p:nvSpPr>
        <p:spPr>
          <a:xfrm>
            <a:off x="1917900" y="1022475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Grid type plots: they overlay different types of graphs using different columns of a dataframe.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It uses the same plots as other sections but just formats them.</a:t>
            </a:r>
            <a:endParaRPr/>
          </a:p>
        </p:txBody>
      </p:sp>
      <p:sp>
        <p:nvSpPr>
          <p:cNvPr id="306" name="Google Shape;306;p5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 overview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53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sns.PairGrid(dataframe)</a:t>
            </a:r>
            <a:endParaRPr b="1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map: [variable name]: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sns.PairGrid(dataframe)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[variable name].map(sns.scatterplot)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5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sns.PairGrid()</a:t>
            </a:r>
            <a:endParaRPr/>
          </a:p>
        </p:txBody>
      </p:sp>
      <p:pic>
        <p:nvPicPr>
          <p:cNvPr id="313" name="Google Shape;313;p53" descr="Seaborn - Pair Gri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1775" y="875875"/>
            <a:ext cx="5000625" cy="41671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33168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sns.JointGrid(x, y, data)</a:t>
            </a:r>
            <a:r>
              <a:rPr lang="en"/>
              <a:t> - use the same variable assignment and then input first the side plot and then the middle plot (like jointplot)</a:t>
            </a:r>
            <a:endParaRPr/>
          </a:p>
        </p:txBody>
      </p:sp>
      <p:sp>
        <p:nvSpPr>
          <p:cNvPr id="319" name="Google Shape;319;p5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sns.JointGrid()</a:t>
            </a:r>
            <a:endParaRPr/>
          </a:p>
        </p:txBody>
      </p:sp>
      <p:pic>
        <p:nvPicPr>
          <p:cNvPr id="320" name="Google Shape;320;p54" descr="seaborn.JointGrid — seaborn 0.11.2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8400" y="1405650"/>
            <a:ext cx="3184851" cy="3203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5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29928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sns.FacetGrid(dataframe, col=, row=)</a:t>
            </a:r>
            <a:r>
              <a:rPr lang="en"/>
              <a:t> - use the map function along with ANOTHER column name to create a graph</a:t>
            </a:r>
            <a:endParaRPr/>
          </a:p>
        </p:txBody>
      </p:sp>
      <p:sp>
        <p:nvSpPr>
          <p:cNvPr id="326" name="Google Shape;326;p55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sns.FacetGrid()</a:t>
            </a:r>
            <a:endParaRPr/>
          </a:p>
        </p:txBody>
      </p:sp>
      <p:pic>
        <p:nvPicPr>
          <p:cNvPr id="327" name="Google Shape;327;p55" descr="seaborn.FacetGrid — seaborn 0.11.2 documentation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9175" y="1586075"/>
            <a:ext cx="2809775" cy="280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6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sns.set_style(“white”)</a:t>
            </a:r>
            <a:r>
              <a:rPr lang="en"/>
              <a:t> - more examples include “ticks”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sns.despine() </a:t>
            </a:r>
            <a:r>
              <a:rPr lang="en"/>
              <a:t>- removes lines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Size: plt.figure(</a:t>
            </a: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figsize</a:t>
            </a:r>
            <a:r>
              <a:rPr lang="en"/>
              <a:t>(tuple))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sns.set_context(</a:t>
            </a: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scale</a:t>
            </a:r>
            <a:r>
              <a:rPr lang="en"/>
              <a:t>, type, etc.) - unconventional terms that usually don’t have their own commands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Note: </a:t>
            </a:r>
            <a:r>
              <a:rPr lang="en"/>
              <a:t>Style is not something that can be taught in detail! The internet is your best friend for finding specific miniscule style details!</a:t>
            </a:r>
            <a:endParaRPr/>
          </a:p>
        </p:txBody>
      </p:sp>
      <p:sp>
        <p:nvSpPr>
          <p:cNvPr id="333" name="Google Shape;333;p5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quick example of style: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57"/>
          <p:cNvSpPr txBox="1">
            <a:spLocks noGrp="1"/>
          </p:cNvSpPr>
          <p:nvPr>
            <p:ph type="ctrTitle"/>
          </p:nvPr>
        </p:nvSpPr>
        <p:spPr>
          <a:xfrm flipH="1">
            <a:off x="2260329" y="219380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REGRESSION PLOTS</a:t>
            </a:r>
            <a:endParaRPr/>
          </a:p>
        </p:txBody>
      </p:sp>
      <p:sp>
        <p:nvSpPr>
          <p:cNvPr id="339" name="Google Shape;339;p57"/>
          <p:cNvSpPr txBox="1">
            <a:spLocks noGrp="1"/>
          </p:cNvSpPr>
          <p:nvPr>
            <p:ph type="title" idx="2"/>
          </p:nvPr>
        </p:nvSpPr>
        <p:spPr>
          <a:xfrm flipH="1">
            <a:off x="2260329" y="188198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cxnSp>
        <p:nvCxnSpPr>
          <p:cNvPr id="340" name="Google Shape;340;p57"/>
          <p:cNvCxnSpPr/>
          <p:nvPr/>
        </p:nvCxnSpPr>
        <p:spPr>
          <a:xfrm>
            <a:off x="2162075" y="-35700"/>
            <a:ext cx="0" cy="2382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8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Regression plots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" dirty="0"/>
              <a:t>are plots that emphasize and visualize </a:t>
            </a:r>
            <a:r>
              <a:rPr lang="en" b="1" dirty="0">
                <a:latin typeface="Roboto Condensed"/>
                <a:ea typeface="Roboto Condensed"/>
                <a:cs typeface="Roboto Condensed"/>
                <a:sym typeface="Roboto Condensed"/>
              </a:rPr>
              <a:t>PATTERNS </a:t>
            </a:r>
            <a:r>
              <a:rPr lang="en" dirty="0"/>
              <a:t>in datasets. It is quite useful in an application like machine learning, where you use networks and code to find patterns.</a:t>
            </a:r>
            <a:endParaRPr dirty="0"/>
          </a:p>
        </p:txBody>
      </p:sp>
      <p:sp>
        <p:nvSpPr>
          <p:cNvPr id="346" name="Google Shape;346;p5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 overview: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36408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sns.lmplot(x, y, data)</a:t>
            </a:r>
            <a:r>
              <a:rPr lang="en"/>
              <a:t> - creates a regression plot with a trendline that is used to determine the position of future variables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352" name="Google Shape;352;p5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sns.lmplot()</a:t>
            </a:r>
            <a:endParaRPr/>
          </a:p>
        </p:txBody>
      </p:sp>
      <p:pic>
        <p:nvPicPr>
          <p:cNvPr id="353" name="Google Shape;353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37000" y="1250000"/>
            <a:ext cx="3495175" cy="347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851CFA8-014C-C0FF-ECF4-6BF217012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0" indent="0">
              <a:buNone/>
            </a:pPr>
            <a:r>
              <a:rPr lang="de-DE" sz="2400" b="1" dirty="0" err="1">
                <a:latin typeface="Exo 2"/>
                <a:sym typeface="Exo 2"/>
              </a:rPr>
              <a:t>Thank</a:t>
            </a:r>
            <a:r>
              <a:rPr lang="de-DE" sz="2400" b="1" dirty="0">
                <a:latin typeface="Exo 2"/>
                <a:sym typeface="Exo 2"/>
              </a:rPr>
              <a:t> </a:t>
            </a:r>
            <a:r>
              <a:rPr lang="de-DE" sz="2400" b="1" dirty="0" err="1">
                <a:latin typeface="Exo 2"/>
                <a:sym typeface="Exo 2"/>
              </a:rPr>
              <a:t>you</a:t>
            </a:r>
            <a:r>
              <a:rPr lang="de-DE" sz="2400" b="1" dirty="0">
                <a:latin typeface="Exo 2"/>
              </a:rPr>
              <a:t>!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DCCB487-E610-B479-4BD5-AEA159E78A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37030537"/>
      </p:ext>
    </p:extLst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1014</Words>
  <Application>Microsoft Office PowerPoint</Application>
  <PresentationFormat>Bildschirmpräsentation (16:9)</PresentationFormat>
  <Paragraphs>137</Paragraphs>
  <Slides>32</Slides>
  <Notes>31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32</vt:i4>
      </vt:variant>
    </vt:vector>
  </HeadingPairs>
  <TitlesOfParts>
    <vt:vector size="38" baseType="lpstr">
      <vt:lpstr>Roboto Condensed</vt:lpstr>
      <vt:lpstr>Roboto Condensed Light</vt:lpstr>
      <vt:lpstr>Fira Sans Extra Condensed Medium</vt:lpstr>
      <vt:lpstr>Exo 2</vt:lpstr>
      <vt:lpstr>Arial</vt:lpstr>
      <vt:lpstr>Tech Newsletter by Slidesgo</vt:lpstr>
      <vt:lpstr>04 - Seaborn</vt:lpstr>
      <vt:lpstr>Course Overview:</vt:lpstr>
      <vt:lpstr>TABLE OF CONTENTS</vt:lpstr>
      <vt:lpstr>What is Seaborn?</vt:lpstr>
      <vt:lpstr>DISTRIBUTION PLOTS</vt:lpstr>
      <vt:lpstr>What are DISTRIBUTION PLOTS?</vt:lpstr>
      <vt:lpstr>sns.distplot()</vt:lpstr>
      <vt:lpstr>sns.scatterplot()</vt:lpstr>
      <vt:lpstr>sns.jointplot()</vt:lpstr>
      <vt:lpstr>sns.lineplot()</vt:lpstr>
      <vt:lpstr>sns.histplot()</vt:lpstr>
      <vt:lpstr>sns.pairplot()</vt:lpstr>
      <vt:lpstr>sns.rugplot()</vt:lpstr>
      <vt:lpstr>sns.kdeplot()</vt:lpstr>
      <vt:lpstr>MATRIX PLOTS</vt:lpstr>
      <vt:lpstr>sns.heatmap()</vt:lpstr>
      <vt:lpstr>CATEGORICAL PLOTS</vt:lpstr>
      <vt:lpstr>sns.barplot()</vt:lpstr>
      <vt:lpstr>sns.countplot()</vt:lpstr>
      <vt:lpstr>sns.boxplot()</vt:lpstr>
      <vt:lpstr>sns.violinplot()</vt:lpstr>
      <vt:lpstr>sns.stripplot()</vt:lpstr>
      <vt:lpstr>GRIDS AND STYLE</vt:lpstr>
      <vt:lpstr>Quick overview</vt:lpstr>
      <vt:lpstr>sns.PairGrid()</vt:lpstr>
      <vt:lpstr>sns.JointGrid()</vt:lpstr>
      <vt:lpstr>sns.FacetGrid()</vt:lpstr>
      <vt:lpstr>A quick example of style:</vt:lpstr>
      <vt:lpstr>REGRESSION PLOTS</vt:lpstr>
      <vt:lpstr>Quick overview:</vt:lpstr>
      <vt:lpstr>sns.lmplot()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04 - Seaborn</dc:title>
  <cp:lastModifiedBy>Hamed, Osama</cp:lastModifiedBy>
  <cp:revision>7</cp:revision>
  <dcterms:modified xsi:type="dcterms:W3CDTF">2025-10-31T09:41:37Z</dcterms:modified>
</cp:coreProperties>
</file>