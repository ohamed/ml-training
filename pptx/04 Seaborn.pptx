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5"/>
  </p:notesMasterIdLst>
  <p:sldIdLst>
    <p:sldId id="256" r:id="rId2"/>
    <p:sldId id="310" r:id="rId3"/>
    <p:sldId id="257" r:id="rId4"/>
    <p:sldId id="258" r:id="rId5"/>
    <p:sldId id="31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311" r:id="rId34"/>
  </p:sldIdLst>
  <p:sldSz cx="9144000" cy="5143500" type="screen16x9"/>
  <p:notesSz cx="6858000" cy="9144000"/>
  <p:embeddedFontLst>
    <p:embeddedFont>
      <p:font typeface="Exo 2" panose="020B0604020202020204" charset="0"/>
      <p:regular r:id="rId36"/>
      <p:bold r:id="rId37"/>
      <p:italic r:id="rId38"/>
      <p:boldItalic r:id="rId39"/>
    </p:embeddedFont>
    <p:embeddedFont>
      <p:font typeface="Fira Sans Extra Condensed Medium" panose="020B0604020202020204" charset="0"/>
      <p:regular r:id="rId40"/>
      <p:bold r:id="rId41"/>
      <p:italic r:id="rId42"/>
      <p:boldItalic r:id="rId43"/>
    </p:embeddedFont>
    <p:embeddedFont>
      <p:font typeface="Roboto Condensed" panose="02000000000000000000" pitchFamily="2" charset="0"/>
      <p:regular r:id="rId44"/>
      <p:bold r:id="rId45"/>
      <p:italic r:id="rId46"/>
      <p:boldItalic r:id="rId47"/>
    </p:embeddedFont>
    <p:embeddedFont>
      <p:font typeface="Roboto Condensed Light" panose="02000000000000000000" pitchFamily="2" charset="0"/>
      <p:regular r:id="rId48"/>
      <p:bold r:id="rId49"/>
      <p:italic r:id="rId50"/>
      <p:boldItalic r:id="rId51"/>
    </p:embeddedFont>
    <p:embeddedFont>
      <p:font typeface="Roboto Mono" panose="00000009000000000000" pitchFamily="49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4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7D625C-7C52-47B6-A632-3CCF031A635B}">
  <a:tblStyle styleId="{AC7D625C-7C52-47B6-A632-3CCF031A63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1656" y="108"/>
      </p:cViewPr>
      <p:guideLst>
        <p:guide orient="horz" pos="15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422e0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422e07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d24c799c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d24c799c7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e7b0210d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e7b0210d2d_0_12:notes"/>
          <p:cNvSpPr txBox="1">
            <a:spLocks noGrp="1"/>
          </p:cNvSpPr>
          <p:nvPr>
            <p:ph type="body" idx="1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58d3b44f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e946baac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e946baac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e946baac8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e946baac8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e946baac8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e946baac8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946baac8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e946baac8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946baac8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946baac8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e6e71cbe6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e6e71cbe6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e6e71cbe6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e6e71cbe65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e6e71cbe6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e6e71cbe6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e6e71cbe6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e6e71cbe6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8d3b44f08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6e71cbe6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6e71cbe6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e6e71cbe6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e6e71cbe6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6e71cbe6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6e71cbe6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e6e71cbe6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e6e71cbe6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6e71cbe6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6e71cbe6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6e71cbe6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6e71cbe6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8d3b44f0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58d3b44f0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ed24c799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ed24c799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d24c799c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d24c799c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ed24c799c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ed24c799c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ed24c799c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ed24c799c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d24c799c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d24c799c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8d3b44f08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8d3b44f08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d24c799c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d24c799c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ed2bb9ad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ed2bb9ad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062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7" r:id="rId5"/>
    <p:sldLayoutId id="2147483661" r:id="rId6"/>
    <p:sldLayoutId id="2147483664" r:id="rId7"/>
    <p:sldLayoutId id="2147483670" r:id="rId8"/>
    <p:sldLayoutId id="2147483671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141" name="Google Shape;141;p30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04 - Seaborn</a:t>
            </a:r>
            <a:endParaRPr/>
          </a:p>
        </p:txBody>
      </p:sp>
      <p:cxnSp>
        <p:nvCxnSpPr>
          <p:cNvPr id="142" name="Google Shape;142;p30"/>
          <p:cNvCxnSpPr/>
          <p:nvPr/>
        </p:nvCxnSpPr>
        <p:spPr>
          <a:xfrm>
            <a:off x="7145675" y="3176000"/>
            <a:ext cx="20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200" strike="sngStrike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5053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ctrTitle" idx="2"/>
          </p:nvPr>
        </p:nvSpPr>
        <p:spPr>
          <a:xfrm>
            <a:off x="390296" y="4354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PLOTS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ctrTitle" idx="9"/>
          </p:nvPr>
        </p:nvSpPr>
        <p:spPr>
          <a:xfrm>
            <a:off x="390296" y="1402117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PLOTS</a:t>
            </a:r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51" name="Google Shape;151;p31"/>
          <p:cNvSpPr txBox="1">
            <a:spLocks noGrp="1"/>
          </p:cNvSpPr>
          <p:nvPr>
            <p:ph type="title" idx="5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53" name="Google Shape;153;p31"/>
          <p:cNvCxnSpPr/>
          <p:nvPr/>
        </p:nvCxnSpPr>
        <p:spPr>
          <a:xfrm>
            <a:off x="3297225" y="0"/>
            <a:ext cx="0" cy="239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31"/>
          <p:cNvCxnSpPr/>
          <p:nvPr/>
        </p:nvCxnSpPr>
        <p:spPr>
          <a:xfrm>
            <a:off x="5861950" y="3131400"/>
            <a:ext cx="0" cy="203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31"/>
          <p:cNvSpPr txBox="1">
            <a:spLocks noGrp="1"/>
          </p:cNvSpPr>
          <p:nvPr>
            <p:ph type="title" idx="6"/>
          </p:nvPr>
        </p:nvSpPr>
        <p:spPr>
          <a:xfrm>
            <a:off x="5922008" y="313141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title" idx="7"/>
          </p:nvPr>
        </p:nvSpPr>
        <p:spPr>
          <a:xfrm>
            <a:off x="5922008" y="4151111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ctrTitle" idx="14"/>
          </p:nvPr>
        </p:nvSpPr>
        <p:spPr>
          <a:xfrm>
            <a:off x="358296" y="2368811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PLOTS</a:t>
            </a:r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ctrTitle" idx="16"/>
          </p:nvPr>
        </p:nvSpPr>
        <p:spPr>
          <a:xfrm>
            <a:off x="6811558" y="313140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GRIDS AND STYLE</a:t>
            </a:r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ctrTitle" idx="18"/>
          </p:nvPr>
        </p:nvSpPr>
        <p:spPr>
          <a:xfrm>
            <a:off x="6811558" y="4151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PLOTS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module for data </a:t>
            </a:r>
            <a:r>
              <a:rPr lang="en" b="1" dirty="0">
                <a:latin typeface="Roboto Condensed"/>
                <a:ea typeface="Roboto Condensed"/>
                <a:cs typeface="Roboto Condensed"/>
                <a:sym typeface="Roboto Condensed"/>
              </a:rPr>
              <a:t>VISUALIZATION, </a:t>
            </a:r>
            <a:r>
              <a:rPr lang="en" dirty="0"/>
              <a:t>not </a:t>
            </a:r>
            <a:r>
              <a:rPr lang="en" b="1" dirty="0">
                <a:latin typeface="Roboto Condensed"/>
                <a:ea typeface="Roboto Condensed"/>
                <a:cs typeface="Roboto Condensed"/>
                <a:sym typeface="Roboto Condensed"/>
              </a:rPr>
              <a:t>COMPREHENSION or MODIFICATION.</a:t>
            </a:r>
            <a:endParaRPr b="1" dirty="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Seaborn will put your data on graphs - good for beautifying your reports or finding out rudimentary trends.</a:t>
            </a:r>
            <a:endParaRPr dirty="0"/>
          </a:p>
        </p:txBody>
      </p:sp>
      <p:sp>
        <p:nvSpPr>
          <p:cNvPr id="165" name="Google Shape;165;p3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Seaborn?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>
            <a:spLocks noGrp="1"/>
          </p:cNvSpPr>
          <p:nvPr>
            <p:ph type="ctrTitle"/>
          </p:nvPr>
        </p:nvSpPr>
        <p:spPr>
          <a:xfrm>
            <a:off x="1964850" y="352850"/>
            <a:ext cx="52143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652200" y="1139400"/>
            <a:ext cx="7839600" cy="453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Command Prompt:</a:t>
            </a:r>
            <a:endParaRPr sz="1700" dirty="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conda install </a:t>
            </a:r>
            <a:r>
              <a:rPr lang="de-DE" sz="2000" dirty="0" err="1">
                <a:solidFill>
                  <a:schemeClr val="dk1"/>
                </a:solidFill>
                <a:latin typeface="Roboto Mono"/>
                <a:ea typeface="Roboto Mono"/>
              </a:rPr>
              <a:t>seaborn</a:t>
            </a:r>
            <a:b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2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---OR---</a:t>
            </a:r>
            <a:br>
              <a:rPr lang="en" sz="20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pip install </a:t>
            </a:r>
            <a:r>
              <a:rPr lang="de-DE" sz="2000" dirty="0" err="1">
                <a:solidFill>
                  <a:schemeClr val="dk1"/>
                </a:solidFill>
                <a:latin typeface="Roboto Mono"/>
                <a:ea typeface="Roboto Mono"/>
              </a:rPr>
              <a:t>seaborn</a:t>
            </a:r>
            <a:endParaRPr sz="20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Importing in Python:</a:t>
            </a:r>
            <a:endParaRPr sz="2600" b="1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FF00FF"/>
                </a:solidFill>
                <a:latin typeface="Roboto Mono"/>
                <a:ea typeface="Roboto Mono"/>
              </a:rPr>
              <a:t>import</a:t>
            </a:r>
            <a:r>
              <a:rPr lang="en-US" dirty="0"/>
              <a:t> </a:t>
            </a:r>
            <a:r>
              <a:rPr lang="en-US" sz="2000" dirty="0" err="1">
                <a:solidFill>
                  <a:schemeClr val="dk1"/>
                </a:solidFill>
                <a:latin typeface="Roboto Mono"/>
                <a:ea typeface="Roboto Mono"/>
              </a:rPr>
              <a:t>matplotlib.pyplot</a:t>
            </a:r>
            <a:r>
              <a:rPr lang="en-US" sz="2000">
                <a:solidFill>
                  <a:schemeClr val="dk1"/>
                </a:solidFill>
                <a:latin typeface="Roboto Mono"/>
                <a:ea typeface="Roboto Mono"/>
              </a:rPr>
              <a:t> </a:t>
            </a:r>
            <a:r>
              <a:rPr lang="en-US" sz="2000">
                <a:solidFill>
                  <a:srgbClr val="FF00FF"/>
                </a:solidFill>
                <a:latin typeface="Roboto Mono"/>
                <a:ea typeface="Roboto Mono"/>
              </a:rPr>
              <a:t>as</a:t>
            </a:r>
            <a:r>
              <a:rPr lang="en-US"/>
              <a:t> </a:t>
            </a:r>
            <a:r>
              <a:rPr lang="en-US" sz="2000" dirty="0" err="1">
                <a:solidFill>
                  <a:schemeClr val="dk1"/>
                </a:solidFill>
                <a:latin typeface="Roboto Mono"/>
                <a:ea typeface="Roboto Mono"/>
              </a:rPr>
              <a:t>plt</a:t>
            </a:r>
            <a:r>
              <a:rPr lang="en-US" sz="2000" dirty="0">
                <a:solidFill>
                  <a:schemeClr val="dk1"/>
                </a:solidFill>
                <a:latin typeface="Roboto Mono"/>
                <a:ea typeface="Roboto Mono"/>
              </a:rPr>
              <a:t> </a:t>
            </a:r>
            <a:r>
              <a:rPr lang="en" sz="2000" dirty="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this is needed </a:t>
            </a:r>
            <a:endParaRPr lang="de-DE" sz="2000" dirty="0">
              <a:solidFill>
                <a:schemeClr val="dk1"/>
              </a:solidFill>
              <a:latin typeface="Roboto Mono"/>
              <a:ea typeface="Roboto Mono"/>
              <a:sym typeface="Roboto Mono"/>
            </a:endParaRPr>
          </a:p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de-DE" sz="2000" dirty="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" sz="2000" dirty="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mport </a:t>
            </a:r>
            <a:r>
              <a:rPr lang="de-DE" sz="2000" dirty="0" err="1">
                <a:solidFill>
                  <a:schemeClr val="dk1"/>
                </a:solidFill>
                <a:latin typeface="Roboto Mono"/>
                <a:ea typeface="Roboto Mono"/>
              </a:rPr>
              <a:t>seaborn</a:t>
            </a:r>
            <a: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2000" dirty="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as </a:t>
            </a:r>
            <a:r>
              <a:rPr lang="en" sz="20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sns  </a:t>
            </a:r>
            <a:r>
              <a:rPr lang="en" sz="2000" dirty="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this imports </a:t>
            </a:r>
            <a:r>
              <a:rPr lang="de-DE" sz="2000" dirty="0" err="1">
                <a:solidFill>
                  <a:srgbClr val="38761D"/>
                </a:solidFill>
                <a:latin typeface="Roboto Mono"/>
                <a:ea typeface="Roboto Mono"/>
              </a:rPr>
              <a:t>seaborn</a:t>
            </a:r>
            <a:r>
              <a:rPr lang="en" sz="2000" dirty="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endParaRPr sz="2600" b="1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 b="1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PLOTS</a:t>
            </a:r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72" name="Google Shape;172;p33"/>
          <p:cNvCxnSpPr/>
          <p:nvPr/>
        </p:nvCxnSpPr>
        <p:spPr>
          <a:xfrm>
            <a:off x="0" y="4028275"/>
            <a:ext cx="156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show the distribution of data across certain intervals (like a histogram or a bar graph)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Source: Towards Data Science</a:t>
            </a:r>
            <a:endParaRPr/>
          </a:p>
        </p:txBody>
      </p:sp>
      <p:sp>
        <p:nvSpPr>
          <p:cNvPr id="178" name="Google Shape;178;p3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DISTRIBUTION PLOTS?</a:t>
            </a:r>
            <a:endParaRPr/>
          </a:p>
        </p:txBody>
      </p:sp>
      <p:pic>
        <p:nvPicPr>
          <p:cNvPr id="179" name="Google Shape;179;p34"/>
          <p:cNvPicPr preferRelativeResize="0"/>
          <p:nvPr/>
        </p:nvPicPr>
        <p:blipFill rotWithShape="1">
          <a:blip r:embed="rId3">
            <a:alphaModFix/>
          </a:blip>
          <a:srcRect r="7235"/>
          <a:stretch/>
        </p:blipFill>
        <p:spPr>
          <a:xfrm>
            <a:off x="3270300" y="2687900"/>
            <a:ext cx="2679950" cy="20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sns.distplot(data) - shows you the distribution of values in a certain series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remove the KDE line and change the amount of divisions with kde=False or bins=num.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85" name="Google Shape;185;p3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sns.distplot()</a:t>
            </a:r>
            <a:endParaRPr/>
          </a:p>
        </p:txBody>
      </p:sp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850" y="2946700"/>
            <a:ext cx="2888950" cy="1770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210725" y="217792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sns.scatterplot(data, x, y) - creates a scatter plot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is a DataFrame, while x is the name of one column/row,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y is the name of another column.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When writing x and y inputs make sure to say x=’column name’,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 = ‘column name’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3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sns.scatterplot()</a:t>
            </a:r>
            <a:endParaRPr/>
          </a:p>
        </p:txBody>
      </p:sp>
      <p:pic>
        <p:nvPicPr>
          <p:cNvPr id="193" name="Google Shape;193;p36" descr="seaborn.scatterplot — seaborn 0.11.1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950" y="1150200"/>
            <a:ext cx="4124325" cy="318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sns.jointplot (x=, y=, data=dataset, kind=)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two datasets to create a graph that uses dots or hues to show the relationship and frequency of two concurrent values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 can mean anything from “scatter” to “hist” - it’s the type of plot</a:t>
            </a:r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sns.jointplot()</a:t>
            </a: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7675" y="1373901"/>
            <a:ext cx="3230425" cy="267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Syntax: sns.lineplot(x=, y=, data)  </a:t>
            </a:r>
            <a:endParaRPr/>
          </a:p>
        </p:txBody>
      </p:sp>
      <p:sp>
        <p:nvSpPr>
          <p:cNvPr id="206" name="Google Shape;206;p3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sns.lineplot()</a:t>
            </a:r>
            <a:endParaRPr/>
          </a:p>
        </p:txBody>
      </p:sp>
      <p:pic>
        <p:nvPicPr>
          <p:cNvPr id="207" name="Google Shape;207;p38" descr="seaborn.lineplot — seaborn 0.11.1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500" y="1980144"/>
            <a:ext cx="2760875" cy="20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sns.histplot(data)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Creates a histogram - similar to matplotlib’s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plt.hist()</a:t>
            </a:r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sns.histplot()</a:t>
            </a:r>
            <a:endParaRPr/>
          </a:p>
        </p:txBody>
      </p:sp>
      <p:pic>
        <p:nvPicPr>
          <p:cNvPr id="214" name="Google Shape;214;p39" descr="seaborn.histplot — seaborn 0.11.1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950" y="1039238"/>
            <a:ext cx="485775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sns.pairplot(data)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creates correlative graphs for all data in the datasets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column has its own entry in the matrix - and the diagonal holds the graphs with the same column relations</a:t>
            </a:r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sns.pairplot()</a:t>
            </a:r>
            <a:endParaRPr/>
          </a:p>
        </p:txBody>
      </p:sp>
      <p:pic>
        <p:nvPicPr>
          <p:cNvPr id="221" name="Google Shape;221;p40" descr="seaborn.pairplot — seaborn 0.11.1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725" y="1159675"/>
            <a:ext cx="3796226" cy="379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sns.rugplot(data=, x=)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Creates a density indicator plot at the bottom of the graph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sns.rugplot()</a:t>
            </a:r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 rotWithShape="1">
          <a:blip r:embed="rId3">
            <a:alphaModFix/>
          </a:blip>
          <a:srcRect r="23570"/>
          <a:stretch/>
        </p:blipFill>
        <p:spPr>
          <a:xfrm>
            <a:off x="4429300" y="987825"/>
            <a:ext cx="423832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sns.kdeplot(data=, x=)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Creates a plot with the sum of all kernel density estimation plots (value of probability density)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sns.kdeplot()</a:t>
            </a:r>
            <a:endParaRPr/>
          </a:p>
        </p:txBody>
      </p:sp>
      <p:pic>
        <p:nvPicPr>
          <p:cNvPr id="235" name="Google Shape;235;p42"/>
          <p:cNvPicPr preferRelativeResize="0"/>
          <p:nvPr/>
        </p:nvPicPr>
        <p:blipFill rotWithShape="1">
          <a:blip r:embed="rId3">
            <a:alphaModFix/>
          </a:blip>
          <a:srcRect r="23570"/>
          <a:stretch/>
        </p:blipFill>
        <p:spPr>
          <a:xfrm>
            <a:off x="3909050" y="2749863"/>
            <a:ext cx="2500600" cy="209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050" y="899585"/>
            <a:ext cx="2500600" cy="1850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2"/>
          <p:cNvSpPr txBox="1"/>
          <p:nvPr/>
        </p:nvSpPr>
        <p:spPr>
          <a:xfrm>
            <a:off x="6663325" y="1081800"/>
            <a:ext cx="2037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Turns this (representation of KDE of all points)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… into this (sum of all those graphs)</a:t>
            </a: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PLOTS</a:t>
            </a:r>
            <a:endParaRPr/>
          </a:p>
        </p:txBody>
      </p:sp>
      <p:sp>
        <p:nvSpPr>
          <p:cNvPr id="243" name="Google Shape;243;p43"/>
          <p:cNvSpPr txBox="1">
            <a:spLocks noGrp="1"/>
          </p:cNvSpPr>
          <p:nvPr>
            <p:ph type="title" idx="2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244" name="Google Shape;244;p43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body" idx="1"/>
          </p:nvPr>
        </p:nvSpPr>
        <p:spPr>
          <a:xfrm>
            <a:off x="668600" y="117245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sns.heatmap(data)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Visualizes data with different gradients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Data Tips: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For ratio-based heatmaps, use data.corr()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For value based heatmaps with only using two columns in a dataframe, create a pivot table: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Syntax: df.pivot_table(values=, index=, column=)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4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sns.heatmap()</a:t>
            </a:r>
            <a:endParaRPr/>
          </a:p>
        </p:txBody>
      </p:sp>
      <p:pic>
        <p:nvPicPr>
          <p:cNvPr id="251" name="Google Shape;25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150" y="1390650"/>
            <a:ext cx="41910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PLOTS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title" idx="2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258" name="Google Shape;258;p45"/>
          <p:cNvCxnSpPr/>
          <p:nvPr/>
        </p:nvCxnSpPr>
        <p:spPr>
          <a:xfrm>
            <a:off x="7626825" y="2744700"/>
            <a:ext cx="156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sns.barplot(x=[column name], y=[column name], data=[dataframe name]) -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aggregates data based of the mean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sns.barplot()</a:t>
            </a:r>
            <a:endParaRPr/>
          </a:p>
        </p:txBody>
      </p:sp>
      <p:pic>
        <p:nvPicPr>
          <p:cNvPr id="265" name="Google Shape;26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2525" y="1630650"/>
            <a:ext cx="348615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sns.countplot(x=[column name], data=[dataframe name]) -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Similar to bar plot - but gives value count data instead of aggregation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sns.countplot()</a:t>
            </a:r>
            <a:endParaRPr/>
          </a:p>
        </p:txBody>
      </p:sp>
      <p:pic>
        <p:nvPicPr>
          <p:cNvPr id="272" name="Google Shape;272;p47"/>
          <p:cNvPicPr preferRelativeResize="0"/>
          <p:nvPr/>
        </p:nvPicPr>
        <p:blipFill rotWithShape="1">
          <a:blip r:embed="rId3">
            <a:alphaModFix/>
          </a:blip>
          <a:srcRect r="31313"/>
          <a:stretch/>
        </p:blipFill>
        <p:spPr>
          <a:xfrm>
            <a:off x="4592525" y="1544350"/>
            <a:ext cx="36636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sns.boxplot(x=[column name], y=[column name], data=[dataframe name])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Creates a box-and-whisker plot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Useful tip - you can do entire dataframes instead of x and y specifications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sns.boxplot()</a:t>
            </a:r>
            <a:endParaRPr/>
          </a:p>
        </p:txBody>
      </p:sp>
      <p:pic>
        <p:nvPicPr>
          <p:cNvPr id="279" name="Google Shape;279;p48"/>
          <p:cNvPicPr preferRelativeResize="0"/>
          <p:nvPr/>
        </p:nvPicPr>
        <p:blipFill rotWithShape="1">
          <a:blip r:embed="rId3">
            <a:alphaModFix/>
          </a:blip>
          <a:srcRect r="17837"/>
          <a:stretch/>
        </p:blipFill>
        <p:spPr>
          <a:xfrm>
            <a:off x="4247400" y="1553600"/>
            <a:ext cx="375655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sns.violinplot(x=[column name], y=[column name], data=[dataframe name]) -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Graph that uses thickness to represent occurrences and has a KDE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sns.violinplot()</a:t>
            </a:r>
            <a:endParaRPr/>
          </a:p>
        </p:txBody>
      </p:sp>
      <p:pic>
        <p:nvPicPr>
          <p:cNvPr id="286" name="Google Shape;2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563" y="1609513"/>
            <a:ext cx="349567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809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Syntax: sns.stripplot(x=[column name], y=columnname, data=[dataframe name])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creates a small strip of dots for visualisation</a:t>
            </a:r>
            <a:endParaRPr dirty="0"/>
          </a:p>
        </p:txBody>
      </p:sp>
      <p:sp>
        <p:nvSpPr>
          <p:cNvPr id="292" name="Google Shape;292;p5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sns.stripplot()</a:t>
            </a:r>
            <a:endParaRPr/>
          </a:p>
        </p:txBody>
      </p:sp>
      <p:pic>
        <p:nvPicPr>
          <p:cNvPr id="293" name="Google Shape;29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400" y="1102975"/>
            <a:ext cx="5195008" cy="353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GRIDS AND STYLE</a:t>
            </a:r>
            <a:endParaRPr/>
          </a:p>
        </p:txBody>
      </p:sp>
      <p:sp>
        <p:nvSpPr>
          <p:cNvPr id="299" name="Google Shape;299;p51"/>
          <p:cNvSpPr txBox="1">
            <a:spLocks noGrp="1"/>
          </p:cNvSpPr>
          <p:nvPr>
            <p:ph type="title" idx="2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300" name="Google Shape;300;p51"/>
          <p:cNvCxnSpPr/>
          <p:nvPr/>
        </p:nvCxnSpPr>
        <p:spPr>
          <a:xfrm>
            <a:off x="0" y="2737950"/>
            <a:ext cx="167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>
            <a:spLocks noGrp="1"/>
          </p:cNvSpPr>
          <p:nvPr>
            <p:ph type="body" idx="1"/>
          </p:nvPr>
        </p:nvSpPr>
        <p:spPr>
          <a:xfrm>
            <a:off x="1917900" y="102247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type plots: they overlay different types of graphs using different columns of a dataframe.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 uses the same plots as other sections but just formats them.</a:t>
            </a:r>
            <a:endParaRPr/>
          </a:p>
        </p:txBody>
      </p:sp>
      <p:sp>
        <p:nvSpPr>
          <p:cNvPr id="306" name="Google Shape;306;p5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overview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sns.PairGrid(dataframe)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map: [variable name]: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sns.PairGrid(dataframe)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[variable name].map(sns.scatterplot)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5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sns.PairGrid()</a:t>
            </a:r>
            <a:endParaRPr/>
          </a:p>
        </p:txBody>
      </p:sp>
      <p:pic>
        <p:nvPicPr>
          <p:cNvPr id="313" name="Google Shape;313;p53" descr="Seaborn - Pair Gri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775" y="875875"/>
            <a:ext cx="5000625" cy="416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33168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sns.JointGrid(x, y, data)</a:t>
            </a:r>
            <a:r>
              <a:rPr lang="en"/>
              <a:t> - use the same variable assignment and then input first the side plot and then the middle plot (like jointplot)</a:t>
            </a:r>
            <a:endParaRPr/>
          </a:p>
        </p:txBody>
      </p:sp>
      <p:sp>
        <p:nvSpPr>
          <p:cNvPr id="319" name="Google Shape;319;p5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sns.JointGrid()</a:t>
            </a:r>
            <a:endParaRPr/>
          </a:p>
        </p:txBody>
      </p:sp>
      <p:pic>
        <p:nvPicPr>
          <p:cNvPr id="320" name="Google Shape;320;p54" descr="seaborn.JointGrid — seaborn 0.11.2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400" y="1405650"/>
            <a:ext cx="3184851" cy="32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29928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sns.FacetGrid(dataframe, col=, row=)</a:t>
            </a:r>
            <a:r>
              <a:rPr lang="en"/>
              <a:t> - use the map function along with ANOTHER column name to create a graph</a:t>
            </a:r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sns.FacetGrid()</a:t>
            </a:r>
            <a:endParaRPr/>
          </a:p>
        </p:txBody>
      </p:sp>
      <p:pic>
        <p:nvPicPr>
          <p:cNvPr id="327" name="Google Shape;327;p55" descr="seaborn.FacetGrid — seaborn 0.11.2 documenta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175" y="1586075"/>
            <a:ext cx="2809775" cy="28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sns.set_style(“white”)</a:t>
            </a:r>
            <a:r>
              <a:rPr lang="en"/>
              <a:t> - more examples include “ticks”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sns.despine() </a:t>
            </a:r>
            <a:r>
              <a:rPr lang="en"/>
              <a:t>- removes lines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Size: plt.figure(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figsize</a:t>
            </a:r>
            <a:r>
              <a:rPr lang="en"/>
              <a:t>(tuple))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sns.set_context(</a:t>
            </a: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scale</a:t>
            </a:r>
            <a:r>
              <a:rPr lang="en"/>
              <a:t>, type, etc.) - unconventional terms that usually don’t have their own commands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Note: </a:t>
            </a:r>
            <a:r>
              <a:rPr lang="en"/>
              <a:t>Style is not something that can be taught in detail! The internet is your best friend for finding specific miniscule style details!</a:t>
            </a:r>
            <a:endParaRPr/>
          </a:p>
        </p:txBody>
      </p:sp>
      <p:sp>
        <p:nvSpPr>
          <p:cNvPr id="333" name="Google Shape;333;p5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example of style: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PLOTS</a:t>
            </a:r>
            <a:endParaRPr/>
          </a:p>
        </p:txBody>
      </p:sp>
      <p:sp>
        <p:nvSpPr>
          <p:cNvPr id="339" name="Google Shape;339;p57"/>
          <p:cNvSpPr txBox="1">
            <a:spLocks noGrp="1"/>
          </p:cNvSpPr>
          <p:nvPr>
            <p:ph type="title" idx="2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340" name="Google Shape;340;p57"/>
          <p:cNvCxnSpPr/>
          <p:nvPr/>
        </p:nvCxnSpPr>
        <p:spPr>
          <a:xfrm>
            <a:off x="2162075" y="-35700"/>
            <a:ext cx="0" cy="238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8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Regression plots</a:t>
            </a:r>
            <a:r>
              <a:rPr lang="en" b="1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" dirty="0"/>
              <a:t>are plots that emphasize and visualize </a:t>
            </a:r>
            <a:r>
              <a:rPr lang="en" b="1" dirty="0">
                <a:latin typeface="Roboto Condensed"/>
                <a:ea typeface="Roboto Condensed"/>
                <a:cs typeface="Roboto Condensed"/>
                <a:sym typeface="Roboto Condensed"/>
              </a:rPr>
              <a:t>PATTERNS </a:t>
            </a:r>
            <a:r>
              <a:rPr lang="en" dirty="0"/>
              <a:t>in datasets. It is quite useful in an application like machine learning, where you use networks and code to find patterns.</a:t>
            </a:r>
            <a:endParaRPr dirty="0"/>
          </a:p>
        </p:txBody>
      </p:sp>
      <p:sp>
        <p:nvSpPr>
          <p:cNvPr id="346" name="Google Shape;346;p5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overview: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36408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sns.lmplot(x, y, data)</a:t>
            </a:r>
            <a:r>
              <a:rPr lang="en"/>
              <a:t> - creates a regression plot with a trendline that is used to determine the position of future variables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52" name="Google Shape;352;p5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sns.lmplot()</a:t>
            </a:r>
            <a:endParaRPr/>
          </a:p>
        </p:txBody>
      </p:sp>
      <p:pic>
        <p:nvPicPr>
          <p:cNvPr id="353" name="Google Shape;35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000" y="1250000"/>
            <a:ext cx="3495175" cy="3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851CFA8-014C-C0FF-ECF4-6BF217012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de-DE" sz="2400" b="1" dirty="0" err="1">
                <a:latin typeface="Exo 2"/>
                <a:sym typeface="Exo 2"/>
              </a:rPr>
              <a:t>Thank</a:t>
            </a:r>
            <a:r>
              <a:rPr lang="de-DE" sz="2400" b="1" dirty="0">
                <a:latin typeface="Exo 2"/>
                <a:sym typeface="Exo 2"/>
              </a:rPr>
              <a:t> </a:t>
            </a:r>
            <a:r>
              <a:rPr lang="de-DE" sz="2400" b="1" dirty="0" err="1">
                <a:latin typeface="Exo 2"/>
                <a:sym typeface="Exo 2"/>
              </a:rPr>
              <a:t>you</a:t>
            </a:r>
            <a:r>
              <a:rPr lang="de-DE" sz="2400" b="1" dirty="0">
                <a:latin typeface="Exo 2"/>
              </a:rPr>
              <a:t>!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DCCB487-E610-B479-4BD5-AEA159E78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7030537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Bildschirmpräsentation (16:9)</PresentationFormat>
  <Paragraphs>143</Paragraphs>
  <Slides>33</Slides>
  <Notes>32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40" baseType="lpstr">
      <vt:lpstr>Roboto Condensed</vt:lpstr>
      <vt:lpstr>Arial</vt:lpstr>
      <vt:lpstr>Roboto Mono</vt:lpstr>
      <vt:lpstr>Exo 2</vt:lpstr>
      <vt:lpstr>Roboto Condensed Light</vt:lpstr>
      <vt:lpstr>Fira Sans Extra Condensed Medium</vt:lpstr>
      <vt:lpstr>Tech Newsletter by Slidesgo</vt:lpstr>
      <vt:lpstr>04 - Seaborn</vt:lpstr>
      <vt:lpstr>Course Overview:</vt:lpstr>
      <vt:lpstr>TABLE OF CONTENTS</vt:lpstr>
      <vt:lpstr>What is Seaborn?</vt:lpstr>
      <vt:lpstr>Installation</vt:lpstr>
      <vt:lpstr>DISTRIBUTION PLOTS</vt:lpstr>
      <vt:lpstr>What are DISTRIBUTION PLOTS?</vt:lpstr>
      <vt:lpstr>sns.distplot()</vt:lpstr>
      <vt:lpstr>sns.scatterplot()</vt:lpstr>
      <vt:lpstr>sns.jointplot()</vt:lpstr>
      <vt:lpstr>sns.lineplot()</vt:lpstr>
      <vt:lpstr>sns.histplot()</vt:lpstr>
      <vt:lpstr>sns.pairplot()</vt:lpstr>
      <vt:lpstr>sns.rugplot()</vt:lpstr>
      <vt:lpstr>sns.kdeplot()</vt:lpstr>
      <vt:lpstr>MATRIX PLOTS</vt:lpstr>
      <vt:lpstr>sns.heatmap()</vt:lpstr>
      <vt:lpstr>CATEGORICAL PLOTS</vt:lpstr>
      <vt:lpstr>sns.barplot()</vt:lpstr>
      <vt:lpstr>sns.countplot()</vt:lpstr>
      <vt:lpstr>sns.boxplot()</vt:lpstr>
      <vt:lpstr>sns.violinplot()</vt:lpstr>
      <vt:lpstr>sns.stripplot()</vt:lpstr>
      <vt:lpstr>GRIDS AND STYLE</vt:lpstr>
      <vt:lpstr>Quick overview</vt:lpstr>
      <vt:lpstr>sns.PairGrid()</vt:lpstr>
      <vt:lpstr>sns.JointGrid()</vt:lpstr>
      <vt:lpstr>sns.FacetGrid()</vt:lpstr>
      <vt:lpstr>A quick example of style:</vt:lpstr>
      <vt:lpstr>REGRESSION PLOTS</vt:lpstr>
      <vt:lpstr>Quick overview:</vt:lpstr>
      <vt:lpstr>sns.lmplot()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04 - Seaborn</dc:title>
  <cp:lastModifiedBy>Hamed, Osama</cp:lastModifiedBy>
  <cp:revision>13</cp:revision>
  <dcterms:modified xsi:type="dcterms:W3CDTF">2025-11-04T08:17:16Z</dcterms:modified>
</cp:coreProperties>
</file>